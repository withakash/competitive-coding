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4" r:id="rId14"/>
    <p:sldId id="269" r:id="rId15"/>
    <p:sldId id="270" r:id="rId16"/>
    <p:sldId id="271" r:id="rId17"/>
    <p:sldId id="275" r:id="rId18"/>
    <p:sldId id="276" r:id="rId19"/>
    <p:sldId id="272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3" roundtripDataSignature="AMtx7mieu1IavsjTSulHQqowc1QVPQKh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8A1CC15-4619-483F-A3B6-BB4E6DC9FD0C}">
  <a:tblStyle styleId="{68A1CC15-4619-483F-A3B6-BB4E6DC9FD0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47597A72-1D1A-4C82-8749-A6E55842FE56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rgbClr val="000000">
              <a:alpha val="20000"/>
            </a:srgb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000000">
              <a:alpha val="20000"/>
            </a:srgb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de4ba015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9de4ba015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de4ba015e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g39de4ba015e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de4ba015e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3" name="Google Shape;133;g39de4ba015e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8" name="Google Shape;1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3" name="Google Shape;17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2" name="Google Shape;18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de4ba015e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9" name="Google Shape;189;g39de4ba015e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94F9A55B-8B37-8211-4DDF-28C38320B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de4ba015e_0_52:notes">
            <a:extLst>
              <a:ext uri="{FF2B5EF4-FFF2-40B4-BE49-F238E27FC236}">
                <a16:creationId xmlns:a16="http://schemas.microsoft.com/office/drawing/2014/main" id="{2E876329-7AAE-1DB4-24F3-FF867B686A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9" name="Google Shape;189;g39de4ba015e_0_52:notes">
            <a:extLst>
              <a:ext uri="{FF2B5EF4-FFF2-40B4-BE49-F238E27FC236}">
                <a16:creationId xmlns:a16="http://schemas.microsoft.com/office/drawing/2014/main" id="{9CEA0AB1-6F97-6A88-1312-FF81DB58A0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284571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B809468B-3415-E19C-36AC-B98550A12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de4ba015e_0_52:notes">
            <a:extLst>
              <a:ext uri="{FF2B5EF4-FFF2-40B4-BE49-F238E27FC236}">
                <a16:creationId xmlns:a16="http://schemas.microsoft.com/office/drawing/2014/main" id="{2F26F061-29AD-B9AF-216C-387D48BE4B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9" name="Google Shape;189;g39de4ba015e_0_52:notes">
            <a:extLst>
              <a:ext uri="{FF2B5EF4-FFF2-40B4-BE49-F238E27FC236}">
                <a16:creationId xmlns:a16="http://schemas.microsoft.com/office/drawing/2014/main" id="{BB227D14-016C-8F45-71E2-26B7EE5585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801368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6" name="Google Shape;19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etcode.com/problems/evaluate-reverse-polish-notation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etcode.com/problems/basic-calculator-ii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758467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lang="en-IN" sz="7000">
                <a:latin typeface="Cambria"/>
                <a:ea typeface="Cambria"/>
                <a:cs typeface="Cambria"/>
                <a:sym typeface="Cambria"/>
              </a:rPr>
              <a:t>Practical 5</a:t>
            </a:r>
            <a:endParaRPr sz="7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419838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Infix to Postfix Conversion Using Shunting Yard Algorithm</a:t>
            </a:r>
            <a:endParaRPr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3070741" y="1514622"/>
            <a:ext cx="6050518" cy="1517789"/>
          </a:xfrm>
          <a:custGeom>
            <a:avLst/>
            <a:gdLst/>
            <a:ahLst/>
            <a:cxnLst/>
            <a:rect l="l" t="t" r="r" b="b"/>
            <a:pathLst>
              <a:path w="6050518" h="1517789" extrusionOk="0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4634" b="-5642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" name="Google Shape;91;p2"/>
          <p:cNvGraphicFramePr/>
          <p:nvPr/>
        </p:nvGraphicFramePr>
        <p:xfrm>
          <a:off x="3309539" y="1265839"/>
          <a:ext cx="5342850" cy="441960"/>
        </p:xfrm>
        <a:graphic>
          <a:graphicData uri="http://schemas.openxmlformats.org/drawingml/2006/table">
            <a:tbl>
              <a:tblPr>
                <a:noFill/>
                <a:tableStyleId>{68A1CC15-4619-483F-A3B6-BB4E6DC9FD0C}</a:tableStyleId>
              </a:tblPr>
              <a:tblGrid>
                <a:gridCol w="534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8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mbria"/>
                        <a:buNone/>
                      </a:pPr>
                      <a:r>
                        <a:rPr lang="en-IN" sz="2400" b="1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2" name="Google Shape;92;p2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aphicFrame>
        <p:nvGraphicFramePr>
          <p:cNvPr id="93" name="Google Shape;93;p2"/>
          <p:cNvGraphicFramePr/>
          <p:nvPr>
            <p:extLst>
              <p:ext uri="{D42A27DB-BD31-4B8C-83A1-F6EECF244321}">
                <p14:modId xmlns:p14="http://schemas.microsoft.com/office/powerpoint/2010/main" val="3844331475"/>
              </p:ext>
            </p:extLst>
          </p:nvPr>
        </p:nvGraphicFramePr>
        <p:xfrm>
          <a:off x="1461074" y="2510804"/>
          <a:ext cx="9059450" cy="975360"/>
        </p:xfrm>
        <a:graphic>
          <a:graphicData uri="http://schemas.openxmlformats.org/drawingml/2006/table">
            <a:tbl>
              <a:tblPr>
                <a:noFill/>
                <a:tableStyleId>{68A1CC15-4619-483F-A3B6-BB4E6DC9FD0C}</a:tableStyleId>
              </a:tblPr>
              <a:tblGrid>
                <a:gridCol w="286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 i="0" u="none" strike="noStrike" cap="non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 u="none" strike="noStrike" cap="none" dirty="0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Infix to Postfix Conversion Using Shunting Yard Algorith</a:t>
                      </a:r>
                      <a:r>
                        <a:rPr lang="en-IN" sz="1800" b="1" dirty="0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</a:t>
                      </a:r>
                      <a:endParaRPr sz="1800" b="1" u="none" strike="noStrike" cap="none" dirty="0">
                        <a:solidFill>
                          <a:srgbClr val="0070C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4" name="Google Shape;94;p2"/>
          <p:cNvGraphicFramePr/>
          <p:nvPr/>
        </p:nvGraphicFramePr>
        <p:xfrm>
          <a:off x="1471065" y="3595291"/>
          <a:ext cx="9039450" cy="2026920"/>
        </p:xfrm>
        <a:graphic>
          <a:graphicData uri="http://schemas.openxmlformats.org/drawingml/2006/table">
            <a:tbl>
              <a:tblPr>
                <a:noFill/>
                <a:tableStyleId>{68A1CC15-4619-483F-A3B6-BB4E6DC9FD0C}</a:tableStyleId>
              </a:tblPr>
              <a:tblGrid>
                <a:gridCol w="903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5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 i="0" u="none" strike="noStrike" cap="non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Understand infix, prefix, and postfix notations and their role in expression evaluation.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Implement the Shunting Yard Algorithm to convert infix to postfix using a stack for operators and a queue for output.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Handle operator precedence, associativity, and parentheses correctly.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Apply this to real-world scenarios like compiler design and competitive problems.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IN" sz="4000" b="1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 sz="4000"/>
          </a:p>
        </p:txBody>
      </p:sp>
      <p:sp>
        <p:nvSpPr>
          <p:cNvPr id="100" name="Google Shape;100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19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Write a Program for an infix expression, and convert it to postfix notation. Use a queue to implement the Shunting Yard Algorithm for expression conversion.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Given an infix expression (e.g., "A + B * C"), convert it to postfix (Reverse Polish Notation, e.g., "A B C * +") for easier evaluation without parentheses.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aphicFrame>
        <p:nvGraphicFramePr>
          <p:cNvPr id="102" name="Google Shape;102;p3"/>
          <p:cNvGraphicFramePr/>
          <p:nvPr/>
        </p:nvGraphicFramePr>
        <p:xfrm>
          <a:off x="1067943" y="3824502"/>
          <a:ext cx="10056100" cy="2217770"/>
        </p:xfrm>
        <a:graphic>
          <a:graphicData uri="http://schemas.openxmlformats.org/drawingml/2006/table">
            <a:tbl>
              <a:tblPr>
                <a:noFill/>
                <a:tableStyleId>{47597A72-1D1A-4C82-8749-A6E55842FE56}</a:tableStyleId>
              </a:tblPr>
              <a:tblGrid>
                <a:gridCol w="182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9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1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Input (Infix)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Output (Postfix)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Explanation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 + B * C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 B C * +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* has higher precedence than +.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1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(A + B) * C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 B + C *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Parentheses group A + B first.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 ^ B ^ C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 B C ^ ^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^ is right-associative.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Key Concepts &amp; Prerequisites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9" name="Google Shape;109;p4"/>
          <p:cNvSpPr txBox="1"/>
          <p:nvPr/>
        </p:nvSpPr>
        <p:spPr>
          <a:xfrm>
            <a:off x="678900" y="2222700"/>
            <a:ext cx="10834200" cy="35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Infix Expression:</a:t>
            </a:r>
            <a:r>
              <a:rPr lang="en-IN"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Operators appear between operands.</a:t>
            </a:r>
            <a:br>
              <a:rPr lang="en-IN"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Example: A + B * C</a:t>
            </a:r>
            <a:br>
              <a:rPr lang="en-IN"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Problem:</a:t>
            </a:r>
            <a:r>
              <a:rPr lang="en-IN"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Harder for computers to evaluate due to precedence rules.</a:t>
            </a:r>
            <a:endParaRPr sz="24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Postfix Expression (Reverse Polish Notation):</a:t>
            </a:r>
            <a:r>
              <a:rPr lang="en-IN"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Operators come </a:t>
            </a:r>
            <a:r>
              <a:rPr lang="en-IN" sz="2400" b="0" i="1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after</a:t>
            </a:r>
            <a:r>
              <a:rPr lang="en-IN"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operands.</a:t>
            </a:r>
            <a:br>
              <a:rPr lang="en-IN"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Example: A B C * +</a:t>
            </a:r>
            <a:endParaRPr sz="24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Advantage:</a:t>
            </a:r>
            <a:endParaRPr sz="24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952500" marR="0" lvl="1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Char char="•"/>
            </a:pPr>
            <a:r>
              <a:rPr lang="en-IN"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No need for parentheses.</a:t>
            </a:r>
            <a:endParaRPr sz="24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952500" marR="0" lvl="1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Char char="•"/>
            </a:pPr>
            <a:r>
              <a:rPr lang="en-IN"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Evaluation becomes simpler using a stack.</a:t>
            </a:r>
            <a:endParaRPr sz="24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de4ba015e_0_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Key Concepts &amp; Prerequisites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5" name="Google Shape;115;g39de4ba015e_0_4"/>
          <p:cNvSpPr/>
          <p:nvPr/>
        </p:nvSpPr>
        <p:spPr>
          <a:xfrm>
            <a:off x="9991482" y="4"/>
            <a:ext cx="2144801" cy="995524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6" name="Google Shape;116;g39de4ba015e_0_4"/>
          <p:cNvSpPr txBox="1"/>
          <p:nvPr/>
        </p:nvSpPr>
        <p:spPr>
          <a:xfrm>
            <a:off x="1062750" y="1805075"/>
            <a:ext cx="9397800" cy="40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tkinson Hyperlegible"/>
              <a:buNone/>
            </a:pPr>
            <a:r>
              <a:rPr lang="en-IN" sz="24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Shunting Yard Algorithm:</a:t>
            </a:r>
            <a:br>
              <a:rPr lang="en-IN" sz="2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Uses: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52500" marR="0" lvl="1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4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Stack</a:t>
            </a:r>
            <a:r>
              <a:rPr lang="en-IN" sz="2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→ For operators and parentheses.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52500" marR="0" lvl="1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4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Queue</a:t>
            </a:r>
            <a:r>
              <a:rPr lang="en-IN" sz="2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→ For the final output (postfix form).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tkinson Hyperlegible"/>
              <a:buNone/>
            </a:pPr>
            <a:r>
              <a:rPr lang="en-IN" sz="24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Prerequisites</a:t>
            </a:r>
            <a:r>
              <a:rPr lang="en-IN" sz="2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: 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52500" marR="0" lvl="1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Basic stack/queue operations 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52500" marR="0" lvl="1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Understanding of operator precedence (e.g., * &gt; +) and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52500" marR="0" lvl="1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associativity (left/right).</a:t>
            </a:r>
            <a:endParaRPr sz="24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 dirty="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sz="40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3" name="Google Shape;123;p5"/>
          <p:cNvSpPr txBox="1"/>
          <p:nvPr/>
        </p:nvSpPr>
        <p:spPr>
          <a:xfrm>
            <a:off x="1062750" y="1805075"/>
            <a:ext cx="9397800" cy="3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High-Level Approach</a:t>
            </a:r>
            <a:br>
              <a:rPr lang="en-IN" sz="2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533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IN"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Scan input left-to-right.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533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IN"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Output operands immediately to queue.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533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IN"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Push '(' to stack; Pop until matching ')' for parens.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533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IN"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For operators: Pop lower/equal precedence from stack to queue, then push current.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533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IN"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At end, pop all stack to queue.</a:t>
            </a:r>
            <a:endParaRPr sz="2400" b="1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de4ba015e_0_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IN" sz="4000" b="1" dirty="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sz="40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9" name="Google Shape;129;g39de4ba015e_0_12"/>
          <p:cNvSpPr/>
          <p:nvPr/>
        </p:nvSpPr>
        <p:spPr>
          <a:xfrm>
            <a:off x="9991482" y="4"/>
            <a:ext cx="2144801" cy="995524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0" name="Google Shape;130;g39de4ba015e_0_12"/>
          <p:cNvSpPr txBox="1"/>
          <p:nvPr/>
        </p:nvSpPr>
        <p:spPr>
          <a:xfrm>
            <a:off x="1062750" y="1805075"/>
            <a:ext cx="9397800" cy="46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Detailed Algorithm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IN"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Initialize an empty stack (for operators) and an empty queue (for output).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IN"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Read tokens (operands/operators/parentheses) from left to right.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IN"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If token is operand → add to queue (output).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IN"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If token is operator (op1) →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While there is an operator (op2) at the top of the stack with greater or equal precedence, pop op2 and add to queue.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Push op1 onto the stack.</a:t>
            </a:r>
            <a:endParaRPr sz="2400" b="1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de4ba015e_0_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IN" sz="4000" b="1" dirty="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sz="40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6" name="Google Shape;136;g39de4ba015e_0_18"/>
          <p:cNvSpPr/>
          <p:nvPr/>
        </p:nvSpPr>
        <p:spPr>
          <a:xfrm>
            <a:off x="9991482" y="4"/>
            <a:ext cx="2144801" cy="995524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7" name="Google Shape;137;g39de4ba015e_0_18"/>
          <p:cNvSpPr txBox="1"/>
          <p:nvPr/>
        </p:nvSpPr>
        <p:spPr>
          <a:xfrm>
            <a:off x="1062750" y="1805075"/>
            <a:ext cx="9397800" cy="46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Detailed Algorithm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IN"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If token is ‘(’ → push to stack.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IN"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If token is ‘)’ → pop operators from stack to queue until ‘(’ is found; discard both parentheses.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IN"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After reading all tokens → pop all remaining operators from stack to queue.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Operator Precedence:</a:t>
            </a:r>
            <a:br>
              <a:rPr lang="en-IN"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^ (highest), *, /, then +, -</a:t>
            </a:r>
            <a:endParaRPr sz="24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aphicFrame>
        <p:nvGraphicFramePr>
          <p:cNvPr id="144" name="Google Shape;144;p6"/>
          <p:cNvGraphicFramePr/>
          <p:nvPr/>
        </p:nvGraphicFramePr>
        <p:xfrm>
          <a:off x="626405" y="1709497"/>
          <a:ext cx="9770775" cy="3200470"/>
        </p:xfrm>
        <a:graphic>
          <a:graphicData uri="http://schemas.openxmlformats.org/drawingml/2006/table">
            <a:tbl>
              <a:tblPr>
                <a:noFill/>
                <a:tableStyleId>{68A1CC15-4619-483F-A3B6-BB4E6DC9FD0C}</a:tableStyleId>
              </a:tblPr>
              <a:tblGrid>
                <a:gridCol w="169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6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57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Step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Input Token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Stack (Operators)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Queue (Postfix Output)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+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+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+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 B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4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*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+ *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 B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+ *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 B C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6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End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 B C * +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5" name="Google Shape;145;p6"/>
          <p:cNvSpPr txBox="1"/>
          <p:nvPr/>
        </p:nvSpPr>
        <p:spPr>
          <a:xfrm>
            <a:off x="1173183" y="5323193"/>
            <a:ext cx="4575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Final Output:</a:t>
            </a:r>
            <a:br>
              <a:rPr lang="en-IN" sz="2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🟩 Postfix → </a:t>
            </a:r>
            <a:r>
              <a:rPr lang="en-IN" sz="24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 B C * +</a:t>
            </a:r>
            <a:endParaRPr sz="2400" b="1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FDF4DA-85EC-A81E-47A6-3AEBE5FBAA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5541" y="1690688"/>
            <a:ext cx="8379299" cy="44710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57DF2F-9DD2-CCB3-E472-9DA193F60A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575" y="1052181"/>
            <a:ext cx="10812384" cy="47536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242E3A-E087-4A14-5D03-B2AB319DB5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232" y="2484844"/>
            <a:ext cx="9340762" cy="171301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/>
          <a:p>
            <a:pPr algn="l">
              <a:lnSpc>
                <a:spcPct val="90000"/>
              </a:lnSpc>
              <a:buSzPts val="4000"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Output :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9991483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95AF01-F001-E012-4271-64090A2F6879}"/>
              </a:ext>
            </a:extLst>
          </p:cNvPr>
          <p:cNvSpPr/>
          <p:nvPr/>
        </p:nvSpPr>
        <p:spPr>
          <a:xfrm>
            <a:off x="1720646" y="2005782"/>
            <a:ext cx="8111613" cy="315615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791DF5-972B-1D27-EE5A-022B406632E1}"/>
              </a:ext>
            </a:extLst>
          </p:cNvPr>
          <p:cNvSpPr txBox="1"/>
          <p:nvPr/>
        </p:nvSpPr>
        <p:spPr>
          <a:xfrm>
            <a:off x="1848466" y="2202427"/>
            <a:ext cx="7747819" cy="1131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Infix: a+b*(c^d-e)^(f+g*h)-i</a:t>
            </a:r>
          </a:p>
          <a:p>
            <a:pPr>
              <a:lnSpc>
                <a:spcPct val="150000"/>
              </a:lnSpc>
            </a:pPr>
            <a:r>
              <a:rPr lang="pt-BR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Postfix: abcd^e-fgh*+^*+i-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IN" sz="4000" b="1" dirty="0">
                <a:latin typeface="Cambria"/>
                <a:ea typeface="Cambria"/>
                <a:cs typeface="Cambria"/>
                <a:sym typeface="Cambria"/>
              </a:rPr>
              <a:t>Complexity Analysis</a:t>
            </a:r>
          </a:p>
        </p:txBody>
      </p:sp>
      <p:sp>
        <p:nvSpPr>
          <p:cNvPr id="176" name="Google Shape;176;p11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78" name="Google Shape;178;p11"/>
          <p:cNvSpPr txBox="1"/>
          <p:nvPr/>
        </p:nvSpPr>
        <p:spPr>
          <a:xfrm>
            <a:off x="1384955" y="2055809"/>
            <a:ext cx="7704000" cy="19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tkinson Hyperlegible"/>
              <a:buNone/>
            </a:pPr>
            <a:r>
              <a:rPr lang="en-IN" sz="24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Time Complexity: </a:t>
            </a:r>
            <a:r>
              <a:rPr lang="en-IN" sz="2400" b="0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	</a:t>
            </a:r>
            <a:r>
              <a:rPr lang="en-IN" sz="2400" b="0" i="0" u="none" strike="noStrike" cap="none" dirty="0">
                <a:solidFill>
                  <a:srgbClr val="0038C4"/>
                </a:solidFill>
                <a:latin typeface="Cambria"/>
                <a:ea typeface="Cambria"/>
                <a:cs typeface="Cambria"/>
                <a:sym typeface="Cambria"/>
              </a:rPr>
              <a:t>O(n) </a:t>
            </a:r>
            <a:r>
              <a:rPr lang="en-IN" sz="2400" b="0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	— each token processed once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tkinson Hyperlegible"/>
              <a:buNone/>
            </a:pPr>
            <a:r>
              <a:rPr lang="en-IN" sz="2400" b="1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Space Complexity: </a:t>
            </a:r>
            <a:r>
              <a:rPr lang="en-IN" sz="2400" b="0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	</a:t>
            </a:r>
            <a:r>
              <a:rPr lang="en-IN" sz="2400" b="0" i="0" u="none" strike="noStrike" cap="none" dirty="0">
                <a:solidFill>
                  <a:srgbClr val="0038C4"/>
                </a:solidFill>
                <a:latin typeface="Cambria"/>
                <a:ea typeface="Cambria"/>
                <a:cs typeface="Cambria"/>
                <a:sym typeface="Cambria"/>
              </a:rPr>
              <a:t>O(n)</a:t>
            </a:r>
            <a:r>
              <a:rPr lang="en-IN" sz="2400" b="0" i="0" u="none" strike="noStrike" cap="non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	— for stack + queue</a:t>
            </a:r>
            <a:endParaRPr sz="2400" b="0" i="0" u="none" strike="noStrike" cap="none" dirty="0">
              <a:solidFill>
                <a:srgbClr val="0038C4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Variations &amp; Competitive Tips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6" name="Google Shape;186;p12"/>
          <p:cNvSpPr txBox="1"/>
          <p:nvPr/>
        </p:nvSpPr>
        <p:spPr>
          <a:xfrm>
            <a:off x="1013550" y="2100375"/>
            <a:ext cx="9451800" cy="3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Easier Variation: No associativity (assume all left).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Harder: Add unary operators (e.g., -A); Handle variables/functions</a:t>
            </a:r>
            <a:endParaRPr sz="24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Competitive Angle: LeetCode #159: Expression Add Operators; Codeforces problems on parsers.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Optimization: Use array for stack (faster in C++); Extend to full evaluator.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de4ba015e_0_5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Practice Exercises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2" name="Google Shape;192;g39de4ba015e_0_52"/>
          <p:cNvSpPr/>
          <p:nvPr/>
        </p:nvSpPr>
        <p:spPr>
          <a:xfrm>
            <a:off x="9991482" y="4"/>
            <a:ext cx="2144801" cy="995524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3" name="Google Shape;193;g39de4ba015e_0_52"/>
          <p:cNvSpPr txBox="1"/>
          <p:nvPr/>
        </p:nvSpPr>
        <p:spPr>
          <a:xfrm>
            <a:off x="945396" y="1880094"/>
            <a:ext cx="9811094" cy="3877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200000"/>
              </a:lnSpc>
              <a:buClr>
                <a:schemeClr val="dk1"/>
              </a:buClr>
              <a:buSzPts val="2400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1️⃣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Evaluate Reverse Polish Notation — </a:t>
            </a: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LeetCode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#150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🔗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https://leetcode.com/problems/evaluate-reverse-polish-notation/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Concept: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Postfix (RPN) evaluation using stack operations.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Why Practice: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It directly applies the postfix conversion and evaluation logic you learned.</a:t>
            </a:r>
            <a:endParaRPr lang="en-US" sz="2400" b="0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1A2AA4DD-8F36-2E4F-498E-8C9FEC384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de4ba015e_0_52">
            <a:extLst>
              <a:ext uri="{FF2B5EF4-FFF2-40B4-BE49-F238E27FC236}">
                <a16:creationId xmlns:a16="http://schemas.microsoft.com/office/drawing/2014/main" id="{80FEA204-F536-3A7A-A299-B4F70DE59F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Practice Exercises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2" name="Google Shape;192;g39de4ba015e_0_52">
            <a:extLst>
              <a:ext uri="{FF2B5EF4-FFF2-40B4-BE49-F238E27FC236}">
                <a16:creationId xmlns:a16="http://schemas.microsoft.com/office/drawing/2014/main" id="{C1972DBD-67BB-5DDE-ECF4-3AD0B5E29D59}"/>
              </a:ext>
            </a:extLst>
          </p:cNvPr>
          <p:cNvSpPr/>
          <p:nvPr/>
        </p:nvSpPr>
        <p:spPr>
          <a:xfrm>
            <a:off x="9991482" y="4"/>
            <a:ext cx="2144801" cy="995524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3" name="Google Shape;193;g39de4ba015e_0_52">
            <a:extLst>
              <a:ext uri="{FF2B5EF4-FFF2-40B4-BE49-F238E27FC236}">
                <a16:creationId xmlns:a16="http://schemas.microsoft.com/office/drawing/2014/main" id="{62DFFD06-6CB1-B6C8-3BA4-5696DC068A04}"/>
              </a:ext>
            </a:extLst>
          </p:cNvPr>
          <p:cNvSpPr txBox="1"/>
          <p:nvPr/>
        </p:nvSpPr>
        <p:spPr>
          <a:xfrm>
            <a:off x="945396" y="1880094"/>
            <a:ext cx="9811094" cy="3877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200000"/>
              </a:lnSpc>
              <a:buClr>
                <a:schemeClr val="dk1"/>
              </a:buClr>
              <a:buSzPts val="2400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2️⃣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Basic Calculator II — </a:t>
            </a: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LeetCode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#227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🔗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https://leetcode.com/problems/basic-calculator-ii/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Concept: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Stack-based infix expression evaluation with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+ - * /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Why Practice: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Reinforces understanding of operator precedence and stack evaluation.</a:t>
            </a:r>
            <a:endParaRPr lang="en-US" sz="2400" b="0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6243914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CF75DADE-6093-DEF4-2EE3-FCA999F83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de4ba015e_0_52">
            <a:extLst>
              <a:ext uri="{FF2B5EF4-FFF2-40B4-BE49-F238E27FC236}">
                <a16:creationId xmlns:a16="http://schemas.microsoft.com/office/drawing/2014/main" id="{59932685-2F11-B0E6-5802-474E0B6223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Practice Exercises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2" name="Google Shape;192;g39de4ba015e_0_52">
            <a:extLst>
              <a:ext uri="{FF2B5EF4-FFF2-40B4-BE49-F238E27FC236}">
                <a16:creationId xmlns:a16="http://schemas.microsoft.com/office/drawing/2014/main" id="{3307511D-9EAA-F173-BBFD-169A931363F6}"/>
              </a:ext>
            </a:extLst>
          </p:cNvPr>
          <p:cNvSpPr/>
          <p:nvPr/>
        </p:nvSpPr>
        <p:spPr>
          <a:xfrm>
            <a:off x="9991482" y="4"/>
            <a:ext cx="2144801" cy="995524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3" name="Google Shape;193;g39de4ba015e_0_52">
            <a:extLst>
              <a:ext uri="{FF2B5EF4-FFF2-40B4-BE49-F238E27FC236}">
                <a16:creationId xmlns:a16="http://schemas.microsoft.com/office/drawing/2014/main" id="{E983C23B-C6CD-DE73-A28E-48CEA9DD35C1}"/>
              </a:ext>
            </a:extLst>
          </p:cNvPr>
          <p:cNvSpPr txBox="1"/>
          <p:nvPr/>
        </p:nvSpPr>
        <p:spPr>
          <a:xfrm>
            <a:off x="945396" y="1880094"/>
            <a:ext cx="9811094" cy="313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200000"/>
              </a:lnSpc>
              <a:buClr>
                <a:schemeClr val="dk1"/>
              </a:buClr>
              <a:buSzPts val="2400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3️⃣ Basic Calculator —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LeetCode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#224</a:t>
            </a:r>
          </a:p>
          <a:p>
            <a:pPr lvl="0">
              <a:lnSpc>
                <a:spcPct val="200000"/>
              </a:lnSpc>
              <a:buClr>
                <a:schemeClr val="dk1"/>
              </a:buClr>
              <a:buSzPts val="2400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🔗 https://leetcode.com/problems/basic-calculator/Concept: Evaluate arithmetic expressions with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parentheses.Why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Practice: Strengthens your ability to parse infix expressions with nested operations.</a:t>
            </a:r>
            <a:endParaRPr lang="en-US" sz="2400" b="0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40057140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8"/>
          <p:cNvSpPr txBox="1">
            <a:spLocks noGrp="1"/>
          </p:cNvSpPr>
          <p:nvPr>
            <p:ph type="ctrTitle"/>
          </p:nvPr>
        </p:nvSpPr>
        <p:spPr>
          <a:xfrm>
            <a:off x="1524000" y="202682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lang="en-IN" sz="7000" b="1">
                <a:latin typeface="Cambria"/>
                <a:ea typeface="Cambria"/>
                <a:cs typeface="Cambria"/>
                <a:sym typeface="Cambria"/>
              </a:rPr>
              <a:t>Thanks</a:t>
            </a:r>
            <a:endParaRPr sz="7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3070741" y="1514622"/>
            <a:ext cx="6050518" cy="1517789"/>
          </a:xfrm>
          <a:custGeom>
            <a:avLst/>
            <a:gdLst/>
            <a:ahLst/>
            <a:cxnLst/>
            <a:rect l="l" t="t" r="r" b="b"/>
            <a:pathLst>
              <a:path w="6050518" h="1517789" extrusionOk="0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4634" b="-5642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859</Words>
  <Application>Microsoft Office PowerPoint</Application>
  <PresentationFormat>Widescreen</PresentationFormat>
  <Paragraphs>111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Atkinson Hyperlegible</vt:lpstr>
      <vt:lpstr>Calibri</vt:lpstr>
      <vt:lpstr>Cambria</vt:lpstr>
      <vt:lpstr>Times New Roman</vt:lpstr>
      <vt:lpstr>Office Theme</vt:lpstr>
      <vt:lpstr>Practical 5</vt:lpstr>
      <vt:lpstr>PowerPoint Presentation</vt:lpstr>
      <vt:lpstr>Problem Statement: </vt:lpstr>
      <vt:lpstr>Key Concepts &amp; Prerequisites</vt:lpstr>
      <vt:lpstr>Key Concepts &amp; Prerequisites</vt:lpstr>
      <vt:lpstr>Algorithm/Logic</vt:lpstr>
      <vt:lpstr>Algorithm/Logic</vt:lpstr>
      <vt:lpstr>Algorithm/Logic</vt:lpstr>
      <vt:lpstr>Visualization</vt:lpstr>
      <vt:lpstr>Code Implementation</vt:lpstr>
      <vt:lpstr>PowerPoint Presentation</vt:lpstr>
      <vt:lpstr>PowerPoint Presentation</vt:lpstr>
      <vt:lpstr>Output :</vt:lpstr>
      <vt:lpstr>Complexity Analysis</vt:lpstr>
      <vt:lpstr>Variations &amp; Competitive Tips</vt:lpstr>
      <vt:lpstr>Practice Exercises</vt:lpstr>
      <vt:lpstr>Practice Exercises</vt:lpstr>
      <vt:lpstr>Practice Exercises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Prakash K. P.</dc:creator>
  <cp:lastModifiedBy>Prakash K. P.</cp:lastModifiedBy>
  <cp:revision>2</cp:revision>
  <dcterms:created xsi:type="dcterms:W3CDTF">2025-10-28T09:21:51Z</dcterms:created>
  <dcterms:modified xsi:type="dcterms:W3CDTF">2025-11-02T09:55:14Z</dcterms:modified>
</cp:coreProperties>
</file>