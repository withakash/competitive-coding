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74" r:id="rId10"/>
    <p:sldId id="263" r:id="rId11"/>
    <p:sldId id="264" r:id="rId12"/>
    <p:sldId id="265" r:id="rId13"/>
    <p:sldId id="276" r:id="rId14"/>
    <p:sldId id="277" r:id="rId15"/>
    <p:sldId id="278" r:id="rId16"/>
    <p:sldId id="275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3" name="PlaceHolder 4"/>
          <p:cNvSpPr>
            <a:spLocks noGrp="1"/>
          </p:cNvSpPr>
          <p:nvPr>
            <p:ph type="dt" idx="4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74" name="PlaceHolder 5"/>
          <p:cNvSpPr>
            <a:spLocks noGrp="1"/>
          </p:cNvSpPr>
          <p:nvPr>
            <p:ph type="ftr" idx="4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5" name="PlaceHolder 6"/>
          <p:cNvSpPr>
            <a:spLocks noGrp="1"/>
          </p:cNvSpPr>
          <p:nvPr>
            <p:ph type="sldNum" idx="4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A7D6121-8D84-4C27-8FB7-0C83372E2901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060A6A90-B567-1183-DC84-B505AEDE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>
            <a:extLst>
              <a:ext uri="{FF2B5EF4-FFF2-40B4-BE49-F238E27FC236}">
                <a16:creationId xmlns:a16="http://schemas.microsoft.com/office/drawing/2014/main" id="{54C38877-EF84-1B99-C43E-631E1375A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:notes">
            <a:extLst>
              <a:ext uri="{FF2B5EF4-FFF2-40B4-BE49-F238E27FC236}">
                <a16:creationId xmlns:a16="http://schemas.microsoft.com/office/drawing/2014/main" id="{EEF272B6-54C4-8F4A-3C69-0E97D46DB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0807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E1983EF3-43E6-392C-F151-251153040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>
            <a:extLst>
              <a:ext uri="{FF2B5EF4-FFF2-40B4-BE49-F238E27FC236}">
                <a16:creationId xmlns:a16="http://schemas.microsoft.com/office/drawing/2014/main" id="{36AE8919-EC3C-E4E5-6077-8D2E1A6D2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:notes">
            <a:extLst>
              <a:ext uri="{FF2B5EF4-FFF2-40B4-BE49-F238E27FC236}">
                <a16:creationId xmlns:a16="http://schemas.microsoft.com/office/drawing/2014/main" id="{18C8C4F7-02C7-CEC0-4E75-B8AD5EDCA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0059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A53CB3-A2A0-4F46-B4DC-201FDB44B30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513249-21C1-4B0C-A4EF-F9B26EBEC4DC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0A56EA-A903-40A8-9E54-1BF3E0B4898C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2D10B2-47E4-4261-BF6E-AB7332C3E061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862739-7061-4B8F-993C-F994E0CC57E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139389-853F-4884-8E1D-423F2A2CC5E2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7E8C3A-D97D-4855-8A81-64D0263C321A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008F90-3F4E-40EB-8C01-983EDDD0A0BD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31286C-737D-4D88-8CE0-470D42C7E7D1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3240F9-4DD2-4175-B3B3-C466C99B6657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D768E1-487A-442B-87AE-FD31F2C426C2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2920" y="-244440"/>
            <a:ext cx="1337400" cy="133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Cambria"/>
              <a:buNone/>
              <a:defRPr sz="1800" b="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Cambria"/>
              <a:buNone/>
              <a:defRPr sz="1800" b="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Cambria"/>
              <a:buNone/>
              <a:defRPr sz="1800" b="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Cambria"/>
              <a:buNone/>
              <a:defRPr sz="1800" b="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Cambria"/>
              <a:buNone/>
              <a:defRPr sz="1800" b="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Cambria"/>
              <a:buNone/>
              <a:defRPr sz="1800" b="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Cambria"/>
              <a:buNone/>
              <a:defRPr sz="1800" b="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Cambria"/>
              <a:buNone/>
              <a:defRPr sz="1800" b="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Cambria"/>
              <a:buNone/>
              <a:defRPr sz="1800" b="0" u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4431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3880" y="175860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Practical 9</a:t>
            </a:r>
            <a:endParaRPr lang="en-IN" sz="7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1523880" y="419832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Swap Nodes pairwise in a linked list.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Freeform 5"/>
          <p:cNvSpPr/>
          <p:nvPr/>
        </p:nvSpPr>
        <p:spPr>
          <a:xfrm>
            <a:off x="3070800" y="1514520"/>
            <a:ext cx="6049800" cy="1517040"/>
          </a:xfrm>
          <a:custGeom>
            <a:avLst/>
            <a:gdLst>
              <a:gd name="textAreaLeft" fmla="*/ 0 w 6049800"/>
              <a:gd name="textAreaRight" fmla="*/ 6050520 w 6049800"/>
              <a:gd name="textAreaTop" fmla="*/ 0 h 1517040"/>
              <a:gd name="textAreaBottom" fmla="*/ 1517760 h 1517040"/>
            </a:gdLst>
            <a:ahLst/>
            <a:cxnLst/>
            <a:rect l="textAreaLeft" t="textAreaTop" r="textAreaRight" b="textAreaBottom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Content Placeholder 5"/>
          <p:cNvGraphicFramePr/>
          <p:nvPr/>
        </p:nvGraphicFramePr>
        <p:xfrm>
          <a:off x="3309480" y="1265760"/>
          <a:ext cx="5342760" cy="457200"/>
        </p:xfrm>
        <a:graphic>
          <a:graphicData uri="http://schemas.openxmlformats.org/drawingml/2006/table">
            <a:tbl>
              <a:tblPr/>
              <a:tblGrid>
                <a:gridCol w="5342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78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Lesson Plan</a:t>
                      </a:r>
                      <a:endParaRPr lang="en-IN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0" name="Group 25"/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81" name="Freeform 26"/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82" name="Table 6"/>
          <p:cNvGraphicFramePr/>
          <p:nvPr/>
        </p:nvGraphicFramePr>
        <p:xfrm>
          <a:off x="1461240" y="2746440"/>
          <a:ext cx="9059040" cy="731520"/>
        </p:xfrm>
        <a:graphic>
          <a:graphicData uri="http://schemas.openxmlformats.org/drawingml/2006/table">
            <a:tbl>
              <a:tblPr/>
              <a:tblGrid>
                <a:gridCol w="286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8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Subject/Course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0070C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Competitive Coding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8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Lesson Title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70C0"/>
                          </a:solidFill>
                          <a:effectLst/>
                          <a:uFillTx/>
                          <a:latin typeface="Cambria"/>
                        </a:rPr>
                        <a:t>Swap Nodes pairwise in a linked list.</a:t>
                      </a:r>
                      <a:endParaRPr lang="en-US" sz="1800" b="1" u="none" strike="noStrike">
                        <a:solidFill>
                          <a:srgbClr val="0070C0"/>
                        </a:solidFill>
                        <a:effectLst/>
                        <a:uFillTx/>
                        <a:latin typeface="Cambria"/>
                        <a:ea typeface="Microsoft YaHei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Table 7"/>
          <p:cNvGraphicFramePr/>
          <p:nvPr/>
        </p:nvGraphicFramePr>
        <p:xfrm>
          <a:off x="1470960" y="3595320"/>
          <a:ext cx="9039240" cy="1828800"/>
        </p:xfrm>
        <a:graphic>
          <a:graphicData uri="http://schemas.openxmlformats.org/drawingml/2006/table">
            <a:tbl>
              <a:tblPr/>
              <a:tblGrid>
                <a:gridCol w="903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5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1800" b="1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Lesson Objectives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pos="0" algn="l"/>
                        </a:tabLst>
                      </a:pPr>
                      <a:r>
                        <a:rPr lang="en-IN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Rearrange the linked list so every two adjacent nodes are swapped (1↔2, 3↔4, ...).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Do it in O(n) time and O(1) extra space — by changing links (ptrs), not node values.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4" name="Rectangle 1"/>
          <p:cNvSpPr/>
          <p:nvPr/>
        </p:nvSpPr>
        <p:spPr>
          <a:xfrm>
            <a:off x="3231000" y="4523400"/>
            <a:ext cx="121914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numCol="1" spcCol="0" anchor="ctr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mbria"/>
                <a:ea typeface="Cambria"/>
              </a:rPr>
              <a:t>Problem Statement: 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Write a program to Swap Nodes pairwise in a linked list.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" name="Group 25"/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88" name="Freeform 26"/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Concept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4880" cy="448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just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A linked list is a linear data structure composed of a sequence of nodes, where each node contains data and a pointer (or reference) to the next node in the sequence. </a:t>
            </a: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Common operations:</a:t>
            </a: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Insertion: Adding a new node to the linked list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Deletion: Removing a node from the linked list.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Traversal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Searching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algn="just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Group 25"/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92" name="Freeform 26"/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Algorithm/Logic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150374" y="1542356"/>
            <a:ext cx="9379975" cy="448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eriod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Create a singly linked list.</a:t>
            </a:r>
          </a:p>
          <a:p>
            <a:pPr marL="45720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eriod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Traverse the list using a pointer current.</a:t>
            </a:r>
          </a:p>
          <a:p>
            <a:pPr marL="457200" lvl="8" indent="-4572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While current and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current.next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exist:</a:t>
            </a:r>
          </a:p>
          <a:p>
            <a:pPr marL="457200" lvl="8" indent="-457200">
              <a:spcBef>
                <a:spcPts val="1191"/>
              </a:spcBef>
              <a:spcAft>
                <a:spcPts val="992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Swap the data of current and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current.next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.</a:t>
            </a:r>
          </a:p>
          <a:p>
            <a:pPr marL="45720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eriod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Move current two nodes ahead.</a:t>
            </a:r>
          </a:p>
          <a:p>
            <a:pPr marL="457200" indent="-457200">
              <a:spcBef>
                <a:spcPts val="1191"/>
              </a:spcBef>
              <a:spcAft>
                <a:spcPts val="992"/>
              </a:spcAft>
              <a:buFont typeface="+mj-lt"/>
              <a:buAutoNum type="arabicPeriod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Print the list after swapping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5" name="Group 25"/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96" name="Freeform 26"/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25"/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98" name="Freeform 26"/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9" name="TextBox 10"/>
          <p:cNvSpPr/>
          <p:nvPr/>
        </p:nvSpPr>
        <p:spPr>
          <a:xfrm>
            <a:off x="887760" y="2047320"/>
            <a:ext cx="10004760" cy="46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Visualization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080000" y="1918800"/>
            <a:ext cx="7851960" cy="330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101"/>
          <p:cNvPicPr/>
          <p:nvPr/>
        </p:nvPicPr>
        <p:blipFill>
          <a:blip r:embed="rId3"/>
          <a:stretch/>
        </p:blipFill>
        <p:spPr>
          <a:xfrm>
            <a:off x="3156772" y="1453680"/>
            <a:ext cx="5466735" cy="5039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Code Implementation</a:t>
            </a:r>
            <a:endParaRPr lang="en-IN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Group 25"/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105" name="Freeform 26"/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B8816B3-5ED9-2AAA-F681-B0E94916A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873" y="1640680"/>
            <a:ext cx="8487960" cy="44964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DA4A-596B-A37D-A6B9-9AB2B29A3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25">
            <a:extLst>
              <a:ext uri="{FF2B5EF4-FFF2-40B4-BE49-F238E27FC236}">
                <a16:creationId xmlns:a16="http://schemas.microsoft.com/office/drawing/2014/main" id="{471E1904-6F14-B7E6-B555-4A2854DF662A}"/>
              </a:ext>
            </a:extLst>
          </p:cNvPr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105" name="Freeform 26">
              <a:extLst>
                <a:ext uri="{FF2B5EF4-FFF2-40B4-BE49-F238E27FC236}">
                  <a16:creationId xmlns:a16="http://schemas.microsoft.com/office/drawing/2014/main" id="{ECC6346F-C2FC-9439-C7AA-DFA0FF4D634C}"/>
                </a:ext>
              </a:extLst>
            </p:cNvPr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C683946-3824-925A-B696-FFBA323F5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834" y="675891"/>
            <a:ext cx="7525800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75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algn="l">
              <a:lnSpc>
                <a:spcPct val="90000"/>
              </a:lnSpc>
              <a:buSzPts val="4000"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9991483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5AF01-F001-E012-4271-64090A2F6879}"/>
              </a:ext>
            </a:extLst>
          </p:cNvPr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91DF5-972B-1D27-EE5A-022B406632E1}"/>
              </a:ext>
            </a:extLst>
          </p:cNvPr>
          <p:cNvSpPr txBox="1"/>
          <p:nvPr/>
        </p:nvSpPr>
        <p:spPr>
          <a:xfrm>
            <a:off x="1848466" y="2202427"/>
            <a:ext cx="7747819" cy="113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Original List: 1 2 3 4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After Swapping Pairs: 2 1 4 3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Output</a:t>
            </a:r>
            <a:endParaRPr lang="en-IN" sz="4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Group 25"/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109" name="Freeform 26"/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Rectangle 109"/>
          <p:cNvSpPr/>
          <p:nvPr/>
        </p:nvSpPr>
        <p:spPr>
          <a:xfrm>
            <a:off x="918720" y="1457640"/>
            <a:ext cx="7180920" cy="159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2400" b="0" u="none" strike="noStrike" dirty="0">
                <a:solidFill>
                  <a:srgbClr val="000000"/>
                </a:solidFill>
                <a:effectLst/>
                <a:uFillTx/>
                <a:latin typeface="Cambria"/>
              </a:rPr>
              <a:t>Input Linked List: 1 -&gt; 2 -&gt; 3 -&gt; 4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2400" b="0" u="none" strike="noStrike" dirty="0">
                <a:solidFill>
                  <a:srgbClr val="000000"/>
                </a:solidFill>
                <a:effectLst/>
                <a:uFillTx/>
                <a:latin typeface="Cambria"/>
              </a:rPr>
              <a:t>Output Linked List: 2 -&gt; 1 -&gt; 4 -&gt; 3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4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Time &amp; Space Complexity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" name="Group 25"/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113" name="Freeform 26"/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" name="Rectangle 113"/>
          <p:cNvSpPr/>
          <p:nvPr/>
        </p:nvSpPr>
        <p:spPr>
          <a:xfrm>
            <a:off x="913320" y="1620000"/>
            <a:ext cx="9886320" cy="63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mbria"/>
              </a:rPr>
              <a:t>Time Complexity: O(N)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mbria"/>
              </a:rPr>
              <a:t>The algorithm iterates through the linked list once, processing each pair of nodes. In each iteration of the while loop, a constant number of operations (pointer assignments) are performed. Therefore, the time taken grows linearly with the number of nodes (N) in the linked list.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mbria"/>
              </a:rPr>
              <a:t>Space Complexity: O(1)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mbria"/>
              </a:rPr>
              <a:t>The algorithm uses a constant amount of extra space, regardless of the input linked list's size. A dummy node and a prev pointer are created, which consume a fixed amount of memory.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Cambria"/>
              </a:rPr>
              <a:t>No auxiliary data structures are used that scale with the input size.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4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Summary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This algorithm efficiently swaps adjacent nodes in a singly linked list.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7" name="Group 25"/>
          <p:cNvGrpSpPr/>
          <p:nvPr/>
        </p:nvGrpSpPr>
        <p:grpSpPr>
          <a:xfrm>
            <a:off x="9991440" y="0"/>
            <a:ext cx="2144880" cy="995400"/>
            <a:chOff x="9991440" y="0"/>
            <a:chExt cx="2144880" cy="995400"/>
          </a:xfrm>
        </p:grpSpPr>
        <p:sp>
          <p:nvSpPr>
            <p:cNvPr id="118" name="Freeform 26"/>
            <p:cNvSpPr/>
            <p:nvPr/>
          </p:nvSpPr>
          <p:spPr>
            <a:xfrm>
              <a:off x="9991440" y="0"/>
              <a:ext cx="2144880" cy="995400"/>
            </a:xfrm>
            <a:custGeom>
              <a:avLst/>
              <a:gdLst>
                <a:gd name="textAreaLeft" fmla="*/ 0 w 2144880"/>
                <a:gd name="textAreaRight" fmla="*/ 2145600 w 2144880"/>
                <a:gd name="textAreaTop" fmla="*/ 0 h 995400"/>
                <a:gd name="textAreaBottom" fmla="*/ 996120 h 995400"/>
              </a:gdLst>
              <a:ahLst/>
              <a:cxnLst/>
              <a:rect l="textAreaLeft" t="textAreaTop" r="textAreaRight" b="textAreaBottom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>
            <a:spLocks noGrp="1"/>
          </p:cNvSpPr>
          <p:nvPr>
            <p:ph type="title"/>
          </p:nvPr>
        </p:nvSpPr>
        <p:spPr>
          <a:xfrm>
            <a:off x="1041307" y="1436015"/>
            <a:ext cx="104043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2800" b="1" u="none" strike="noStrik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Problem Statement 1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3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 b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B4B3652-6041-C938-76D9-FDE45CFDCA91}"/>
              </a:ext>
            </a:extLst>
          </p:cNvPr>
          <p:cNvSpPr/>
          <p:nvPr/>
        </p:nvSpPr>
        <p:spPr>
          <a:xfrm>
            <a:off x="6845120" y="1690140"/>
            <a:ext cx="4884763" cy="50083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1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Problem Statement Path: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Competitive Coding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Linked List 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Next Greater Node in Linked List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Link: https://leetcode.com/problems/next-greater-node-in-linked-list/description/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5C33E4-AD2F-15AB-5775-32205E5D948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66283" y="1959204"/>
            <a:ext cx="5186540" cy="180620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143336-3CC3-8E9B-8BED-7E4E38525C5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266282" y="3921097"/>
            <a:ext cx="5095189" cy="2571863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57975E-1743-C3B8-707B-17B6DBDA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>
            <a:extLst>
              <a:ext uri="{FF2B5EF4-FFF2-40B4-BE49-F238E27FC236}">
                <a16:creationId xmlns:a16="http://schemas.microsoft.com/office/drawing/2014/main" id="{701A3F1F-9069-3925-85FE-63E233422F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1307" y="1436015"/>
            <a:ext cx="104043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2800" b="1" u="none" strike="noStrik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Problem Statement 2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>
            <a:extLst>
              <a:ext uri="{FF2B5EF4-FFF2-40B4-BE49-F238E27FC236}">
                <a16:creationId xmlns:a16="http://schemas.microsoft.com/office/drawing/2014/main" id="{185325F3-BC66-8338-8944-E83A25E23E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3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 b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235;p26"/>
          <p:cNvSpPr/>
          <p:nvPr/>
        </p:nvSpPr>
        <p:spPr>
          <a:xfrm>
            <a:off x="6374645" y="1690140"/>
            <a:ext cx="5274189" cy="43635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1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Problem Statement Path: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Competitive Coding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Linked List 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Swapping Nodes in a Linked List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4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Link: https://leetcode.com/problems/swapping-nodes-in-a-linked-list/description/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133"/>
          <p:cNvPicPr/>
          <p:nvPr/>
        </p:nvPicPr>
        <p:blipFill>
          <a:blip r:embed="rId3"/>
          <a:stretch/>
        </p:blipFill>
        <p:spPr>
          <a:xfrm>
            <a:off x="1170234" y="2021780"/>
            <a:ext cx="4647122" cy="3278109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134"/>
          <p:cNvPicPr/>
          <p:nvPr/>
        </p:nvPicPr>
        <p:blipFill>
          <a:blip r:embed="rId4"/>
          <a:stretch/>
        </p:blipFill>
        <p:spPr>
          <a:xfrm>
            <a:off x="1170234" y="5518154"/>
            <a:ext cx="2786249" cy="1070975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372779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AFE2BB84-F6B0-C39B-C8F0-2F8147BA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>
            <a:extLst>
              <a:ext uri="{FF2B5EF4-FFF2-40B4-BE49-F238E27FC236}">
                <a16:creationId xmlns:a16="http://schemas.microsoft.com/office/drawing/2014/main" id="{C7153160-07CD-E88E-4902-6B0F14ACA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1307" y="1436015"/>
            <a:ext cx="104043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2800" b="1" u="none" strike="noStrik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Problem Statement </a:t>
            </a:r>
            <a:r>
              <a:rPr lang="en-IN" sz="2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>
            <a:extLst>
              <a:ext uri="{FF2B5EF4-FFF2-40B4-BE49-F238E27FC236}">
                <a16:creationId xmlns:a16="http://schemas.microsoft.com/office/drawing/2014/main" id="{E1523CD8-5DA8-BEE6-1D73-D8C8F0B59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3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sz="4000" b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242;p27"/>
          <p:cNvSpPr/>
          <p:nvPr/>
        </p:nvSpPr>
        <p:spPr>
          <a:xfrm>
            <a:off x="7119872" y="1803515"/>
            <a:ext cx="4895148" cy="50155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200" b="1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Problem Statement Path:</a:t>
            </a:r>
            <a:endParaRPr lang="en-IN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2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Competitive Coding</a:t>
            </a:r>
            <a:endParaRPr lang="en-IN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2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Linked List </a:t>
            </a:r>
            <a:endParaRPr lang="en-IN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2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Remove-zero-sum-consecutive-nodes-from-linked-list</a:t>
            </a:r>
            <a:endParaRPr lang="en-IN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IN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2200" b="0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Link : https://leetcode.com/problems/remove-zero-sum-consecutive-nodes-from-linked-list/description/</a:t>
            </a:r>
            <a:endParaRPr lang="en-IN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137"/>
          <p:cNvPicPr/>
          <p:nvPr/>
        </p:nvPicPr>
        <p:blipFill>
          <a:blip r:embed="rId3"/>
          <a:stretch/>
        </p:blipFill>
        <p:spPr>
          <a:xfrm>
            <a:off x="1123646" y="1902891"/>
            <a:ext cx="5926320" cy="431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38"/>
          <p:cNvSpPr/>
          <p:nvPr/>
        </p:nvSpPr>
        <p:spPr>
          <a:xfrm>
            <a:off x="1041307" y="6239467"/>
            <a:ext cx="3849909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Constraints:</a:t>
            </a:r>
          </a:p>
          <a:p>
            <a:pPr>
              <a:lnSpc>
                <a:spcPct val="100000"/>
              </a:lnSpc>
            </a:pPr>
            <a:r>
              <a:rPr lang="en-IN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The given linked list will contain between 1 and 1000 nodes.</a:t>
            </a:r>
          </a:p>
          <a:p>
            <a:pPr>
              <a:lnSpc>
                <a:spcPct val="100000"/>
              </a:lnSpc>
            </a:pPr>
            <a:r>
              <a:rPr lang="en-IN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Each node in the linked list has -1000 &lt;= </a:t>
            </a:r>
            <a:r>
              <a:rPr lang="en-IN" sz="1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node.val</a:t>
            </a:r>
            <a:r>
              <a:rPr lang="en-IN" sz="1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&lt;= 1000.</a:t>
            </a:r>
          </a:p>
          <a:p>
            <a:pPr>
              <a:lnSpc>
                <a:spcPct val="100000"/>
              </a:lnSpc>
            </a:pPr>
            <a:endParaRPr lang="en-IN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346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523880" y="202680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Thanks</a:t>
            </a:r>
            <a:endParaRPr lang="en-IN" sz="7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Freeform 5"/>
          <p:cNvSpPr/>
          <p:nvPr/>
        </p:nvSpPr>
        <p:spPr>
          <a:xfrm>
            <a:off x="3070800" y="1514520"/>
            <a:ext cx="6049800" cy="1517040"/>
          </a:xfrm>
          <a:custGeom>
            <a:avLst/>
            <a:gdLst>
              <a:gd name="textAreaLeft" fmla="*/ 0 w 6049800"/>
              <a:gd name="textAreaRight" fmla="*/ 6050520 w 6049800"/>
              <a:gd name="textAreaTop" fmla="*/ 0 h 1517040"/>
              <a:gd name="textAreaBottom" fmla="*/ 1517760 h 1517040"/>
            </a:gdLst>
            <a:ahLst/>
            <a:cxnLst/>
            <a:rect l="textAreaLeft" t="textAreaTop" r="textAreaRight" b="textAreaBottom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</TotalTime>
  <Words>505</Words>
  <Application>Microsoft Office PowerPoint</Application>
  <PresentationFormat>Widescreen</PresentationFormat>
  <Paragraphs>73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Symbol</vt:lpstr>
      <vt:lpstr>Times New Roman</vt:lpstr>
      <vt:lpstr>Wingdings</vt:lpstr>
      <vt:lpstr>Office Theme</vt:lpstr>
      <vt:lpstr>Practical 9</vt:lpstr>
      <vt:lpstr>PowerPoint Presentation</vt:lpstr>
      <vt:lpstr>Problem Statement: </vt:lpstr>
      <vt:lpstr>Concept</vt:lpstr>
      <vt:lpstr>Algorithm/Logic</vt:lpstr>
      <vt:lpstr>Visualization</vt:lpstr>
      <vt:lpstr>Code Implementation</vt:lpstr>
      <vt:lpstr>PowerPoint Presentation</vt:lpstr>
      <vt:lpstr>Output :</vt:lpstr>
      <vt:lpstr>Output</vt:lpstr>
      <vt:lpstr>Time &amp; Space Complexity</vt:lpstr>
      <vt:lpstr>Summary</vt:lpstr>
      <vt:lpstr> Problem Statement 1</vt:lpstr>
      <vt:lpstr> Problem Statement 2</vt:lpstr>
      <vt:lpstr> Problem Statement 3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Prakash K. P.</dc:creator>
  <dc:description/>
  <cp:lastModifiedBy>Prakash K. P.</cp:lastModifiedBy>
  <cp:revision>28</cp:revision>
  <dcterms:created xsi:type="dcterms:W3CDTF">2025-10-28T09:21:51Z</dcterms:created>
  <dcterms:modified xsi:type="dcterms:W3CDTF">2025-11-02T10:35:19Z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18</vt:i4>
  </property>
</Properties>
</file>