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  <p:sldId id="258" r:id="rId3"/>
    <p:sldId id="257" r:id="rId4"/>
    <p:sldId id="260" r:id="rId5"/>
    <p:sldId id="261" r:id="rId6"/>
    <p:sldId id="276" r:id="rId7"/>
    <p:sldId id="262" r:id="rId8"/>
    <p:sldId id="264" r:id="rId9"/>
    <p:sldId id="265" r:id="rId10"/>
    <p:sldId id="268" r:id="rId11"/>
    <p:sldId id="267" r:id="rId12"/>
    <p:sldId id="269" r:id="rId13"/>
    <p:sldId id="270" r:id="rId14"/>
    <p:sldId id="278" r:id="rId15"/>
    <p:sldId id="280" r:id="rId16"/>
    <p:sldId id="27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6391"/>
    <a:srgbClr val="235A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1787D-E165-4BDE-BA1E-DCBC9827DA08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leetcode.com/problems/diameter-of-binary-tree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758467"/>
            <a:ext cx="9144000" cy="2387600"/>
          </a:xfrm>
        </p:spPr>
        <p:txBody>
          <a:bodyPr>
            <a:normAutofit/>
          </a:bodyPr>
          <a:lstStyle/>
          <a:p>
            <a:r>
              <a:rPr lang="en-US" sz="7000" dirty="0">
                <a:latin typeface="Cambria" panose="02040503050406030204" pitchFamily="18" charset="0"/>
                <a:ea typeface="Cambria" panose="02040503050406030204" pitchFamily="18" charset="0"/>
              </a:rPr>
              <a:t>Practical 12</a:t>
            </a:r>
            <a:endParaRPr lang="en-IN" sz="7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98386"/>
            <a:ext cx="9144000" cy="1655762"/>
          </a:xfrm>
        </p:spPr>
        <p:txBody>
          <a:bodyPr/>
          <a:lstStyle/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Program to Find Maximum Depth or Height of a Binary Tree</a:t>
            </a:r>
          </a:p>
        </p:txBody>
      </p:sp>
      <p:sp>
        <p:nvSpPr>
          <p:cNvPr id="4" name="Freeform 5"/>
          <p:cNvSpPr/>
          <p:nvPr/>
        </p:nvSpPr>
        <p:spPr>
          <a:xfrm>
            <a:off x="3070741" y="1514622"/>
            <a:ext cx="6050518" cy="1517789"/>
          </a:xfrm>
          <a:custGeom>
            <a:avLst/>
            <a:gdLst/>
            <a:ahLst/>
            <a:cxnLst/>
            <a:rect l="l" t="t" r="r" b="b"/>
            <a:pathLst>
              <a:path w="6050518" h="1517789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38" b="-5648"/>
            </a:stretch>
          </a:blipFill>
        </p:spPr>
      </p:sp>
      <p:sp>
        <p:nvSpPr>
          <p:cNvPr id="5" name="Text Box 4"/>
          <p:cNvSpPr txBox="1"/>
          <p:nvPr/>
        </p:nvSpPr>
        <p:spPr>
          <a:xfrm>
            <a:off x="8255000" y="35560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309539" y="1265839"/>
          <a:ext cx="5342848" cy="441960"/>
        </p:xfrm>
        <a:graphic>
          <a:graphicData uri="http://schemas.openxmlformats.org/drawingml/2006/table">
            <a:tbl>
              <a:tblPr/>
              <a:tblGrid>
                <a:gridCol w="5342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Lesson Plan</a:t>
                      </a:r>
                      <a:endParaRPr lang="en-IN" sz="2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2"/>
              </a:stretch>
            </a:blipFill>
          </p:spPr>
        </p:sp>
      </p:grp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61074" y="2746276"/>
          <a:ext cx="9059442" cy="1249680"/>
        </p:xfrm>
        <a:graphic>
          <a:graphicData uri="http://schemas.openxmlformats.org/drawingml/2006/table">
            <a:tbl>
              <a:tblPr/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43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Subject/Course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Competitive Coding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Lesson Title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en-US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Program to Find Maximum Depth or Height of a Binary Tree</a:t>
                      </a:r>
                    </a:p>
                    <a:p>
                      <a:pPr rtl="0" fontAlgn="ctr">
                        <a:buNone/>
                      </a:pPr>
                      <a:endParaRPr lang="en-US" alt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471295" y="3803015"/>
          <a:ext cx="9050020" cy="1816100"/>
        </p:xfrm>
        <a:graphic>
          <a:graphicData uri="http://schemas.openxmlformats.org/drawingml/2006/table">
            <a:tbl>
              <a:tblPr/>
              <a:tblGrid>
                <a:gridCol w="9050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40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Lesson Objectives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en-US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Understand the concept of depth and height in a binary tree.</a:t>
                      </a: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en-US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Learn how to calculate the maximum depth using recursion.</a:t>
                      </a: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altLang="en-US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Explore how height relates to levels in a binary tree.</a:t>
                      </a: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altLang="en-US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Analyze time and space complexity of the height algorithm.</a:t>
                      </a: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3230880" y="452326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Bold"/>
                <a:sym typeface="Cambria Bold"/>
              </a:rPr>
              <a:t>Problem Statement: </a:t>
            </a: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Write a program for implementing a MINSTACK which should support operations like push, pop, overflow, underflow, display.</a:t>
            </a:r>
          </a:p>
          <a:p>
            <a:pPr marL="0" indent="0" algn="just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1. Construct a stack of N-capacity </a:t>
            </a:r>
          </a:p>
          <a:p>
            <a:pPr marL="0" indent="0" algn="just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2. Push elements </a:t>
            </a:r>
          </a:p>
          <a:p>
            <a:pPr marL="0" indent="0" algn="just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3. Pop elements </a:t>
            </a:r>
          </a:p>
          <a:p>
            <a:pPr marL="0" indent="0" algn="just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4. Top element </a:t>
            </a:r>
          </a:p>
          <a:p>
            <a:pPr marL="0" indent="0" algn="just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5. Retrieve the min element from the stack</a:t>
            </a:r>
          </a:p>
          <a:p>
            <a:pPr marL="0" indent="0" algn="just">
              <a:buNone/>
            </a:pP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Concept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What is Depth (Height) of a Tree?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depth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or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height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of a binary tree is the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number of nodes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along the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longest path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from the root node down to the farthest leaf node.</a:t>
            </a:r>
          </a:p>
          <a:p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Example:</a:t>
            </a:r>
          </a:p>
          <a:p>
            <a:pPr lvl="2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Depth of a single node tree = 1  </a:t>
            </a:r>
          </a:p>
          <a:p>
            <a:pPr lvl="2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Depth of an empty tree = 0</a:t>
            </a:r>
          </a:p>
          <a:p>
            <a:pPr marL="0" indent="0">
              <a:buNone/>
            </a:pP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Key Idea (Recursive Definition):</a:t>
            </a:r>
          </a:p>
          <a:p>
            <a:pPr marL="0" indent="0">
              <a:buNone/>
            </a:pP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maxDepth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(node) = 1 + max(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maxDepth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(left subtree),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maxDepth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(right subtree))</a:t>
            </a: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Algorithm/Logic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 algn="just">
              <a:lnSpc>
                <a:spcPct val="150000"/>
              </a:lnSpc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1. If root is null → return 0.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2. Recursively find height of left subtree.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3. Recursively find height of right subtree.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4. Return 1 + maximum of left and right heights.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5. Base condition handles empty trees automatically.</a:t>
            </a: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Algorithm/Logic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8639" y="1815792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Example Steps: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1. Move recursively to leftmost and rightmost nodes.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2. Compute heights bottom-up.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3. Add 1 for each parent level on return.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4. Final result gives total height of the tree.</a:t>
            </a: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sp>
        <p:nvSpPr>
          <p:cNvPr id="11" name="TextBox 10"/>
          <p:cNvSpPr txBox="1"/>
          <p:nvPr/>
        </p:nvSpPr>
        <p:spPr>
          <a:xfrm>
            <a:off x="1300851" y="1690688"/>
            <a:ext cx="7528517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Example Tree:</a:t>
            </a:r>
          </a:p>
          <a:p>
            <a:pPr>
              <a:lnSpc>
                <a:spcPct val="150000"/>
              </a:lnSpc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Depth Calculation: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Depth(5) = 1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Depth(11) = 1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Depth(8) = 1 + max(1, 1) = 2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Depth(12) = 1 + max(1, 2) = 3</a:t>
            </a:r>
          </a:p>
          <a:p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Visualization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26" name="Picture 2" descr="Maximum Depth or Height of a Binary Tree - GeeksforGeeks">
            <a:extLst>
              <a:ext uri="{FF2B5EF4-FFF2-40B4-BE49-F238E27FC236}">
                <a16:creationId xmlns:a16="http://schemas.microsoft.com/office/drawing/2014/main" id="{60FA9A27-7730-6EAA-D8F3-097D01F531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9836" y="1790338"/>
            <a:ext cx="3839063" cy="3786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Code Implementation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06864" y="1553026"/>
            <a:ext cx="8590915" cy="51168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/>
          <a:srcRect b="654"/>
          <a:stretch>
            <a:fillRect/>
          </a:stretch>
        </p:blipFill>
        <p:spPr>
          <a:xfrm>
            <a:off x="1598254" y="1349911"/>
            <a:ext cx="8626475" cy="37333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</a:rPr>
              <a:t>Output</a:t>
            </a:r>
            <a:endParaRPr lang="en-IN" sz="4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89380" y="1691005"/>
            <a:ext cx="7563485" cy="14065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Time &amp; Space Complexity</a:t>
            </a: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509" y="180596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Time Complexity:</a:t>
            </a:r>
          </a:p>
          <a:p>
            <a:pPr marL="0" indent="0"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O(n) – each node is visited once.</a:t>
            </a:r>
          </a:p>
          <a:p>
            <a:pPr marL="0" indent="0"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Space Complexity:</a:t>
            </a:r>
          </a:p>
          <a:p>
            <a:pPr marL="0" indent="0"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O(h) – due to recursion stack (h = height of tree).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085439" cy="4351338"/>
          </a:xfrm>
        </p:spPr>
        <p:txBody>
          <a:bodyPr>
            <a:normAutofit/>
          </a:bodyPr>
          <a:lstStyle/>
          <a:p>
            <a:pPr marL="457200" lvl="1" indent="0" algn="just">
              <a:lnSpc>
                <a:spcPct val="150000"/>
              </a:lnSpc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1. Height is the longest path from root to leaf.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2. Recursive approach computes height efficiently.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3. Time Complexity: O(n), Space: O(h).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4. Used in balance checking, diameter, and level-order traversal.</a:t>
            </a: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Practice Questions: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1. </a:t>
            </a:r>
            <a:r>
              <a:rPr lang="en-US" alt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Maximum Depth of Binary Tree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— </a:t>
            </a:r>
            <a:r>
              <a:rPr lang="en-US" sz="2400" dirty="0" err="1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LeetCode</a:t>
            </a:r>
            <a:r>
              <a:rPr lang="en-US" sz="2400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#104</a:t>
            </a:r>
          </a:p>
          <a:p>
            <a:pPr marL="0" indent="0" algn="just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🔗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https://leetcode.com/problems/maximum-depth-of-binary-tree/</a:t>
            </a:r>
          </a:p>
          <a:p>
            <a:pPr marL="0" indent="0" algn="just">
              <a:buNone/>
            </a:pPr>
            <a:r>
              <a:rPr lang="en-US" sz="2400" b="1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Concept: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Find height using recursive traversal.</a:t>
            </a:r>
          </a:p>
          <a:p>
            <a:pPr marL="0" indent="0" algn="just">
              <a:buNone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b="1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Why Practice: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Core concept for many tree problems.</a:t>
            </a: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Practice Questions: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2. </a:t>
            </a:r>
            <a:r>
              <a:rPr lang="en-US" alt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Minimum Depth of Binary Tree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— </a:t>
            </a:r>
            <a:r>
              <a:rPr lang="en-US" sz="2400" dirty="0" err="1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LeetCode</a:t>
            </a:r>
            <a:r>
              <a:rPr lang="en-US" sz="2400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#111</a:t>
            </a:r>
          </a:p>
          <a:p>
            <a:pPr marL="0" indent="0" algn="just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🔗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https://leetcode.com/problems/minimum-depth-of-binary-tree/</a:t>
            </a:r>
          </a:p>
          <a:p>
            <a:pPr marL="0" indent="0" algn="just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b="1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Concept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Find shortest path from root to a leaf.</a:t>
            </a:r>
          </a:p>
          <a:p>
            <a:pPr marL="0" indent="0" algn="just">
              <a:buNone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b="1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Why Practice: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Complements maximum depth understanding.</a:t>
            </a:r>
          </a:p>
        </p:txBody>
      </p:sp>
      <p:grpSp>
        <p:nvGrpSpPr>
          <p:cNvPr id="4" name="Group 25"/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/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0B69E-4AA4-4899-2E42-750482C46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FFA85-AFAA-04AB-7E7C-B67530261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Practice Questions: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8C2D9-6653-0E2F-B74F-ECEA17877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3. </a:t>
            </a:r>
            <a:r>
              <a:rPr lang="en-US" alt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Diameter of Binary Tree — </a:t>
            </a:r>
            <a:r>
              <a:rPr lang="en-US" alt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LeetCode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#543</a:t>
            </a:r>
            <a:endParaRPr lang="en-US" sz="2400" dirty="0">
              <a:solidFill>
                <a:srgbClr val="19639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🔗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https://leetcode.com/problems/diameter-of-binary-tree/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b="1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Concept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Compute the longest path between any two nodes in the tree using depth logic.</a:t>
            </a:r>
          </a:p>
          <a:p>
            <a:pPr marL="0" indent="0" algn="just">
              <a:buNone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b="1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Why Practice: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Extends the max depth concept — shows how tree depth contributes to diameter calculation.</a:t>
            </a: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6AAA374F-BC4B-A1D5-41CF-1A905D31A0CF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61533EEE-B01B-C90E-0E14-6C14993BA890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039667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026822"/>
            <a:ext cx="9144000" cy="2387600"/>
          </a:xfrm>
        </p:spPr>
        <p:txBody>
          <a:bodyPr>
            <a:normAutofit/>
          </a:bodyPr>
          <a:lstStyle/>
          <a:p>
            <a:r>
              <a:rPr lang="en-US" sz="7000" b="1" dirty="0">
                <a:latin typeface="Cambria" panose="02040503050406030204" pitchFamily="18" charset="0"/>
                <a:ea typeface="Cambria" panose="02040503050406030204" pitchFamily="18" charset="0"/>
              </a:rPr>
              <a:t>Thanks</a:t>
            </a:r>
            <a:endParaRPr lang="en-IN" sz="7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Freeform 5"/>
          <p:cNvSpPr/>
          <p:nvPr/>
        </p:nvSpPr>
        <p:spPr>
          <a:xfrm>
            <a:off x="3070741" y="1514622"/>
            <a:ext cx="6050518" cy="1517789"/>
          </a:xfrm>
          <a:custGeom>
            <a:avLst/>
            <a:gdLst/>
            <a:ahLst/>
            <a:cxnLst/>
            <a:rect l="l" t="t" r="r" b="b"/>
            <a:pathLst>
              <a:path w="6050518" h="1517789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38" b="-5648"/>
            </a:stretch>
          </a:blipFill>
        </p:spPr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12*121"/>
  <p:tag name="TABLE_ENDDRAG_RECT" val="115*299*712*12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</TotalTime>
  <Words>598</Words>
  <Application>Microsoft Office PowerPoint</Application>
  <PresentationFormat>Widescreen</PresentationFormat>
  <Paragraphs>86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Cambria</vt:lpstr>
      <vt:lpstr>Office Theme</vt:lpstr>
      <vt:lpstr>Practical 12</vt:lpstr>
      <vt:lpstr>PowerPoint Presentation</vt:lpstr>
      <vt:lpstr>Problem Statement: </vt:lpstr>
      <vt:lpstr>Concept</vt:lpstr>
      <vt:lpstr>Algorithm/Logic</vt:lpstr>
      <vt:lpstr>Algorithm/Logic</vt:lpstr>
      <vt:lpstr>Visualization</vt:lpstr>
      <vt:lpstr>Code Implementation</vt:lpstr>
      <vt:lpstr>PowerPoint Presentation</vt:lpstr>
      <vt:lpstr>Output</vt:lpstr>
      <vt:lpstr>Time &amp; Space Complexity</vt:lpstr>
      <vt:lpstr>Summary</vt:lpstr>
      <vt:lpstr>Practice Questions:</vt:lpstr>
      <vt:lpstr>Practice Questions:</vt:lpstr>
      <vt:lpstr>Practice Questions: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Prakash K. P.</dc:creator>
  <cp:lastModifiedBy>Prakash K. P.</cp:lastModifiedBy>
  <cp:revision>4</cp:revision>
  <dcterms:created xsi:type="dcterms:W3CDTF">2025-10-28T09:21:00Z</dcterms:created>
  <dcterms:modified xsi:type="dcterms:W3CDTF">2025-10-31T16:34:50Z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FD667A4BB229453CA143629E5AFC180B_13</vt:lpwstr>
  </property>
  <property fmtid="{D5CDD505-2E9C-101B-9397-08002B2CF9AE}" pid="3" name="KSOProductBuildVer">
    <vt:lpwstr>1033-12.2.0.23155</vt:lpwstr>
  </property>
</Properties>
</file>