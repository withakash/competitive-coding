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9" r:id="rId2"/>
    <p:sldId id="258" r:id="rId3"/>
    <p:sldId id="257" r:id="rId4"/>
    <p:sldId id="260" r:id="rId5"/>
    <p:sldId id="261" r:id="rId6"/>
    <p:sldId id="281" r:id="rId7"/>
    <p:sldId id="262" r:id="rId8"/>
    <p:sldId id="282" r:id="rId9"/>
    <p:sldId id="284" r:id="rId10"/>
    <p:sldId id="283" r:id="rId11"/>
    <p:sldId id="285" r:id="rId12"/>
    <p:sldId id="287" r:id="rId13"/>
    <p:sldId id="274" r:id="rId14"/>
    <p:sldId id="267" r:id="rId15"/>
    <p:sldId id="277" r:id="rId16"/>
    <p:sldId id="270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391"/>
    <a:srgbClr val="235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CF355-572D-403B-A920-F753928E1584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1FCF-BD4F-4EE1-AE74-D817ABA21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210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EF7C-9A4D-88E2-C4CC-C39582306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AD664-159A-4DD6-933B-34FF44C61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061C8-DB36-80F8-49FD-4740859A4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1AB32-1842-334F-F9B1-E3ACD9DFB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70B78-EE29-9CE8-B923-351F6D58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64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09FB-F866-B864-CE15-0ED311C0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2372-0DE1-85A0-FEE3-D10FEB858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82CCF-7F29-DB12-A62F-8716481D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E48AF-008B-BAEB-1931-9475AEE37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ECE98-40D4-77D2-4D20-22CE258A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326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785CC-501D-7868-14B2-9E03058B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FDFFB-ADAD-1778-A89D-7CCB0CF88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C0220-365B-BA84-8E1E-1861FEBA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99F35-C3CC-5755-D418-351796B2F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7F2DD-CFBF-34A6-D4BB-61E3C2B0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95EF6-B198-A5D1-279B-4FCBC8EF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9412F-3104-C664-F481-A8D77EEC7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9965E-5C0B-02DB-7237-83148FB84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0E994B-DF7B-4643-5641-BBB9B132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E34EB-903D-872E-B4D9-5C5C6F89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8F85C-E3FF-EAE7-390A-0A114D60F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4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8937-13B6-E840-481C-E4BE9A33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CB719-DEA0-F595-54CF-6CDF6A2AD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65EE9-78F8-2BE5-FA84-A3F91DD99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30E4F-BC82-3014-AB63-B299F0028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5E42D-A645-C6F5-BAB7-D365632FA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89159D-5AF9-67ED-B063-2CA20F7BE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F52C7-F6CC-8492-9EE6-EC7DE4109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2A36F7-667D-F80A-1A39-3832B259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98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F300-92C8-B0AD-0E41-AC6E16DD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3C5C80-A6C1-8C63-878D-B68B0916A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5CAAD-2C01-4F9B-BB69-5A4A33A0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1C1E0-FBFA-A136-3478-A7ABE380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35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9CEB0-3FAE-4CAA-DB67-B2878765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CFD7F-BD5F-DEE0-330C-C6A302BE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76547-319F-884F-01E1-A8E5CA23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666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6630-3931-20E0-16B1-16AFB9E54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26464-64E2-06D5-238E-F4E4F1D21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04F8F-2406-C0D9-FE0C-EA76951AA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00067-E7D6-564C-D95D-945BD7D24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D7ECA-7702-259D-1165-9B6591E2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6E639-CADB-9226-037E-57FCDF90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79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F1E7-C4F9-DE92-600D-3A06F8D9E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D27332-527C-CDEB-5E3C-5191FFB044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2BCBB-0226-1CD1-C81D-90C98F4D0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2B915-8EE2-B94F-E7A5-026E5959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7E5A9-BD8E-B08B-71DC-494FF25DD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5D131-048C-A75A-CCA8-DFD386DE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33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C6D1-68B5-79F9-D1FB-89DD00AF2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FEF47-628B-21E6-C192-9A1ADBD94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11DA-AD34-022F-EAEF-1058B50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7F97D-B4CD-6E69-0786-4B37F7E7E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2247-F626-966C-9028-131DEA244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24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3C7B4-D871-D125-2855-66783341C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ADC94-8DFB-0D2C-5672-176050FF7A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D5E8E-091F-6512-F9F4-D688AF85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7BC39-7793-E5B8-7F4B-033C6C990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470A5-8874-1B25-BB76-ADD786BD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16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C89AB-27E6-CD37-E425-3A632A70A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D8411-6495-DE2A-7B3B-C978FEB1F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BA7FD-0373-8009-BAC6-A9B68C889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1787D-E165-4BDE-BA1E-DCBC9827DA08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8C219-0A60-87C9-05EF-17A1D87BA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3A1BB-065A-0AC1-9560-DDFBC7C708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1612A-145D-490C-8AC7-6D379EED99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74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next-greater-element-ii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leetcode.com/problems/next-greater-element-iii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DF42-3AAB-5ABA-6664-039D820DF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8467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dirty="0">
                <a:latin typeface="Cambria" panose="02040503050406030204" pitchFamily="18" charset="0"/>
                <a:ea typeface="Cambria" panose="02040503050406030204" pitchFamily="18" charset="0"/>
              </a:rPr>
              <a:t>Practical 3</a:t>
            </a:r>
            <a:endParaRPr lang="en-IN" sz="7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6CF19-098F-1A24-E2AA-764F50764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8386"/>
            <a:ext cx="9144000" cy="1655762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Finding Next Greater Element (NGE)</a:t>
            </a:r>
          </a:p>
          <a:p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1EB037CC-2254-F3F2-3E31-37AF8D72886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26483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E5B0-6D5B-AA51-D14A-1F693035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6630BDC-437F-2F05-F866-95DD52B258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547025"/>
              </p:ext>
            </p:extLst>
          </p:nvPr>
        </p:nvGraphicFramePr>
        <p:xfrm>
          <a:off x="3309539" y="1265839"/>
          <a:ext cx="5342848" cy="441960"/>
        </p:xfrm>
        <a:graphic>
          <a:graphicData uri="http://schemas.openxmlformats.org/drawingml/2006/table">
            <a:tbl>
              <a:tblPr/>
              <a:tblGrid>
                <a:gridCol w="5342848">
                  <a:extLst>
                    <a:ext uri="{9D8B030D-6E8A-4147-A177-3AD203B41FA5}">
                      <a16:colId xmlns:a16="http://schemas.microsoft.com/office/drawing/2014/main" val="2198981689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Plan</a:t>
                      </a:r>
                      <a:endParaRPr lang="en-IN" sz="24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059474"/>
                  </a:ext>
                </a:extLst>
              </a:tr>
            </a:tbl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:a16="http://schemas.microsoft.com/office/drawing/2014/main" id="{B3E43877-1080-6E4B-6AE0-E2492EFDFEB1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1593851C-D4FF-08B5-09C5-7485B1DE2FD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C201C7-4C87-CD1D-B3D7-4E286AF414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93623"/>
              </p:ext>
            </p:extLst>
          </p:nvPr>
        </p:nvGraphicFramePr>
        <p:xfrm>
          <a:off x="1461074" y="2520133"/>
          <a:ext cx="9059442" cy="70104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332542170"/>
                    </a:ext>
                  </a:extLst>
                </a:gridCol>
                <a:gridCol w="6194322">
                  <a:extLst>
                    <a:ext uri="{9D8B030D-6E8A-4147-A177-3AD203B41FA5}">
                      <a16:colId xmlns:a16="http://schemas.microsoft.com/office/drawing/2014/main" val="4288960800"/>
                    </a:ext>
                  </a:extLst>
                </a:gridCol>
              </a:tblGrid>
              <a:tr h="33581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Subject/Course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70C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Competitive Coding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99635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Title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Finding Next Greater Element (NGE)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822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94AD06-F5C6-E858-BB39-C46F901F6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695937"/>
              </p:ext>
            </p:extLst>
          </p:nvPr>
        </p:nvGraphicFramePr>
        <p:xfrm>
          <a:off x="1471065" y="3378982"/>
          <a:ext cx="9039460" cy="2849880"/>
        </p:xfrm>
        <a:graphic>
          <a:graphicData uri="http://schemas.openxmlformats.org/drawingml/2006/table">
            <a:tbl>
              <a:tblPr/>
              <a:tblGrid>
                <a:gridCol w="9039460">
                  <a:extLst>
                    <a:ext uri="{9D8B030D-6E8A-4147-A177-3AD203B41FA5}">
                      <a16:colId xmlns:a16="http://schemas.microsoft.com/office/drawing/2014/main" val="2870477182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Lesson Objectives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063145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 understand the definition and importance of the Next Greater Element problem in programming and algorithm design.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342010"/>
                  </a:ext>
                </a:extLst>
              </a:tr>
              <a:tr h="496649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 implement both brute force and efficient stack-based  code to solve for the Next Greater Element in a given array.</a:t>
                      </a: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79789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 analyse and compare the time and space complexity of brute force and stack-based approaches.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32461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 identify suitable scenarios in computer science or real-life where NGE solutions are applicable and efficient.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0" marR="76200" marT="38100" marB="38100" anchor="ctr">
                    <a:lnL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7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145128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09664DAA-772B-E4EF-0181-CDE1F5DB4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546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5516-FB3F-631C-A9D1-2F54F912B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 Bold"/>
                <a:sym typeface="Cambria Bold"/>
              </a:rPr>
              <a:t>Problem Statement: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61C21-8B3F-3FCC-C6DF-5B758D0E3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Write a program for finding NGE NEXT GREATER ELEMENT from an array. </a:t>
            </a:r>
          </a:p>
          <a:p>
            <a:pPr marL="0" indent="0" algn="just">
              <a:buNone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9FDD4DAE-07CF-B93D-23EE-35585D2FA41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E84C1E60-1DB4-D19B-1A72-44495D4AF39F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31973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1CBB-E23A-2BEC-F54D-26A7CE847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3C17-EF57-1327-531A-B31C43893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Introduction to the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8BA18-316C-FA4D-932C-1955346FD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The Next Greater Element (NGE) problem is a classic array and stack problem in computer science.</a:t>
                </a:r>
              </a:p>
              <a:p>
                <a:pPr algn="just"/>
                <a:r>
                  <a:rPr lang="en-IN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The Next Greater Element (NGE) for an element in an array is the first element to its right that is strictly greater than itself. </a:t>
                </a:r>
              </a:p>
              <a:p>
                <a:pPr algn="just"/>
                <a:r>
                  <a:rPr lang="en-IN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If no such element exists, its NGE is </a:t>
                </a:r>
                <a14:m>
                  <m:oMath xmlns:m="http://schemas.openxmlformats.org/officeDocument/2006/math">
                    <m:r>
                      <a:rPr lang="en-IN" sz="240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IN" sz="24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algn="just"/>
                <a:endParaRPr lang="en-IN" sz="2400" dirty="0">
                  <a:latin typeface="Cambria" panose="02040503050406030204" pitchFamily="18" charset="0"/>
                  <a:ea typeface="Cambria" panose="02040503050406030204" pitchFamily="18" charset="0"/>
                  <a:cs typeface="Calibri" panose="020F0502020204030204" pitchFamily="34" charset="0"/>
                </a:endParaRPr>
              </a:p>
              <a:p>
                <a:pPr algn="just">
                  <a:buFont typeface="Wingdings" panose="05000000000000000000" pitchFamily="2" charset="2"/>
                  <a:buChar char="v"/>
                </a:pPr>
                <a:r>
                  <a:rPr lang="en-IN" sz="2400" dirty="0">
                    <a:solidFill>
                      <a:schemeClr val="accent5">
                        <a:lumMod val="75000"/>
                      </a:schemeClr>
                    </a:solidFill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 Example:</a:t>
                </a:r>
              </a:p>
              <a:p>
                <a:pPr marL="0" indent="0" algn="just">
                  <a:buNone/>
                </a:pPr>
                <a:r>
                  <a:rPr lang="en-IN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     Input: [4, 5, 2, 25]</a:t>
                </a:r>
              </a:p>
              <a:p>
                <a:pPr marL="0" indent="0" algn="just">
                  <a:buNone/>
                </a:pPr>
                <a:r>
                  <a:rPr lang="en-IN" sz="2400" dirty="0">
                    <a:latin typeface="Cambria" panose="02040503050406030204" pitchFamily="18" charset="0"/>
                    <a:ea typeface="Cambria" panose="02040503050406030204" pitchFamily="18" charset="0"/>
                    <a:cs typeface="Calibri" panose="020F0502020204030204" pitchFamily="34" charset="0"/>
                  </a:rPr>
                  <a:t>     Output: [5, 25, 25, -1]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88BA18-316C-FA4D-932C-1955346FD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486275"/>
              </a:xfrm>
              <a:blipFill>
                <a:blip r:embed="rId2"/>
                <a:stretch>
                  <a:fillRect l="-812" t="-1902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25">
            <a:extLst>
              <a:ext uri="{FF2B5EF4-FFF2-40B4-BE49-F238E27FC236}">
                <a16:creationId xmlns:a16="http://schemas.microsoft.com/office/drawing/2014/main" id="{0231122B-7886-9834-4897-B3DA540B74F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04504AB9-0C30-167A-A60C-7DFAB5296614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68439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ED1EC-6695-3D52-17CD-60F1CAB8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2FF2-6FD6-747B-B02A-A950CEDC7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Concept and Background</a:t>
            </a:r>
            <a:endParaRPr lang="en-IN" sz="40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F0F38-2FA4-DA47-3CAE-BA5233399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The Next Greater Element problem is important in data structure learning.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It is used in stock span problems, temperature predictions, and interval analysis.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There are mainly two ways to solve this problem: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Naive approach or brute force method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• Stack-based approach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6CA385B6-C2A8-DB08-BCF2-71686C41A94C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F7F04C97-35E2-E246-0C3E-7C8A0DA9235A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985966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46A72-E80A-7CAB-A636-9684D6179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CE1C9-F30B-C6CD-327B-213A84B6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Algorithm/Logic</a:t>
            </a:r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F9165-EA19-F7BF-3BC6-7D5395E10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661986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Step 1: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Initialize an empty stack. Use it to keep track of potential "next greater" candidates.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Step 2: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Traverse the array from right to left.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Step 3: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While stack is not empty and top ≤ current element, pop the stack.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Step 4: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If stack is empty, NGE = -1; else NGE = top of stack.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Step 5: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Push the current element into the stack.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Step 6: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Continue until all elements are processed.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F0664A73-C9FF-8178-D21A-B9A48692679D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C0D78CE9-0753-A4C2-16B6-DF46E141A09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191329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757F5-E06B-0D76-7A4F-C848E18A2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63DB27F0-C905-D415-A161-040C9733845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D2052580-A359-3FA7-0DED-63B209651E19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65A4450D-91D5-946F-5F3D-5E4C2FC71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FA7CEA-EF0D-72C5-B488-BA52CF79FF5E}"/>
              </a:ext>
            </a:extLst>
          </p:cNvPr>
          <p:cNvSpPr txBox="1"/>
          <p:nvPr/>
        </p:nvSpPr>
        <p:spPr>
          <a:xfrm>
            <a:off x="838200" y="1436871"/>
            <a:ext cx="816543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Example:</a:t>
            </a:r>
            <a:b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Let’s try to find NGE for all the elements present in the given array :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arr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= [6][8][0][1][3]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Step-by-Step Stack Approach</a:t>
            </a:r>
            <a:b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We process array elements from right to left and maintain a stack where the potential next greater elements are stored.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Initialization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 Stack: []</a:t>
            </a:r>
          </a:p>
          <a:p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    Result: [_, _, _, _, _]</a:t>
            </a:r>
          </a:p>
        </p:txBody>
      </p:sp>
    </p:spTree>
    <p:extLst>
      <p:ext uri="{BB962C8B-B14F-4D97-AF65-F5344CB8AC3E}">
        <p14:creationId xmlns:p14="http://schemas.microsoft.com/office/powerpoint/2010/main" val="909277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752BC-8E9F-1AA5-9762-AF17531F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5892CA57-85F9-9353-A7BE-46C248F4C86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C7CD7245-D151-8889-B0D2-143BCB0AF44B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6AC2000F-0F19-F15A-A684-379DBDD9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FB25B8-BE33-997C-2478-1D9660056460}"/>
              </a:ext>
            </a:extLst>
          </p:cNvPr>
          <p:cNvSpPr txBox="1"/>
          <p:nvPr/>
        </p:nvSpPr>
        <p:spPr>
          <a:xfrm>
            <a:off x="838200" y="1690688"/>
            <a:ext cx="39583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1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(A) </a:t>
            </a:r>
            <a:r>
              <a:rPr lang="en-IN" sz="24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= 4, value = 3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 is empty. So, NGE for 3 is -1.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Push 3 to stack.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Result: [_, _, _, _, -1]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Stack: [3]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6248E-1C91-C2D0-AA7D-04CC686E6035}"/>
              </a:ext>
            </a:extLst>
          </p:cNvPr>
          <p:cNvSpPr txBox="1"/>
          <p:nvPr/>
        </p:nvSpPr>
        <p:spPr>
          <a:xfrm>
            <a:off x="7025640" y="1690688"/>
            <a:ext cx="43281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sz="2400" b="1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(B) </a:t>
            </a:r>
            <a:r>
              <a:rPr lang="en-IN" sz="24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= 3, value = 1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Stack's top (3) &gt; 1, so NGE for 1 is 3.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Push 1 to stack.</a:t>
            </a:r>
          </a:p>
          <a:p>
            <a:pPr marL="914400" lvl="1" indent="-457200" algn="l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Result: [_, _, _, 3, -1]</a:t>
            </a:r>
          </a:p>
          <a:p>
            <a:pPr marL="914400" indent="-457200">
              <a:buFont typeface="+mj-lt"/>
              <a:buAutoNum type="arabicPeriod"/>
            </a:pPr>
            <a:r>
              <a:rPr lang="en-IN" sz="2400" b="0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Stack: [3][1]</a:t>
            </a:r>
          </a:p>
        </p:txBody>
      </p:sp>
    </p:spTree>
    <p:extLst>
      <p:ext uri="{BB962C8B-B14F-4D97-AF65-F5344CB8AC3E}">
        <p14:creationId xmlns:p14="http://schemas.microsoft.com/office/powerpoint/2010/main" val="2466712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C208-841A-591E-477B-2EC22C750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593BB4C6-3065-ECFD-96F2-DC8AB3A9F543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9D87FBEE-9B75-532E-A484-2B35AE5475DC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248B7152-74B6-DF9C-E736-B9A9FF1C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4A716A-E44A-2055-B097-A4D8CFC7AFFE}"/>
              </a:ext>
            </a:extLst>
          </p:cNvPr>
          <p:cNvSpPr txBox="1"/>
          <p:nvPr/>
        </p:nvSpPr>
        <p:spPr>
          <a:xfrm>
            <a:off x="838200" y="1705139"/>
            <a:ext cx="39583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(C) 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= 2, value = 0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Stack's top (1) &gt; 0, so NGE for 0 is 1.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Push 0 to stack.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Result: [_, _, 1, 3, -1]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Stack: [3][1][0]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42C324-71EC-6245-D96D-31CB00DD1B28}"/>
              </a:ext>
            </a:extLst>
          </p:cNvPr>
          <p:cNvSpPr txBox="1"/>
          <p:nvPr/>
        </p:nvSpPr>
        <p:spPr>
          <a:xfrm>
            <a:off x="7025640" y="1570535"/>
            <a:ext cx="43281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(D) 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= 1, value = 8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Stack's top (0) ≤ 8; pop 0.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Next top (1) ≤ 8; pop 1.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Next top (3) ≤ 8; pop 3.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Now, stack is empty: NGE for 8 is -1.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Push 8.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Result: [_, -1, 1, 3, -1]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Stack: [8]</a:t>
            </a:r>
          </a:p>
        </p:txBody>
      </p:sp>
    </p:spTree>
    <p:extLst>
      <p:ext uri="{BB962C8B-B14F-4D97-AF65-F5344CB8AC3E}">
        <p14:creationId xmlns:p14="http://schemas.microsoft.com/office/powerpoint/2010/main" val="2176641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6E426-31BA-A91F-5E66-1A3567451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840A9FBF-3845-CDA2-E495-35B779008C04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A7325D6E-5C45-E5E9-3D02-E4651519FB5D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249F4B49-C47B-6BB4-6CDE-96647922E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Visualization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9030F0-D4D9-5BE0-5935-93E5808E3D6E}"/>
              </a:ext>
            </a:extLst>
          </p:cNvPr>
          <p:cNvSpPr txBox="1"/>
          <p:nvPr/>
        </p:nvSpPr>
        <p:spPr>
          <a:xfrm>
            <a:off x="838199" y="1690688"/>
            <a:ext cx="660481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i="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(E) 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= 0, value = 6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Stack's top (8) &gt; 6, so NGE for 6 is 8.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Push 6.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Result: [8, -1, 1, 3, -1]</a:t>
            </a:r>
          </a:p>
          <a:p>
            <a:pPr marL="457200" lvl="1" indent="-457200">
              <a:buFont typeface="+mj-lt"/>
              <a:buAutoNum type="arabicPeriod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Stack: [8][6]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E08E1-92B2-B9DE-94FA-539EA480DEA0}"/>
              </a:ext>
            </a:extLst>
          </p:cNvPr>
          <p:cNvSpPr txBox="1"/>
          <p:nvPr/>
        </p:nvSpPr>
        <p:spPr>
          <a:xfrm>
            <a:off x="838200" y="4637957"/>
            <a:ext cx="43281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Final Answer: </a:t>
            </a:r>
            <a:r>
              <a:rPr lang="en-IN" sz="2400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[8, -1, 1, 3, -1]</a:t>
            </a:r>
            <a:endParaRPr lang="en-IN" sz="4000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404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21735-1AD5-2C28-DED1-D8DC45299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780DF-60A4-EF8F-1C69-94030552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A567B986-C6C8-ACE1-57D3-D8314CE40437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F777C7D6-37AC-F1CE-6E64-4920928673E8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DC27B0F-45A3-4B00-C3A7-05DE3FA11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89" y="1544777"/>
            <a:ext cx="9549848" cy="479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85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0963-4614-F9FC-A3C5-0B2221E7D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6D49-E422-BD39-36A4-0D62A13A5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Code Implementation</a:t>
            </a:r>
            <a:endParaRPr lang="en-IN" sz="4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934B5DB0-F252-2B01-1EC1-20997C7093B7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4DC75EF0-5AE8-5ED4-81E5-B1F1CF22B93B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AADC416-228E-02A9-A5C6-905EF0C3D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520" y="2207355"/>
            <a:ext cx="903096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132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/>
          <a:p>
            <a:pPr algn="l">
              <a:lnSpc>
                <a:spcPct val="90000"/>
              </a:lnSpc>
              <a:buSzPts val="4000"/>
            </a:pPr>
            <a:r>
              <a:rPr lang="en-IN" sz="4000" b="1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sz="4000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9991483" y="4"/>
            <a:ext cx="2145711" cy="995946"/>
          </a:xfrm>
          <a:custGeom>
            <a:avLst/>
            <a:gdLst/>
            <a:ahLst/>
            <a:cxnLst/>
            <a:rect l="l" t="t" r="r" b="b"/>
            <a:pathLst>
              <a:path w="4085336" h="1896237" extrusionOk="0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/>
            </a:stretch>
          </a:blipFill>
          <a:ln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95AF01-F001-E012-4271-64090A2F6879}"/>
              </a:ext>
            </a:extLst>
          </p:cNvPr>
          <p:cNvSpPr/>
          <p:nvPr/>
        </p:nvSpPr>
        <p:spPr>
          <a:xfrm>
            <a:off x="1720646" y="2005782"/>
            <a:ext cx="8111613" cy="315615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791DF5-972B-1D27-EE5A-022B406632E1}"/>
              </a:ext>
            </a:extLst>
          </p:cNvPr>
          <p:cNvSpPr txBox="1"/>
          <p:nvPr/>
        </p:nvSpPr>
        <p:spPr>
          <a:xfrm>
            <a:off x="1848466" y="2202427"/>
            <a:ext cx="7747819" cy="2793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Next Greater Elements: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 → 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 → 25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 → 25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25 → -1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80AAD-7D52-28B3-9987-C87A48C0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C46F-6A00-51C1-03B6-49572A16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Time &amp; Space Complexity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8E5BE82E-2F29-9429-C647-CB30979A4AE0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67BD99B5-A27B-06DE-27E6-255235594140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37E56A47-7846-7FD2-74B4-E25F78B3DCD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93353270"/>
                  </p:ext>
                </p:extLst>
              </p:nvPr>
            </p:nvGraphicFramePr>
            <p:xfrm>
              <a:off x="838200" y="1825625"/>
              <a:ext cx="10070432" cy="4109953"/>
            </p:xfrm>
            <a:graphic>
              <a:graphicData uri="http://schemas.openxmlformats.org/drawingml/2006/table">
                <a:tbl>
                  <a:tblPr/>
                  <a:tblGrid>
                    <a:gridCol w="1700414">
                      <a:extLst>
                        <a:ext uri="{9D8B030D-6E8A-4147-A177-3AD203B41FA5}">
                          <a16:colId xmlns:a16="http://schemas.microsoft.com/office/drawing/2014/main" val="3839207687"/>
                        </a:ext>
                      </a:extLst>
                    </a:gridCol>
                    <a:gridCol w="2015430">
                      <a:extLst>
                        <a:ext uri="{9D8B030D-6E8A-4147-A177-3AD203B41FA5}">
                          <a16:colId xmlns:a16="http://schemas.microsoft.com/office/drawing/2014/main" val="3758097184"/>
                        </a:ext>
                      </a:extLst>
                    </a:gridCol>
                    <a:gridCol w="2054564">
                      <a:extLst>
                        <a:ext uri="{9D8B030D-6E8A-4147-A177-3AD203B41FA5}">
                          <a16:colId xmlns:a16="http://schemas.microsoft.com/office/drawing/2014/main" val="577882420"/>
                        </a:ext>
                      </a:extLst>
                    </a:gridCol>
                    <a:gridCol w="1984224">
                      <a:extLst>
                        <a:ext uri="{9D8B030D-6E8A-4147-A177-3AD203B41FA5}">
                          <a16:colId xmlns:a16="http://schemas.microsoft.com/office/drawing/2014/main" val="2428038425"/>
                        </a:ext>
                      </a:extLst>
                    </a:gridCol>
                    <a:gridCol w="2315800">
                      <a:extLst>
                        <a:ext uri="{9D8B030D-6E8A-4147-A177-3AD203B41FA5}">
                          <a16:colId xmlns:a16="http://schemas.microsoft.com/office/drawing/2014/main" val="2826146840"/>
                        </a:ext>
                      </a:extLst>
                    </a:gridCol>
                  </a:tblGrid>
                  <a:tr h="151600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Method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Approach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Time Complexity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Space Complexity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Example Output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230221"/>
                      </a:ext>
                    </a:extLst>
                  </a:tr>
                  <a:tr h="151600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Brute Force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Nested Loops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0" i="1" u="none" strike="noStrike" cap="none" dirty="0">
                              <a:solidFill>
                                <a:schemeClr val="tx1"/>
                              </a:solidFill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  <a:sym typeface="Arial"/>
                            </a:rPr>
                            <a:t>O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ar-AE" sz="24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pt-BR" sz="24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pt-BR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O(n)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[8, -1, 1, 3, -1]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1009224"/>
                      </a:ext>
                    </a:extLst>
                  </a:tr>
                  <a:tr h="10779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Stack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Monotonic Stack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pt-BR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O(n)</a:t>
                          </a:r>
                        </a:p>
                        <a:p>
                          <a:pPr algn="l">
                            <a:buNone/>
                          </a:pPr>
                          <a:endParaRPr lang="pt-BR" sz="24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pt-BR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O(n)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[8, -1, 1, 3, -1]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52174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37E56A47-7846-7FD2-74B4-E25F78B3DCD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93353270"/>
                  </p:ext>
                </p:extLst>
              </p:nvPr>
            </p:nvGraphicFramePr>
            <p:xfrm>
              <a:off x="838200" y="1825625"/>
              <a:ext cx="10070432" cy="4109953"/>
            </p:xfrm>
            <a:graphic>
              <a:graphicData uri="http://schemas.openxmlformats.org/drawingml/2006/table">
                <a:tbl>
                  <a:tblPr/>
                  <a:tblGrid>
                    <a:gridCol w="1700414">
                      <a:extLst>
                        <a:ext uri="{9D8B030D-6E8A-4147-A177-3AD203B41FA5}">
                          <a16:colId xmlns:a16="http://schemas.microsoft.com/office/drawing/2014/main" val="3839207687"/>
                        </a:ext>
                      </a:extLst>
                    </a:gridCol>
                    <a:gridCol w="2015430">
                      <a:extLst>
                        <a:ext uri="{9D8B030D-6E8A-4147-A177-3AD203B41FA5}">
                          <a16:colId xmlns:a16="http://schemas.microsoft.com/office/drawing/2014/main" val="3758097184"/>
                        </a:ext>
                      </a:extLst>
                    </a:gridCol>
                    <a:gridCol w="2054564">
                      <a:extLst>
                        <a:ext uri="{9D8B030D-6E8A-4147-A177-3AD203B41FA5}">
                          <a16:colId xmlns:a16="http://schemas.microsoft.com/office/drawing/2014/main" val="577882420"/>
                        </a:ext>
                      </a:extLst>
                    </a:gridCol>
                    <a:gridCol w="1984224">
                      <a:extLst>
                        <a:ext uri="{9D8B030D-6E8A-4147-A177-3AD203B41FA5}">
                          <a16:colId xmlns:a16="http://schemas.microsoft.com/office/drawing/2014/main" val="2428038425"/>
                        </a:ext>
                      </a:extLst>
                    </a:gridCol>
                    <a:gridCol w="2315800">
                      <a:extLst>
                        <a:ext uri="{9D8B030D-6E8A-4147-A177-3AD203B41FA5}">
                          <a16:colId xmlns:a16="http://schemas.microsoft.com/office/drawing/2014/main" val="2826146840"/>
                        </a:ext>
                      </a:extLst>
                    </a:gridCol>
                  </a:tblGrid>
                  <a:tr h="151600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Method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Approach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Time Complexity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Space Complexity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b="1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Example Output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2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4230221"/>
                      </a:ext>
                    </a:extLst>
                  </a:tr>
                  <a:tr h="151600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Brute Force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Nested Loops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81306" t="-100402" r="-209792" b="-718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pt-BR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O(n)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[8, -1, 1, 3, -1]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51009224"/>
                      </a:ext>
                    </a:extLst>
                  </a:tr>
                  <a:tr h="10779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Stack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Monotonic Stack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pt-BR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O(n)</a:t>
                          </a:r>
                        </a:p>
                        <a:p>
                          <a:pPr algn="l">
                            <a:buNone/>
                          </a:pPr>
                          <a:endParaRPr lang="pt-BR" sz="2400" dirty="0">
                            <a:effectLst/>
                            <a:latin typeface="Cambria" panose="02040503050406030204" pitchFamily="18" charset="0"/>
                            <a:ea typeface="Cambria" panose="02040503050406030204" pitchFamily="18" charset="0"/>
                            <a:cs typeface="Calibri" panose="020F0502020204030204" pitchFamily="34" charset="0"/>
                          </a:endParaRP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pt-BR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O(n)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2400" dirty="0">
                              <a:effectLst/>
                              <a:latin typeface="Cambria" panose="02040503050406030204" pitchFamily="18" charset="0"/>
                              <a:ea typeface="Cambria" panose="02040503050406030204" pitchFamily="18" charset="0"/>
                              <a:cs typeface="Calibri" panose="020F0502020204030204" pitchFamily="34" charset="0"/>
                            </a:rPr>
                            <a:t>[8, -1, 1, 3, -1]</a:t>
                          </a:r>
                        </a:p>
                      </a:txBody>
                      <a:tcPr marL="60960" marR="60960" marT="60960" marB="60960" anchor="ctr">
                        <a:lnL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7620" cap="flat" cmpd="sng" algn="ctr">
                          <a:solidFill>
                            <a:srgbClr val="DDDDDD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5521742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1634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7EBDF-253F-78C8-D890-3CFBDEE6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C22A-C2A2-B9F0-246E-A803474B6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FBDB-B41D-B3AE-59C3-01392EC45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Implemented a program to find the Next Greater Element for each element in an array.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Used a stack to efficiently track elements and determine the next greater value on the right side.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Improved efficiency from the brute-force O(n²) approach to an optimized O(n) solution.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Demonstrated the use of stack operations in solving array-based problems where relative ordering matters.</a:t>
            </a:r>
          </a:p>
          <a:p>
            <a:pPr algn="just"/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Reinforced understanding of LIFO behaviour and real-time element comparison in algorithmic problems.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16B28764-8938-10CE-9C36-04CD2296B6A2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38D7B45D-6BD4-B2C5-936E-61EA0AD229AD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379105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52432-6567-F6B8-58C5-D8227FFFD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505A7-E21D-9F7F-BB89-B8827944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D82DD-AA93-1185-60B7-4D79F669B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1.Next Greater Element II (Problem 503):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https://leetcode.com/problems/next-greater-element-ii/</a:t>
            </a:r>
            <a:endParaRPr lang="en-IN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Concept: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The "Next Greater Element II" problem extends the concept of finding the next greater element in a linear array to a circular array.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sz="2400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Same as our class example — perfect for reinforcement.</a:t>
            </a:r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4D1A9CE8-F7D1-6FDC-CCFE-04EDCAC4835B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E2920209-269F-7DB9-0ED2-0218F5B605F2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143794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EE52-C2E8-68F8-9017-0B5AA27D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521D-378E-D113-212D-D4461F1F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Practice Questions: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F38C4-85FA-6FC3-DF2F-EFA9FD1B9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2.Next Greater Element III (Problem 556):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/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🔗 </a:t>
            </a:r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https://leetcode.com/problems/next-greater-element-iii/</a:t>
            </a:r>
            <a:endParaRPr lang="en-IN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dirty="0">
              <a:solidFill>
                <a:schemeClr val="accent5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Concept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IN" sz="2600" dirty="0">
                <a:latin typeface="Cambria" panose="02040503050406030204" pitchFamily="18" charset="0"/>
                <a:ea typeface="Cambria" panose="02040503050406030204" pitchFamily="18" charset="0"/>
              </a:rPr>
              <a:t>The "Next Greater Element III" problem asks for the smallest integer greater than a given integer n that uses exactly the same digits as n, while fitting within a 32-bit integer; if no such number exists, return -1.</a:t>
            </a:r>
          </a:p>
          <a:p>
            <a:pPr marL="0" indent="0" algn="just">
              <a:buNone/>
            </a:pP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19639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Why Practice: </a:t>
            </a: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Strengthens your understanding of NGE problems logic.</a:t>
            </a:r>
          </a:p>
        </p:txBody>
      </p:sp>
      <p:grpSp>
        <p:nvGrpSpPr>
          <p:cNvPr id="4" name="Group 25">
            <a:extLst>
              <a:ext uri="{FF2B5EF4-FFF2-40B4-BE49-F238E27FC236}">
                <a16:creationId xmlns:a16="http://schemas.microsoft.com/office/drawing/2014/main" id="{8B12A9FF-BED6-6228-CD62-637B40F67AAE}"/>
              </a:ext>
            </a:extLst>
          </p:cNvPr>
          <p:cNvGrpSpPr>
            <a:grpSpLocks noChangeAspect="1"/>
          </p:cNvGrpSpPr>
          <p:nvPr/>
        </p:nvGrpSpPr>
        <p:grpSpPr>
          <a:xfrm>
            <a:off x="9991482" y="4"/>
            <a:ext cx="2145682" cy="995920"/>
            <a:chOff x="0" y="0"/>
            <a:chExt cx="4085280" cy="1896187"/>
          </a:xfrm>
        </p:grpSpPr>
        <p:sp>
          <p:nvSpPr>
            <p:cNvPr id="5" name="Freeform 26">
              <a:extLst>
                <a:ext uri="{FF2B5EF4-FFF2-40B4-BE49-F238E27FC236}">
                  <a16:creationId xmlns:a16="http://schemas.microsoft.com/office/drawing/2014/main" id="{AD6FC475-9F81-231D-7841-2C62B0B545F5}"/>
                </a:ext>
              </a:extLst>
            </p:cNvPr>
            <p:cNvSpPr/>
            <p:nvPr/>
          </p:nvSpPr>
          <p:spPr>
            <a:xfrm>
              <a:off x="0" y="0"/>
              <a:ext cx="4085336" cy="1896237"/>
            </a:xfrm>
            <a:custGeom>
              <a:avLst/>
              <a:gdLst/>
              <a:ahLst/>
              <a:cxnLst/>
              <a:rect l="l" t="t" r="r" b="b"/>
              <a:pathLst>
                <a:path w="4085336" h="1896237">
                  <a:moveTo>
                    <a:pt x="0" y="0"/>
                  </a:moveTo>
                  <a:lnTo>
                    <a:pt x="4085336" y="0"/>
                  </a:lnTo>
                  <a:lnTo>
                    <a:pt x="4085336" y="1896237"/>
                  </a:lnTo>
                  <a:lnTo>
                    <a:pt x="0" y="1896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1" b="2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3180447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8A94-A648-E376-259E-F66FA43D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5232-2903-D341-34C9-5C74DB9A1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6822"/>
            <a:ext cx="9144000" cy="2387600"/>
          </a:xfrm>
        </p:spPr>
        <p:txBody>
          <a:bodyPr>
            <a:normAutofit/>
          </a:bodyPr>
          <a:lstStyle/>
          <a:p>
            <a:r>
              <a:rPr lang="en-US" sz="7000" b="1" dirty="0">
                <a:latin typeface="Cambria" panose="02040503050406030204" pitchFamily="18" charset="0"/>
                <a:ea typeface="Cambria" panose="02040503050406030204" pitchFamily="18" charset="0"/>
              </a:rPr>
              <a:t>Thanks</a:t>
            </a:r>
            <a:endParaRPr lang="en-IN" sz="7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4100F48C-2E5C-EB14-4264-B3580D048FEB}"/>
              </a:ext>
            </a:extLst>
          </p:cNvPr>
          <p:cNvSpPr/>
          <p:nvPr/>
        </p:nvSpPr>
        <p:spPr>
          <a:xfrm>
            <a:off x="3070741" y="1514622"/>
            <a:ext cx="6050518" cy="1517789"/>
          </a:xfrm>
          <a:custGeom>
            <a:avLst/>
            <a:gdLst/>
            <a:ahLst/>
            <a:cxnLst/>
            <a:rect l="l" t="t" r="r" b="b"/>
            <a:pathLst>
              <a:path w="6050518" h="1517789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38" b="-5648"/>
            </a:stretch>
          </a:blipFill>
        </p:spPr>
      </p:sp>
    </p:spTree>
    <p:extLst>
      <p:ext uri="{BB962C8B-B14F-4D97-AF65-F5344CB8AC3E}">
        <p14:creationId xmlns:p14="http://schemas.microsoft.com/office/powerpoint/2010/main" val="1864681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1018</Words>
  <Application>Microsoft Office PowerPoint</Application>
  <PresentationFormat>Widescreen</PresentationFormat>
  <Paragraphs>121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Cambria</vt:lpstr>
      <vt:lpstr>Cambria Math</vt:lpstr>
      <vt:lpstr>Wingdings</vt:lpstr>
      <vt:lpstr>Office Theme</vt:lpstr>
      <vt:lpstr>Practical 3</vt:lpstr>
      <vt:lpstr>PowerPoint Presentation</vt:lpstr>
      <vt:lpstr>Problem Statement: </vt:lpstr>
      <vt:lpstr>Introduction to the Problem</vt:lpstr>
      <vt:lpstr>Concept and Background</vt:lpstr>
      <vt:lpstr>Algorithm/Logic </vt:lpstr>
      <vt:lpstr>Visualization</vt:lpstr>
      <vt:lpstr>Visualization</vt:lpstr>
      <vt:lpstr>Visualization</vt:lpstr>
      <vt:lpstr>Visualization</vt:lpstr>
      <vt:lpstr>Code Implementation</vt:lpstr>
      <vt:lpstr>Code Implementation</vt:lpstr>
      <vt:lpstr>Output :</vt:lpstr>
      <vt:lpstr>Time &amp; Space Complexity</vt:lpstr>
      <vt:lpstr>Summary</vt:lpstr>
      <vt:lpstr>Practice Questions:</vt:lpstr>
      <vt:lpstr>Practice Questions: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 K. P.</dc:creator>
  <cp:lastModifiedBy>Prakash K. P.</cp:lastModifiedBy>
  <cp:revision>10</cp:revision>
  <dcterms:created xsi:type="dcterms:W3CDTF">2025-10-28T09:21:51Z</dcterms:created>
  <dcterms:modified xsi:type="dcterms:W3CDTF">2025-11-02T09:16:44Z</dcterms:modified>
</cp:coreProperties>
</file>