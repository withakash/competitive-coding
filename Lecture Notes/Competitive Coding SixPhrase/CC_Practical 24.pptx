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406400" indent="-355600" algn="ctr">
              <a:buClrTx/>
              <a:buSzTx/>
              <a:buFontTx/>
              <a:buNone/>
              <a:defRPr sz="2400"/>
            </a:lvl1pPr>
            <a:lvl2pPr marL="406400" indent="127000" algn="ctr">
              <a:buClrTx/>
              <a:buSzTx/>
              <a:buFontTx/>
              <a:buNone/>
              <a:defRPr sz="2400"/>
            </a:lvl2pPr>
            <a:lvl3pPr marL="406400" indent="609600" algn="ctr">
              <a:buClrTx/>
              <a:buSzTx/>
              <a:buFontTx/>
              <a:buNone/>
              <a:defRPr sz="2400"/>
            </a:lvl3pPr>
            <a:lvl4pPr marL="406400" indent="1079500" algn="ctr">
              <a:buClrTx/>
              <a:buSzTx/>
              <a:buFontTx/>
              <a:buNone/>
              <a:defRPr sz="2400"/>
            </a:lvl4pPr>
            <a:lvl5pPr marL="406400" indent="1536700" algn="ctr"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Google Shape;32;p23"/>
          <p:cNvSpPr txBox="1"/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 sz="2400"/>
            </a:lvl1pPr>
            <a:lvl2pPr marL="228600" indent="457200">
              <a:buClrTx/>
              <a:buSzTx/>
              <a:buFontTx/>
              <a:buNone/>
              <a:defRPr b="1" sz="2400"/>
            </a:lvl2pPr>
            <a:lvl3pPr marL="228600" indent="914400">
              <a:buClrTx/>
              <a:buSzTx/>
              <a:buFontTx/>
              <a:buNone/>
              <a:defRPr b="1" sz="2400"/>
            </a:lvl3pPr>
            <a:lvl4pPr marL="228600" indent="1371600">
              <a:buClrTx/>
              <a:buSzTx/>
              <a:buFontTx/>
              <a:buNone/>
              <a:defRPr b="1" sz="2400"/>
            </a:lvl4pPr>
            <a:lvl5pPr marL="228600" indent="1828800"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39;p24"/>
          <p:cNvSpPr txBox="1"/>
          <p:nvPr>
            <p:ph type="body" sz="half" idx="21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Google Shape;40;p24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 sz="2400"/>
            </a:pPr>
          </a:p>
        </p:txBody>
      </p:sp>
      <p:sp>
        <p:nvSpPr>
          <p:cNvPr id="52" name="Google Shape;41;p24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57;p27"/>
          <p:cNvSpPr txBox="1"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Google Shape;63;p28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84;p1"/>
          <p:cNvSpPr txBox="1"/>
          <p:nvPr>
            <p:ph type="ctrTitle"/>
          </p:nvPr>
        </p:nvSpPr>
        <p:spPr>
          <a:xfrm>
            <a:off x="1524000" y="1758467"/>
            <a:ext cx="9144000" cy="2387601"/>
          </a:xfrm>
          <a:prstGeom prst="rect">
            <a:avLst/>
          </a:prstGeom>
        </p:spPr>
        <p:txBody>
          <a:bodyPr/>
          <a:lstStyle>
            <a:lvl1pPr>
              <a:defRPr sz="7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Practical 24</a:t>
            </a:r>
          </a:p>
        </p:txBody>
      </p:sp>
      <p:sp>
        <p:nvSpPr>
          <p:cNvPr id="116" name="Google Shape;85;p1"/>
          <p:cNvSpPr txBox="1"/>
          <p:nvPr>
            <p:ph type="subTitle" sz="quarter" idx="1"/>
          </p:nvPr>
        </p:nvSpPr>
        <p:spPr>
          <a:xfrm>
            <a:off x="1524000" y="4198386"/>
            <a:ext cx="9144000" cy="1655761"/>
          </a:xfrm>
          <a:prstGeom prst="rect">
            <a:avLst/>
          </a:prstGeom>
        </p:spPr>
        <p:txBody>
          <a:bodyPr/>
          <a:lstStyle>
            <a:lvl1pPr marL="0" indent="0">
              <a:defRPr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Write a Program to view a tree from left View.</a:t>
            </a:r>
          </a:p>
        </p:txBody>
      </p:sp>
      <p:sp>
        <p:nvSpPr>
          <p:cNvPr id="117" name="Google Shape;86;p1"/>
          <p:cNvSpPr/>
          <p:nvPr/>
        </p:nvSpPr>
        <p:spPr>
          <a:xfrm>
            <a:off x="3070740" y="1514621"/>
            <a:ext cx="6050520" cy="151778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91;p2"/>
          <p:cNvGraphicFramePr/>
          <p:nvPr/>
        </p:nvGraphicFramePr>
        <p:xfrm>
          <a:off x="3309539" y="1265839"/>
          <a:ext cx="5342850" cy="3581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92;p2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121" name="Google Shape;93;p2"/>
          <p:cNvGraphicFramePr/>
          <p:nvPr/>
        </p:nvGraphicFramePr>
        <p:xfrm>
          <a:off x="1461073" y="2746275"/>
          <a:ext cx="9059452" cy="3200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a Program to view a tree from left View.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" name="Google Shape;94;p2"/>
          <p:cNvGraphicFramePr/>
          <p:nvPr/>
        </p:nvGraphicFramePr>
        <p:xfrm>
          <a:off x="1471064" y="3595291"/>
          <a:ext cx="9039451" cy="125735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039450"/>
              </a:tblGrid>
              <a:tr h="20574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574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tree views, especially the Left View of a binary tree.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574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identify and display nodes visible from the left side of a tree.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mplement the Left View logic using Level-Order (BFS) and Depth-First (DFS) traversals.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the time and space complexity of both approaches for efficiency comparison.</a:t>
                      </a:r>
                    </a:p>
                  </a:txBody>
                  <a:tcPr marL="38100" marR="38100" marT="38100" marB="38100" anchor="ctr" anchorCtr="0" horzOverflow="overflow">
                    <a:lnL w="9775">
                      <a:solidFill>
                        <a:srgbClr val="000000"/>
                      </a:solidFill>
                    </a:lnL>
                    <a:lnR w="9775">
                      <a:solidFill>
                        <a:srgbClr val="000000"/>
                      </a:solidFill>
                    </a:lnR>
                    <a:lnT w="9775">
                      <a:solidFill>
                        <a:srgbClr val="000000"/>
                      </a:solidFill>
                    </a:lnT>
                    <a:lnB w="9775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Problem Statement: </a:t>
            </a:r>
          </a:p>
        </p:txBody>
      </p:sp>
      <p:sp>
        <p:nvSpPr>
          <p:cNvPr id="125" name="Google Shape;100;p3"/>
          <p:cNvSpPr txBox="1"/>
          <p:nvPr>
            <p:ph type="body" sz="half" idx="1"/>
          </p:nvPr>
        </p:nvSpPr>
        <p:spPr>
          <a:xfrm>
            <a:off x="838200" y="2183875"/>
            <a:ext cx="10515600" cy="1726201"/>
          </a:xfrm>
          <a:prstGeom prst="rect">
            <a:avLst/>
          </a:prstGeom>
        </p:spPr>
        <p:txBody>
          <a:bodyPr/>
          <a:lstStyle/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The Left View of a binary tree consists of nodes visible when the tree is viewed from the left side.</a:t>
            </a: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The task is to traverse the tree and print the first node at each level.</a:t>
            </a:r>
          </a:p>
        </p:txBody>
      </p:sp>
      <p:sp>
        <p:nvSpPr>
          <p:cNvPr id="126" name="Google Shape;101;p3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129" name="Google Shape;107;p4"/>
          <p:cNvSpPr txBox="1"/>
          <p:nvPr>
            <p:ph type="body" idx="1"/>
          </p:nvPr>
        </p:nvSpPr>
        <p:spPr>
          <a:xfrm>
            <a:off x="838200" y="1690688"/>
            <a:ext cx="10515600" cy="4486276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A Binary Tree can be viewed from different angles — left, right, top, bottom.</a:t>
            </a:r>
            <a:br/>
            <a:r>
              <a:t> The Left View includes only the leftmost nodes at each level.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br/>
            <a:r>
              <a:t> We can find it using:</a:t>
            </a:r>
          </a:p>
          <a:p>
            <a:pPr indent="-381000">
              <a:lnSpc>
                <a:spcPct val="115000"/>
              </a:lnSpc>
              <a:spcBef>
                <a:spcPts val="120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Level-Order Traversal (BFS) — using a queue.</a:t>
            </a:r>
            <a:br/>
          </a:p>
          <a:p>
            <a:pPr indent="-381000">
              <a:lnSpc>
                <a:spcPct val="115000"/>
              </a:lnSpc>
              <a:spcBef>
                <a:spcPts val="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Depth-First Search (DFS) — using recursion and level tracking.</a:t>
            </a:r>
            <a:br/>
          </a:p>
        </p:txBody>
      </p:sp>
      <p:sp>
        <p:nvSpPr>
          <p:cNvPr id="130" name="Google Shape;108;p4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Algorithm/Logic</a:t>
            </a:r>
          </a:p>
        </p:txBody>
      </p:sp>
      <p:sp>
        <p:nvSpPr>
          <p:cNvPr id="133" name="Google Shape;114;p5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Approach 1 — BFS (Level Order):</a:t>
            </a:r>
          </a:p>
          <a:p>
            <a:pPr indent="-381000">
              <a:lnSpc>
                <a:spcPct val="115000"/>
              </a:lnSpc>
              <a:spcBef>
                <a:spcPts val="120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Initialize a queue and push the root node.</a:t>
            </a:r>
          </a:p>
          <a:p>
            <a:pPr indent="-381000">
              <a:lnSpc>
                <a:spcPct val="115000"/>
              </a:lnSpc>
              <a:spcBef>
                <a:spcPts val="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For each level, process all nodes — print the first node of that level.</a:t>
            </a:r>
          </a:p>
          <a:p>
            <a:pPr indent="-381000">
              <a:lnSpc>
                <a:spcPct val="115000"/>
              </a:lnSpc>
              <a:spcBef>
                <a:spcPts val="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Enqueue left and right children of each node.</a:t>
            </a:r>
          </a:p>
          <a:p>
            <a:pPr marL="0" indent="45720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Approach 2 — DFS (Recursive):</a:t>
            </a:r>
          </a:p>
          <a:p>
            <a:pPr indent="-381000">
              <a:lnSpc>
                <a:spcPct val="115000"/>
              </a:lnSpc>
              <a:spcBef>
                <a:spcPts val="120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Start from the root with level = 1 and </a:t>
            </a:r>
            <a:r>
              <a:rPr>
                <a:solidFill>
                  <a:srgbClr val="188038"/>
                </a:solidFill>
              </a:rPr>
              <a:t>maxLevel = 0</a:t>
            </a:r>
            <a:r>
              <a:t>.</a:t>
            </a:r>
          </a:p>
          <a:p>
            <a:pPr indent="-381000">
              <a:lnSpc>
                <a:spcPct val="115000"/>
              </a:lnSpc>
              <a:spcBef>
                <a:spcPts val="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If current level &gt; maxLevel, print the node and update maxLevel.</a:t>
            </a:r>
          </a:p>
          <a:p>
            <a:pPr indent="-381000">
              <a:lnSpc>
                <a:spcPct val="115000"/>
              </a:lnSpc>
              <a:spcBef>
                <a:spcPts val="0"/>
              </a:spcBef>
              <a:buSzPts val="2400"/>
              <a:buFontTx/>
              <a:buAutoNum type="arabicPeriod" startAt="1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Recur left, then right.</a:t>
            </a:r>
          </a:p>
        </p:txBody>
      </p:sp>
      <p:sp>
        <p:nvSpPr>
          <p:cNvPr id="134" name="Google Shape;115;p5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20;p7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Google Shape;12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Visualization</a:t>
            </a:r>
          </a:p>
        </p:txBody>
      </p:sp>
      <p:pic>
        <p:nvPicPr>
          <p:cNvPr id="138" name="Google Shape;122;p7" descr="Google Shape;122;p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04687" y="1689547"/>
            <a:ext cx="3706501" cy="32735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Google Shape;123;p7" descr="Google Shape;123;p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980818" y="1689544"/>
            <a:ext cx="3706501" cy="3273552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Google Shape;124;p7"/>
          <p:cNvSpPr txBox="1"/>
          <p:nvPr/>
        </p:nvSpPr>
        <p:spPr>
          <a:xfrm>
            <a:off x="1095250" y="5199774"/>
            <a:ext cx="9652500" cy="1249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2400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Output: [1, 2, 4, 7]</a:t>
            </a:r>
          </a:p>
          <a:p>
            <a:pPr>
              <a:defRPr sz="2400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Explanation: From the left side of the tree, only the nodes 1, 2, 4 and 7 are visible.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2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Code Implementation</a:t>
            </a:r>
          </a:p>
        </p:txBody>
      </p:sp>
      <p:sp>
        <p:nvSpPr>
          <p:cNvPr id="143" name="Google Shape;130;p8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import java.util.*;…"/>
          <p:cNvSpPr txBox="1"/>
          <p:nvPr/>
        </p:nvSpPr>
        <p:spPr>
          <a:xfrm>
            <a:off x="1076564" y="1338933"/>
            <a:ext cx="8220757" cy="540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import java.util.*;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class Node {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int data;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Node left, right;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Node(int data) {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this.data = data;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left = right = null;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}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public class LeftViewBinaryTree {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// Function to print the Left View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public static void printLeftView(Node root) {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if (root == null)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    return;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37;p9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Queue&lt;Node&gt; queue = new LinkedList&lt;&gt;();…"/>
          <p:cNvSpPr txBox="1"/>
          <p:nvPr/>
        </p:nvSpPr>
        <p:spPr>
          <a:xfrm>
            <a:off x="815279" y="590605"/>
            <a:ext cx="8834999" cy="542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Queue&lt;Node&gt; queue = new LinkedList&lt;&gt;();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queue.add(root);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while (!queue.isEmpty()) {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int levelSize = queue.size();  // Number of nodes at current level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for (int i = 0; i &lt; levelSize; i++) {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    Node current = queue.poll();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    // Print the first node of each level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    if (i == 0)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        System.out.print(current.data + " ");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    if (current.left != null)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        queue.add(current.left);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    if (current.right != null)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        queue.add(current.right);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    }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    }</a:t>
            </a:r>
          </a:p>
          <a:p>
            <a:pPr>
              <a:defRPr sz="1800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37;p9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public static void main(String[] args) {…"/>
          <p:cNvSpPr txBox="1"/>
          <p:nvPr/>
        </p:nvSpPr>
        <p:spPr>
          <a:xfrm>
            <a:off x="849817" y="1189268"/>
            <a:ext cx="8834999" cy="428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public static void main(String[] args) {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// Constructing a sample binary tree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Node root = new Node(1);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root.left = new Node(2);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root.right = new Node(3);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root.left.left = new Node(4);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root.left.right = new Node(5);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root.right.left = new Node(6);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root.right.right = new Node(7);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root.left.left.left = new Node(8);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System.out.print("Left View of Binary Tree: ");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    printLeftView(root);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  <a:p>
            <a:pPr>
              <a:defRPr sz="1900">
                <a:latin typeface="Cambria"/>
                <a:ea typeface="Cambria"/>
                <a:cs typeface="Cambria"/>
                <a:sym typeface="Cambria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4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Time &amp; Space Complexity</a:t>
            </a:r>
          </a:p>
        </p:txBody>
      </p:sp>
      <p:sp>
        <p:nvSpPr>
          <p:cNvPr id="153" name="Google Shape;145;p13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154" name="Google Shape;146;p13"/>
          <p:cNvGraphicFramePr/>
          <p:nvPr/>
        </p:nvGraphicFramePr>
        <p:xfrm>
          <a:off x="1360250" y="2373575"/>
          <a:ext cx="9807200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79375"/>
                <a:gridCol w="3736075"/>
                <a:gridCol w="3891750"/>
              </a:tblGrid>
              <a:tr h="50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Approach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BFS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O(width of tree)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DFS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O(height of tree)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157" name="Google Shape;152;p14"/>
          <p:cNvSpPr txBox="1"/>
          <p:nvPr>
            <p:ph type="body" idx="1"/>
          </p:nvPr>
        </p:nvSpPr>
        <p:spPr>
          <a:xfrm>
            <a:off x="838200" y="1825624"/>
            <a:ext cx="10515600" cy="3599402"/>
          </a:xfrm>
          <a:prstGeom prst="rect">
            <a:avLst/>
          </a:prstGeom>
        </p:spPr>
        <p:txBody>
          <a:bodyPr/>
          <a:lstStyle/>
          <a:p>
            <a:pPr indent="-381000">
              <a:buSzPts val="2400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The Left View of a binary tree shows all nodes visible from the left side.</a:t>
            </a:r>
            <a:br/>
          </a:p>
          <a:p>
            <a:pPr indent="-381000">
              <a:buSzPts val="2400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Can be implemented using BFS (iterative) or DFS (recursive) traversal.</a:t>
            </a:r>
            <a:br/>
          </a:p>
          <a:p>
            <a:pPr indent="-381000">
              <a:buSzPts val="2400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Both have O(n) time complexity.</a:t>
            </a:r>
            <a:br/>
          </a:p>
          <a:p>
            <a:pPr indent="-381000">
              <a:buSzPts val="2400"/>
              <a:buFont typeface="Cambria"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Commonly used in visualization, tree analysis, and real-world rendering algorithms.</a:t>
            </a:r>
          </a:p>
        </p:txBody>
      </p:sp>
      <p:sp>
        <p:nvSpPr>
          <p:cNvPr id="158" name="Google Shape;153;p14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5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Practice Questions:</a:t>
            </a:r>
          </a:p>
        </p:txBody>
      </p:sp>
      <p:sp>
        <p:nvSpPr>
          <p:cNvPr id="161" name="Google Shape;159;p1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1️⃣ Left View of Binary Tree — LeetCode #199</a:t>
            </a:r>
            <a:br/>
            <a:r>
              <a:rPr u="sng">
                <a:solidFill>
                  <a:srgbClr val="0070C0"/>
                </a:solidFill>
              </a:rPr>
              <a:t> 🔗 https://leetcode.com/problems/binary-tree-right-side-view/</a:t>
            </a:r>
            <a:br>
              <a:rPr u="sng">
                <a:solidFill>
                  <a:srgbClr val="0070C0"/>
                </a:solidFill>
              </a:rPr>
            </a:br>
            <a:r>
              <a:t> (Use the same concept for Left View.)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Concept:</a:t>
            </a:r>
            <a:br/>
            <a:r>
              <a:t> Use BFS or DFS traversal to print the visible nodes from the left side of the tree.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Why Practice:</a:t>
            </a:r>
            <a:br/>
            <a:r>
              <a:t>Strengthens understanding of tree traversal and level-wise processing.</a:t>
            </a:r>
          </a:p>
        </p:txBody>
      </p:sp>
      <p:sp>
        <p:nvSpPr>
          <p:cNvPr id="162" name="Google Shape;160;p16"/>
          <p:cNvSpPr/>
          <p:nvPr/>
        </p:nvSpPr>
        <p:spPr>
          <a:xfrm>
            <a:off x="9991482" y="3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5;p18"/>
          <p:cNvSpPr txBox="1"/>
          <p:nvPr>
            <p:ph type="ctrTitle"/>
          </p:nvPr>
        </p:nvSpPr>
        <p:spPr>
          <a:xfrm>
            <a:off x="1524000" y="2026822"/>
            <a:ext cx="9144000" cy="2387601"/>
          </a:xfrm>
          <a:prstGeom prst="rect">
            <a:avLst/>
          </a:prstGeom>
        </p:spPr>
        <p:txBody>
          <a:bodyPr/>
          <a:lstStyle>
            <a:lvl1pPr>
              <a:defRPr sz="7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Thanks</a:t>
            </a:r>
          </a:p>
        </p:txBody>
      </p:sp>
      <p:sp>
        <p:nvSpPr>
          <p:cNvPr id="165" name="Google Shape;166;p18"/>
          <p:cNvSpPr/>
          <p:nvPr/>
        </p:nvSpPr>
        <p:spPr>
          <a:xfrm>
            <a:off x="3070740" y="1514621"/>
            <a:ext cx="6050520" cy="151778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