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9" r:id="rId2"/>
    <p:sldId id="258" r:id="rId3"/>
    <p:sldId id="257" r:id="rId4"/>
    <p:sldId id="260" r:id="rId5"/>
    <p:sldId id="281" r:id="rId6"/>
    <p:sldId id="261" r:id="rId7"/>
    <p:sldId id="262" r:id="rId8"/>
    <p:sldId id="264" r:id="rId9"/>
    <p:sldId id="268" r:id="rId10"/>
    <p:sldId id="280" r:id="rId11"/>
    <p:sldId id="267" r:id="rId12"/>
    <p:sldId id="269" r:id="rId13"/>
    <p:sldId id="270" r:id="rId14"/>
    <p:sldId id="282" r:id="rId15"/>
    <p:sldId id="283" r:id="rId16"/>
    <p:sldId id="27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6391"/>
    <a:srgbClr val="235A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D1787D-E165-4BDE-BA1E-DCBC9827DA08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leetcode.com/problems/number-of-distinct-substrings-in-a-string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758467"/>
            <a:ext cx="9144000" cy="2387600"/>
          </a:xfrm>
        </p:spPr>
        <p:txBody>
          <a:bodyPr>
            <a:normAutofit/>
          </a:bodyPr>
          <a:lstStyle/>
          <a:p>
            <a:r>
              <a:rPr lang="en-US" sz="7000" dirty="0">
                <a:latin typeface="Cambria" panose="02040503050406030204" pitchFamily="18" charset="0"/>
                <a:ea typeface="Cambria" panose="02040503050406030204" pitchFamily="18" charset="0"/>
              </a:rPr>
              <a:t>Practical 22</a:t>
            </a:r>
            <a:endParaRPr lang="en-IN" sz="7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198386"/>
            <a:ext cx="9144000" cy="1655762"/>
          </a:xfrm>
        </p:spPr>
        <p:txBody>
          <a:bodyPr/>
          <a:lstStyle/>
          <a:p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Program to Find the Count of Distinct Substrings</a:t>
            </a:r>
          </a:p>
        </p:txBody>
      </p:sp>
      <p:sp>
        <p:nvSpPr>
          <p:cNvPr id="4" name="Freeform 5"/>
          <p:cNvSpPr/>
          <p:nvPr/>
        </p:nvSpPr>
        <p:spPr>
          <a:xfrm>
            <a:off x="3070741" y="1514622"/>
            <a:ext cx="6050518" cy="1517789"/>
          </a:xfrm>
          <a:custGeom>
            <a:avLst/>
            <a:gdLst/>
            <a:ahLst/>
            <a:cxnLst/>
            <a:rect l="l" t="t" r="r" b="b"/>
            <a:pathLst>
              <a:path w="6050518" h="1517789">
                <a:moveTo>
                  <a:pt x="0" y="0"/>
                </a:moveTo>
                <a:lnTo>
                  <a:pt x="6050518" y="0"/>
                </a:lnTo>
                <a:lnTo>
                  <a:pt x="6050518" y="1517788"/>
                </a:lnTo>
                <a:lnTo>
                  <a:pt x="0" y="15177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638" b="-5648"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309539" y="1265839"/>
          <a:ext cx="5342848" cy="441960"/>
        </p:xfrm>
        <a:graphic>
          <a:graphicData uri="http://schemas.openxmlformats.org/drawingml/2006/table">
            <a:tbl>
              <a:tblPr/>
              <a:tblGrid>
                <a:gridCol w="53428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81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Lesson Plan</a:t>
                      </a:r>
                      <a:endParaRPr lang="en-IN" sz="24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4" name="Group 25"/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/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461074" y="2746276"/>
          <a:ext cx="9059442" cy="701040"/>
        </p:xfrm>
        <a:graphic>
          <a:graphicData uri="http://schemas.openxmlformats.org/drawingml/2006/table">
            <a:tbl>
              <a:tblPr/>
              <a:tblGrid>
                <a:gridCol w="286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943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002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Subject/Course</a:t>
                      </a:r>
                      <a:endParaRPr lang="en-IN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70C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Competitive Coding</a:t>
                      </a:r>
                      <a:endParaRPr lang="en-IN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Lesson Title</a:t>
                      </a:r>
                      <a:endParaRPr lang="en-IN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altLang="en-US" sz="1800" b="1" i="0" u="none" strike="noStrike" dirty="0">
                          <a:solidFill>
                            <a:srgbClr val="0070C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Program to Find the Count of Distinct Substrings</a:t>
                      </a: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471065" y="3595291"/>
          <a:ext cx="9039460" cy="1752600"/>
        </p:xfrm>
        <a:graphic>
          <a:graphicData uri="http://schemas.openxmlformats.org/drawingml/2006/table">
            <a:tbl>
              <a:tblPr/>
              <a:tblGrid>
                <a:gridCol w="9039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57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C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Lesson Objectives</a:t>
                      </a:r>
                      <a:endParaRPr lang="en-IN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altLang="en-US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Understand what substrings are and how to count them.</a:t>
                      </a: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altLang="en-US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Learn how to find all distinct substrings in a given string.</a:t>
                      </a: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altLang="en-US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Explore efficient methods using hashing or Trie.</a:t>
                      </a: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altLang="en-US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Analyze time and space complexity of substring counting</a:t>
                      </a: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3230880" y="452326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 Bold"/>
                <a:sym typeface="Cambria Bold"/>
              </a:rPr>
              <a:t>Problem Statement: </a:t>
            </a:r>
            <a:endParaRPr lang="en-IN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Write a program to count the number of distinct substrings </a:t>
            </a:r>
          </a:p>
          <a:p>
            <a:pPr marL="0" indent="0" algn="just">
              <a:buNone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in a given string.</a:t>
            </a:r>
          </a:p>
          <a:p>
            <a:pPr marL="0" indent="0" algn="just">
              <a:buNone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 program should:</a:t>
            </a:r>
          </a:p>
          <a:p>
            <a:pPr marL="0" indent="0" algn="just">
              <a:buNone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1. Take a string as input.</a:t>
            </a:r>
          </a:p>
          <a:p>
            <a:pPr marL="0" indent="0" algn="just">
              <a:buNone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2. Find all unique substrings.</a:t>
            </a:r>
          </a:p>
          <a:p>
            <a:pPr marL="0" indent="0" algn="just">
              <a:buNone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3. Return the count of those distinct substrings.</a:t>
            </a:r>
          </a:p>
        </p:txBody>
      </p:sp>
      <p:grpSp>
        <p:nvGrpSpPr>
          <p:cNvPr id="4" name="Group 25"/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/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Concept</a:t>
            </a:r>
            <a:endParaRPr lang="en-IN" sz="4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What is a Substring?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substring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is a continuous sequence of characters within a string.</a:t>
            </a: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Example: For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"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abc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"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, substrings are</a:t>
            </a: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b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ab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bc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abc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Total substrings = </a:t>
            </a:r>
            <a:r>
              <a:rPr lang="en-US" sz="2400" i="1" dirty="0">
                <a:latin typeface="Cambria" panose="02040503050406030204" pitchFamily="18" charset="0"/>
                <a:ea typeface="Cambria" panose="02040503050406030204" pitchFamily="18" charset="0"/>
              </a:rPr>
              <a:t>n × (n + 1) / 2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for a string of length </a:t>
            </a:r>
            <a:r>
              <a:rPr lang="en-US" sz="2400" i="1" dirty="0">
                <a:latin typeface="Cambria" panose="02040503050406030204" pitchFamily="18" charset="0"/>
                <a:ea typeface="Cambria" panose="02040503050406030204" pitchFamily="18" charset="0"/>
              </a:rPr>
              <a:t>n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But we only want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distinct substrings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(no duplicates).</a:t>
            </a:r>
          </a:p>
        </p:txBody>
      </p:sp>
      <p:grpSp>
        <p:nvGrpSpPr>
          <p:cNvPr id="4" name="Group 25"/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/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C873C-7B6E-BF19-6D11-2027DA3B4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7E6BF-B529-FBDE-D7C2-A073F862A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Concept</a:t>
            </a:r>
            <a:endParaRPr lang="en-IN" sz="4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5BBA28-920B-A9EE-586B-470DD5A85D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⚙️ Approaches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Brute Force: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Generate all substrings and use a set — O(n²) substrings, O(n³) time (inefficient).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Trie-based Approach: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Insert all suffixes of the string into a Trie.</a:t>
            </a:r>
          </a:p>
          <a:p>
            <a:pPr lvl="1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Each new branch in the Trie represents a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new distinct substring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lvl="1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Count total Trie nodes = total distinct substrings + 1 (for empty string).</a:t>
            </a:r>
          </a:p>
        </p:txBody>
      </p:sp>
      <p:grpSp>
        <p:nvGrpSpPr>
          <p:cNvPr id="4" name="Group 25">
            <a:extLst>
              <a:ext uri="{FF2B5EF4-FFF2-40B4-BE49-F238E27FC236}">
                <a16:creationId xmlns:a16="http://schemas.microsoft.com/office/drawing/2014/main" id="{10C5D36F-3370-E6E4-B864-447C2E19E90F}"/>
              </a:ext>
            </a:extLst>
          </p:cNvPr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>
              <a:extLst>
                <a:ext uri="{FF2B5EF4-FFF2-40B4-BE49-F238E27FC236}">
                  <a16:creationId xmlns:a16="http://schemas.microsoft.com/office/drawing/2014/main" id="{6B9F19C9-2666-D59D-D0E0-2645A5172739}"/>
                </a:ext>
              </a:extLst>
            </p:cNvPr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525472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Algorithm/Logic</a:t>
            </a:r>
            <a:endParaRPr lang="en-IN" sz="4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1. Initialize an empty HashSet.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2. Generate all substrings using two loops: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  - Outer loop for start index.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  - Inner loop for end index.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3. Add each substring to the HashSet.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4. The size of the HashSet gives the distinct substring count.</a:t>
            </a:r>
          </a:p>
        </p:txBody>
      </p:sp>
      <p:grpSp>
        <p:nvGrpSpPr>
          <p:cNvPr id="4" name="Group 25"/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/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5"/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/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  <p:sp>
        <p:nvSpPr>
          <p:cNvPr id="11" name="TextBox 10"/>
          <p:cNvSpPr txBox="1"/>
          <p:nvPr/>
        </p:nvSpPr>
        <p:spPr>
          <a:xfrm>
            <a:off x="887895" y="2047461"/>
            <a:ext cx="10005392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400" dirty="0">
                <a:latin typeface="Cambria" panose="02040503050406030204" pitchFamily="18" charset="0"/>
                <a:cs typeface="Cambria" panose="02040503050406030204" pitchFamily="18" charset="0"/>
              </a:rPr>
              <a:t>Example:</a:t>
            </a:r>
          </a:p>
          <a:p>
            <a:r>
              <a:rPr lang="en-US" altLang="en-US" sz="2400" dirty="0">
                <a:latin typeface="Cambria" panose="02040503050406030204" pitchFamily="18" charset="0"/>
                <a:cs typeface="Cambria" panose="02040503050406030204" pitchFamily="18" charset="0"/>
              </a:rPr>
              <a:t>Input: "aba"</a:t>
            </a:r>
          </a:p>
          <a:p>
            <a:endParaRPr lang="en-US" altLang="en-US" sz="2400" dirty="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r>
              <a:rPr lang="en-US" altLang="en-US" sz="2400" dirty="0">
                <a:latin typeface="Cambria" panose="02040503050406030204" pitchFamily="18" charset="0"/>
                <a:cs typeface="Cambria" panose="02040503050406030204" pitchFamily="18" charset="0"/>
              </a:rPr>
              <a:t>All substrings:</a:t>
            </a:r>
          </a:p>
          <a:p>
            <a:r>
              <a:rPr lang="en-US" altLang="en-US" sz="2400" dirty="0">
                <a:latin typeface="Cambria" panose="02040503050406030204" pitchFamily="18" charset="0"/>
                <a:cs typeface="Cambria" panose="02040503050406030204" pitchFamily="18" charset="0"/>
              </a:rPr>
              <a:t>a, b, a, ab, ba, aba</a:t>
            </a:r>
          </a:p>
          <a:p>
            <a:endParaRPr lang="en-US" altLang="en-US" sz="2400" dirty="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r>
              <a:rPr lang="en-US" altLang="en-US" sz="2400" dirty="0">
                <a:latin typeface="Cambria" panose="02040503050406030204" pitchFamily="18" charset="0"/>
                <a:cs typeface="Cambria" panose="02040503050406030204" pitchFamily="18" charset="0"/>
              </a:rPr>
              <a:t>Distinct substrings:</a:t>
            </a:r>
          </a:p>
          <a:p>
            <a:r>
              <a:rPr lang="en-US" altLang="en-US" sz="2400" dirty="0">
                <a:latin typeface="Cambria" panose="02040503050406030204" pitchFamily="18" charset="0"/>
                <a:cs typeface="Cambria" panose="02040503050406030204" pitchFamily="18" charset="0"/>
              </a:rPr>
              <a:t>a, b, ab, ba, aba</a:t>
            </a:r>
          </a:p>
          <a:p>
            <a:endParaRPr lang="en-US" altLang="en-US" sz="2400" dirty="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r>
              <a:rPr lang="en-US" altLang="en-US" sz="2400" dirty="0">
                <a:latin typeface="Cambria" panose="02040503050406030204" pitchFamily="18" charset="0"/>
                <a:cs typeface="Cambria" panose="02040503050406030204" pitchFamily="18" charset="0"/>
              </a:rPr>
              <a:t>Count = 5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Visualization</a:t>
            </a:r>
            <a:endParaRPr lang="en-IN" sz="4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Code Implementation</a:t>
            </a:r>
            <a:endParaRPr lang="en-IN" sz="4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4" name="Group 25"/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/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54430" y="1386205"/>
            <a:ext cx="9195435" cy="50107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ambria" panose="02040503050406030204" pitchFamily="18" charset="0"/>
                <a:ea typeface="Cambria" panose="02040503050406030204" pitchFamily="18" charset="0"/>
              </a:rPr>
              <a:t>Output</a:t>
            </a:r>
            <a:endParaRPr lang="en-IN" sz="4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4" name="Group 25"/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/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73682" y="1690688"/>
            <a:ext cx="6855460" cy="15817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ambria" panose="02040503050406030204" pitchFamily="18" charset="0"/>
                <a:ea typeface="Cambria" panose="02040503050406030204" pitchFamily="18" charset="0"/>
              </a:rPr>
              <a:t>Example Walkthrough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1. Start = 0 → Substrings: a, ab, aba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2. Start = 1 → Substrings: b, ba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3. Start = 2 → Substrings: a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4. Unique ones stored in HashSet.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5. Final count = 5.</a:t>
            </a:r>
          </a:p>
        </p:txBody>
      </p:sp>
      <p:grpSp>
        <p:nvGrpSpPr>
          <p:cNvPr id="4" name="Group 25"/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/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ambria" panose="02040503050406030204" pitchFamily="18" charset="0"/>
                <a:ea typeface="Cambria" panose="02040503050406030204" pitchFamily="18" charset="0"/>
              </a:rPr>
              <a:t>Time &amp; Space Complexity</a:t>
            </a:r>
          </a:p>
        </p:txBody>
      </p:sp>
      <p:grpSp>
        <p:nvGrpSpPr>
          <p:cNvPr id="4" name="Group 25"/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/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Time Complexity:</a:t>
            </a:r>
          </a:p>
          <a:p>
            <a:pPr marL="0" indent="0"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O(n²) – two nested loops for substring generation.</a:t>
            </a:r>
          </a:p>
          <a:p>
            <a:pPr marL="0" indent="0">
              <a:buNone/>
            </a:pP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Space Complexity:</a:t>
            </a:r>
          </a:p>
          <a:p>
            <a:pPr marL="0" indent="0"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O(n²) – storing all substrings in the HashSet.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ambria" panose="02040503050406030204" pitchFamily="18" charset="0"/>
                <a:ea typeface="Cambria" panose="02040503050406030204" pitchFamily="18" charset="0"/>
              </a:rP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 algn="just">
              <a:lnSpc>
                <a:spcPct val="150000"/>
              </a:lnSpc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1. Substrings are continuous character sequences.</a:t>
            </a: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2. Use HashSet to remove duplicates automatically.</a:t>
            </a: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3. Total time complexity is O(n²).</a:t>
            </a: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4. Simple and effective approach for small strings.</a:t>
            </a:r>
          </a:p>
        </p:txBody>
      </p:sp>
      <p:grpSp>
        <p:nvGrpSpPr>
          <p:cNvPr id="4" name="Group 25"/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/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ambria" panose="02040503050406030204" pitchFamily="18" charset="0"/>
                <a:ea typeface="Cambria" panose="02040503050406030204" pitchFamily="18" charset="0"/>
              </a:rPr>
              <a:t>Practice Questions: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1. </a:t>
            </a:r>
            <a:r>
              <a:rPr lang="en-US" alt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Repeated Substring Pattern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— </a:t>
            </a:r>
            <a:r>
              <a:rPr lang="en-US" sz="2400" dirty="0" err="1">
                <a:solidFill>
                  <a:srgbClr val="19639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LeetCode</a:t>
            </a:r>
            <a:r>
              <a:rPr lang="en-US" sz="2400" dirty="0">
                <a:solidFill>
                  <a:srgbClr val="19639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#459</a:t>
            </a:r>
          </a:p>
          <a:p>
            <a:pPr marL="0" indent="0" algn="just"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🔗 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https://leetcode.com/problems/repeated-substring-pattern/</a:t>
            </a:r>
          </a:p>
          <a:p>
            <a:pPr marL="0" indent="0" algn="just">
              <a:buNone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b="1" dirty="0">
                <a:solidFill>
                  <a:srgbClr val="19639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Concept: 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Check if the given string can be formed by repeating a substring.</a:t>
            </a:r>
          </a:p>
          <a:p>
            <a:pPr marL="0" indent="0" algn="just">
              <a:buNone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b="1" dirty="0">
                <a:solidFill>
                  <a:srgbClr val="19639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Why Practice: 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Related to substring structure and repetition detection.</a:t>
            </a:r>
          </a:p>
        </p:txBody>
      </p:sp>
      <p:grpSp>
        <p:nvGrpSpPr>
          <p:cNvPr id="4" name="Group 25"/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/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5C187-B1FC-2E90-953B-E362B5D6A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2853F-3136-5112-4016-B8D3C579A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ambria" panose="02040503050406030204" pitchFamily="18" charset="0"/>
                <a:ea typeface="Cambria" panose="02040503050406030204" pitchFamily="18" charset="0"/>
              </a:rPr>
              <a:t>Practice Questions: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5557A-0F1F-F97B-E5C5-E73E01BA8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2. </a:t>
            </a:r>
            <a:r>
              <a:rPr lang="en-US" alt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Longest Substring Without Repeating Characters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 — </a:t>
            </a:r>
            <a:r>
              <a:rPr lang="en-US" sz="2400" dirty="0" err="1">
                <a:solidFill>
                  <a:srgbClr val="19639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LeetCode</a:t>
            </a:r>
            <a:r>
              <a:rPr lang="en-US" sz="2400" dirty="0">
                <a:solidFill>
                  <a:srgbClr val="19639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#3</a:t>
            </a:r>
          </a:p>
          <a:p>
            <a:pPr marL="0" indent="0" algn="just"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🔗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https://leetcode.com/problems/longest-substring-without-repeating-characters/</a:t>
            </a:r>
          </a:p>
          <a:p>
            <a:pPr marL="0" indent="0" algn="just"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b="1" dirty="0">
                <a:solidFill>
                  <a:srgbClr val="19639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Concept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Sliding window and unique substring logic.</a:t>
            </a:r>
          </a:p>
          <a:p>
            <a:pPr marL="0" indent="0" algn="just">
              <a:buNone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b="1" dirty="0">
                <a:solidFill>
                  <a:srgbClr val="19639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Why Practice: 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Reinforces unique substring concepts.</a:t>
            </a:r>
          </a:p>
        </p:txBody>
      </p:sp>
      <p:grpSp>
        <p:nvGrpSpPr>
          <p:cNvPr id="4" name="Group 25">
            <a:extLst>
              <a:ext uri="{FF2B5EF4-FFF2-40B4-BE49-F238E27FC236}">
                <a16:creationId xmlns:a16="http://schemas.microsoft.com/office/drawing/2014/main" id="{7102CB39-A02D-3861-D95D-8F016D70E451}"/>
              </a:ext>
            </a:extLst>
          </p:cNvPr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>
              <a:extLst>
                <a:ext uri="{FF2B5EF4-FFF2-40B4-BE49-F238E27FC236}">
                  <a16:creationId xmlns:a16="http://schemas.microsoft.com/office/drawing/2014/main" id="{A9ACC310-4F63-6E5A-77CC-52977C1D327F}"/>
                </a:ext>
              </a:extLst>
            </p:cNvPr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40782369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751B6-E00E-60DE-2681-387C84F05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0F8A6-D20A-AA3E-E43D-E3BAEA897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ambria" panose="02040503050406030204" pitchFamily="18" charset="0"/>
                <a:ea typeface="Cambria" panose="02040503050406030204" pitchFamily="18" charset="0"/>
              </a:rPr>
              <a:t>Practice Questions: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4126C-843A-7C76-4C92-CC4094CD63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3. Count Unique Substrings – </a:t>
            </a:r>
            <a:r>
              <a:rPr lang="en-US" sz="2400" b="1" dirty="0" err="1">
                <a:latin typeface="Cambria" panose="02040503050406030204" pitchFamily="18" charset="0"/>
                <a:ea typeface="Cambria" panose="02040503050406030204" pitchFamily="18" charset="0"/>
              </a:rPr>
              <a:t>LeetCode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 #1698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🔗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hlinkClick r:id="rId2"/>
              </a:rPr>
              <a:t>https://leetcode.com/problems/number-of-distinct-substrings-in-a-string/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Concept:</a:t>
            </a: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Use Trie (Prefix Tree) or Suffix Array to count the number of distinct substrings efficiently.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Why Practice:</a:t>
            </a: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This problem is a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direct application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of the practical — it strengthens understanding of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Trie-based substring counting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suffix generation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, and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string manipulation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  <p:grpSp>
        <p:nvGrpSpPr>
          <p:cNvPr id="4" name="Group 25">
            <a:extLst>
              <a:ext uri="{FF2B5EF4-FFF2-40B4-BE49-F238E27FC236}">
                <a16:creationId xmlns:a16="http://schemas.microsoft.com/office/drawing/2014/main" id="{33BFE6B3-9593-0D97-B410-B9E882D5BE23}"/>
              </a:ext>
            </a:extLst>
          </p:cNvPr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>
              <a:extLst>
                <a:ext uri="{FF2B5EF4-FFF2-40B4-BE49-F238E27FC236}">
                  <a16:creationId xmlns:a16="http://schemas.microsoft.com/office/drawing/2014/main" id="{CA9FA827-8A85-6E5F-3C08-85B841E66E21}"/>
                </a:ext>
              </a:extLst>
            </p:cNvPr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2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7632245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026822"/>
            <a:ext cx="9144000" cy="2387600"/>
          </a:xfrm>
        </p:spPr>
        <p:txBody>
          <a:bodyPr>
            <a:normAutofit/>
          </a:bodyPr>
          <a:lstStyle/>
          <a:p>
            <a:r>
              <a:rPr lang="en-US" sz="7000" b="1" dirty="0">
                <a:latin typeface="Cambria" panose="02040503050406030204" pitchFamily="18" charset="0"/>
                <a:ea typeface="Cambria" panose="02040503050406030204" pitchFamily="18" charset="0"/>
              </a:rPr>
              <a:t>Thanks</a:t>
            </a:r>
            <a:endParaRPr lang="en-IN" sz="7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Freeform 5"/>
          <p:cNvSpPr/>
          <p:nvPr/>
        </p:nvSpPr>
        <p:spPr>
          <a:xfrm>
            <a:off x="3070741" y="1514622"/>
            <a:ext cx="6050518" cy="1517789"/>
          </a:xfrm>
          <a:custGeom>
            <a:avLst/>
            <a:gdLst/>
            <a:ahLst/>
            <a:cxnLst/>
            <a:rect l="l" t="t" r="r" b="b"/>
            <a:pathLst>
              <a:path w="6050518" h="1517789">
                <a:moveTo>
                  <a:pt x="0" y="0"/>
                </a:moveTo>
                <a:lnTo>
                  <a:pt x="6050518" y="0"/>
                </a:lnTo>
                <a:lnTo>
                  <a:pt x="6050518" y="1517788"/>
                </a:lnTo>
                <a:lnTo>
                  <a:pt x="0" y="15177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638" b="-5648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635</Words>
  <Application>Microsoft Office PowerPoint</Application>
  <PresentationFormat>Widescreen</PresentationFormat>
  <Paragraphs>92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Cambria</vt:lpstr>
      <vt:lpstr>Office Theme</vt:lpstr>
      <vt:lpstr>Practical 22</vt:lpstr>
      <vt:lpstr>PowerPoint Presentation</vt:lpstr>
      <vt:lpstr>Problem Statement: </vt:lpstr>
      <vt:lpstr>Concept</vt:lpstr>
      <vt:lpstr>Concept</vt:lpstr>
      <vt:lpstr>Algorithm/Logic</vt:lpstr>
      <vt:lpstr>Visualization</vt:lpstr>
      <vt:lpstr>Code Implementation</vt:lpstr>
      <vt:lpstr>Output</vt:lpstr>
      <vt:lpstr>Example Walkthrough</vt:lpstr>
      <vt:lpstr>Time &amp; Space Complexity</vt:lpstr>
      <vt:lpstr>Summary</vt:lpstr>
      <vt:lpstr>Practice Questions:</vt:lpstr>
      <vt:lpstr>Practice Questions:</vt:lpstr>
      <vt:lpstr>Practice Questions: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Prakash K. P.</dc:creator>
  <cp:lastModifiedBy>Prakash K. P.</cp:lastModifiedBy>
  <cp:revision>5</cp:revision>
  <dcterms:created xsi:type="dcterms:W3CDTF">2025-10-28T09:21:00Z</dcterms:created>
  <dcterms:modified xsi:type="dcterms:W3CDTF">2025-11-01T08:42:12Z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B111CD9F77DE4BB6B11444A85B8E3E7C_13</vt:lpwstr>
  </property>
  <property fmtid="{D5CDD505-2E9C-101B-9397-08002B2CF9AE}" pid="3" name="KSOProductBuildVer">
    <vt:lpwstr>1033-12.2.0.23155</vt:lpwstr>
  </property>
</Properties>
</file>