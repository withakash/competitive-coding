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jNYhWv2JQ4b3o7lG23Chs8vrHF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9D90D63-E090-4C76-9297-3719EF60577B}">
  <a:tblStyle styleId="{89D90D63-E090-4C76-9297-3719EF60577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2FFBB72-1112-406E-8068-0B8F53811C2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3" name="Google Shape;13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1" name="Google Shape;14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8" name="Google Shape;14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5" name="Google Shape;15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lowest-common-ancestor-of-a-binary-tree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758467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lang="en-IN" sz="7000">
                <a:latin typeface="Cambria"/>
                <a:ea typeface="Cambria"/>
                <a:cs typeface="Cambria"/>
                <a:sym typeface="Cambria"/>
              </a:rPr>
              <a:t>Practical 15</a:t>
            </a:r>
            <a:endParaRPr sz="7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4198386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Write a program for Lowest Common Ancestors.</a:t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>
            <a:off x="3070741" y="1514622"/>
            <a:ext cx="6050518" cy="1517789"/>
          </a:xfrm>
          <a:custGeom>
            <a:avLst/>
            <a:gdLst/>
            <a:ahLst/>
            <a:cxnLst/>
            <a:rect l="l" t="t" r="r" b="b"/>
            <a:pathLst>
              <a:path w="6050518" h="1517789" extrusionOk="0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4636" b="-5645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" name="Google Shape;91;p2"/>
          <p:cNvGraphicFramePr/>
          <p:nvPr/>
        </p:nvGraphicFramePr>
        <p:xfrm>
          <a:off x="3309539" y="1265839"/>
          <a:ext cx="5342850" cy="441960"/>
        </p:xfrm>
        <a:graphic>
          <a:graphicData uri="http://schemas.openxmlformats.org/drawingml/2006/table">
            <a:tbl>
              <a:tblPr>
                <a:noFill/>
                <a:tableStyleId>{89D90D63-E090-4C76-9297-3719EF60577B}</a:tableStyleId>
              </a:tblPr>
              <a:tblGrid>
                <a:gridCol w="534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8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mbria"/>
                        <a:buNone/>
                      </a:pPr>
                      <a:r>
                        <a:rPr lang="en-IN" sz="2400" b="1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2" name="Google Shape;92;p2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aphicFrame>
        <p:nvGraphicFramePr>
          <p:cNvPr id="93" name="Google Shape;93;p2"/>
          <p:cNvGraphicFramePr/>
          <p:nvPr/>
        </p:nvGraphicFramePr>
        <p:xfrm>
          <a:off x="1461074" y="2746276"/>
          <a:ext cx="9059450" cy="701040"/>
        </p:xfrm>
        <a:graphic>
          <a:graphicData uri="http://schemas.openxmlformats.org/drawingml/2006/table">
            <a:tbl>
              <a:tblPr>
                <a:noFill/>
                <a:tableStyleId>{89D90D63-E090-4C76-9297-3719EF60577B}</a:tableStyleId>
              </a:tblPr>
              <a:tblGrid>
                <a:gridCol w="286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4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1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1" i="0" u="none" strike="noStrike" cap="non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1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1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Lowest Common Ancestor (LCA) in a Binary Tree</a:t>
                      </a:r>
                      <a:endParaRPr sz="1400" u="none" strike="noStrike" cap="none"/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4" name="Google Shape;94;p2"/>
          <p:cNvGraphicFramePr/>
          <p:nvPr/>
        </p:nvGraphicFramePr>
        <p:xfrm>
          <a:off x="1471065" y="3595291"/>
          <a:ext cx="9039450" cy="1752600"/>
        </p:xfrm>
        <a:graphic>
          <a:graphicData uri="http://schemas.openxmlformats.org/drawingml/2006/table">
            <a:tbl>
              <a:tblPr>
                <a:noFill/>
                <a:tableStyleId>{89D90D63-E090-4C76-9297-3719EF60577B}</a:tableStyleId>
              </a:tblPr>
              <a:tblGrid>
                <a:gridCol w="903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5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1" i="0" u="none" strike="noStrike" cap="non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Understand the concept of the Lowest Common Ancestor (LCA) in a binary tree.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Learn how to trace paths of two nodes and identify their shared ancestor.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Implement recursive logic to efficiently find the LCA.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Analyze the time and space complexity of the LCA approach.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IN" sz="4000" b="1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Problem Statement: </a:t>
            </a:r>
            <a:endParaRPr sz="4000"/>
          </a:p>
        </p:txBody>
      </p:sp>
      <p:sp>
        <p:nvSpPr>
          <p:cNvPr id="100" name="Google Shape;100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Given a binary tree and two node values, find their </a:t>
            </a:r>
            <a:r>
              <a:rPr lang="en-IN" sz="2400" b="1">
                <a:latin typeface="Cambria"/>
                <a:ea typeface="Cambria"/>
                <a:cs typeface="Cambria"/>
                <a:sym typeface="Cambria"/>
              </a:rPr>
              <a:t>Lowest Common Ancestor (LCA)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If one node is the ancestor of the other, return that node itself.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Concept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7" name="Google Shape;107;p4"/>
          <p:cNvSpPr txBox="1">
            <a:spLocks noGrp="1"/>
          </p:cNvSpPr>
          <p:nvPr>
            <p:ph type="body" idx="1"/>
          </p:nvPr>
        </p:nvSpPr>
        <p:spPr>
          <a:xfrm>
            <a:off x="838200" y="1690688"/>
            <a:ext cx="10515600" cy="448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14400" lvl="1" indent="-381000" algn="just" rtl="0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The </a:t>
            </a:r>
            <a:r>
              <a:rPr lang="en-IN" b="1">
                <a:latin typeface="Cambria"/>
                <a:ea typeface="Cambria"/>
                <a:cs typeface="Cambria"/>
                <a:sym typeface="Cambria"/>
              </a:rPr>
              <a:t>Lowest Common Ancestor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 (LCA) of two nodes n1 and n2 in a binary tree is the lowest (deepest) node that has both n1 and n2 as descendants.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914400" lvl="1" indent="-381000" algn="just" rtl="0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914400" lvl="1" indent="-381000" algn="just" rtl="0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In simpler terms, it’s the common parent of both nodes that appears lowest in the tree.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914400" lvl="1" indent="-381000" algn="just" rtl="0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We can find the LCA efficiently using </a:t>
            </a:r>
            <a:r>
              <a:rPr lang="en-IN" b="1">
                <a:latin typeface="Cambria"/>
                <a:ea typeface="Cambria"/>
                <a:cs typeface="Cambria"/>
                <a:sym typeface="Cambria"/>
              </a:rPr>
              <a:t>recursion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914400" lvl="0" indent="0" algn="just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4" name="Google Shape;114;p5"/>
          <p:cNvSpPr txBox="1">
            <a:spLocks noGrp="1"/>
          </p:cNvSpPr>
          <p:nvPr>
            <p:ph type="body" idx="1"/>
          </p:nvPr>
        </p:nvSpPr>
        <p:spPr>
          <a:xfrm>
            <a:off x="787025" y="2286250"/>
            <a:ext cx="10515600" cy="20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algn="just" rtl="0">
              <a:spcBef>
                <a:spcPts val="100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If the root is </a:t>
            </a:r>
            <a:r>
              <a:rPr lang="en-IN" sz="2400" dirty="0">
                <a:solidFill>
                  <a:srgbClr val="188038"/>
                </a:solidFill>
                <a:latin typeface="Cambria"/>
                <a:ea typeface="Cambria"/>
                <a:cs typeface="Cambria"/>
                <a:sym typeface="Cambria"/>
              </a:rPr>
              <a:t>NULL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, return </a:t>
            </a:r>
            <a:r>
              <a:rPr lang="en-IN" sz="2400" dirty="0">
                <a:solidFill>
                  <a:srgbClr val="188038"/>
                </a:solidFill>
                <a:latin typeface="Cambria"/>
                <a:ea typeface="Cambria"/>
                <a:cs typeface="Cambria"/>
                <a:sym typeface="Cambria"/>
              </a:rPr>
              <a:t>NULL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.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If the root matches either of the two target nodes, return the root.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Recursively search for the two nodes in the </a:t>
            </a:r>
            <a:r>
              <a:rPr lang="en-IN" sz="2400" b="1" dirty="0">
                <a:latin typeface="Cambria"/>
                <a:ea typeface="Cambria"/>
                <a:cs typeface="Cambria"/>
                <a:sym typeface="Cambria"/>
              </a:rPr>
              <a:t>left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 and </a:t>
            </a:r>
            <a:r>
              <a:rPr lang="en-IN" sz="2400" b="1" dirty="0">
                <a:latin typeface="Cambria"/>
                <a:ea typeface="Cambria"/>
                <a:cs typeface="Cambria"/>
                <a:sym typeface="Cambria"/>
              </a:rPr>
              <a:t>right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 subtrees.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If both sides return non-NULL, the current node is the </a:t>
            </a:r>
            <a:r>
              <a:rPr lang="en-IN" sz="2400" b="1" dirty="0">
                <a:latin typeface="Cambria"/>
                <a:ea typeface="Cambria"/>
                <a:cs typeface="Cambria"/>
                <a:sym typeface="Cambria"/>
              </a:rPr>
              <a:t>LCA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.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Otherwise, return the non-NULL side.</a:t>
            </a:r>
            <a:endParaRPr sz="2400" b="1" dirty="0">
              <a:solidFill>
                <a:srgbClr val="19639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1" name="Google Shape;12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22" name="Google Shape;122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2177" y="1690702"/>
            <a:ext cx="5067650" cy="317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7"/>
          <p:cNvSpPr txBox="1"/>
          <p:nvPr/>
        </p:nvSpPr>
        <p:spPr>
          <a:xfrm>
            <a:off x="2365875" y="5377025"/>
            <a:ext cx="80502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rgbClr val="273239"/>
                </a:solidFill>
                <a:highlight>
                  <a:srgbClr val="F9F9F9"/>
                </a:highlight>
                <a:latin typeface="Cambria"/>
                <a:ea typeface="Cambria"/>
                <a:cs typeface="Cambria"/>
                <a:sym typeface="Cambria"/>
              </a:rPr>
              <a:t>Output: </a:t>
            </a:r>
            <a:r>
              <a:rPr lang="en-IN" sz="2400">
                <a:solidFill>
                  <a:srgbClr val="273239"/>
                </a:solidFill>
                <a:highlight>
                  <a:srgbClr val="F9F9F9"/>
                </a:highlight>
                <a:latin typeface="Cambria"/>
                <a:ea typeface="Cambria"/>
                <a:cs typeface="Cambria"/>
                <a:sym typeface="Cambria"/>
              </a:rPr>
              <a:t>2</a:t>
            </a:r>
            <a:endParaRPr sz="2400">
              <a:solidFill>
                <a:srgbClr val="273239"/>
              </a:solidFill>
              <a:highlight>
                <a:srgbClr val="F9F9F9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rgbClr val="273239"/>
                </a:solidFill>
                <a:highlight>
                  <a:srgbClr val="F9F9F9"/>
                </a:highlight>
                <a:latin typeface="Cambria"/>
                <a:ea typeface="Cambria"/>
                <a:cs typeface="Cambria"/>
                <a:sym typeface="Cambria"/>
              </a:rPr>
              <a:t>Explanation:</a:t>
            </a:r>
            <a:r>
              <a:rPr lang="en-IN" sz="2400">
                <a:solidFill>
                  <a:srgbClr val="273239"/>
                </a:solidFill>
                <a:highlight>
                  <a:srgbClr val="F9F9F9"/>
                </a:highlight>
                <a:latin typeface="Cambria"/>
                <a:ea typeface="Cambria"/>
                <a:cs typeface="Cambria"/>
                <a:sym typeface="Cambria"/>
              </a:rPr>
              <a:t> As shown below, LCA of 4 and 5 is 2.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30" name="Google Shape;130;p8"/>
          <p:cNvPicPr preferRelativeResize="0"/>
          <p:nvPr/>
        </p:nvPicPr>
        <p:blipFill>
          <a:blip r:embed="rId4"/>
          <a:srcRect/>
          <a:stretch/>
        </p:blipFill>
        <p:spPr>
          <a:xfrm>
            <a:off x="1249960" y="1593907"/>
            <a:ext cx="8841996" cy="48989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9"/>
          <p:cNvPicPr preferRelativeResize="0"/>
          <p:nvPr/>
        </p:nvPicPr>
        <p:blipFill>
          <a:blip r:embed="rId3"/>
          <a:srcRect/>
          <a:stretch/>
        </p:blipFill>
        <p:spPr>
          <a:xfrm>
            <a:off x="1029117" y="497977"/>
            <a:ext cx="8223940" cy="3461627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9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7" name="Google Shape;137;p9"/>
          <p:cNvSpPr txBox="1">
            <a:spLocks noGrp="1"/>
          </p:cNvSpPr>
          <p:nvPr>
            <p:ph type="title"/>
          </p:nvPr>
        </p:nvSpPr>
        <p:spPr>
          <a:xfrm>
            <a:off x="838213" y="36098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Output :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38" name="Google Shape;138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28738" y="5057138"/>
            <a:ext cx="7991475" cy="151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Time &amp; Space Complexity</a:t>
            </a:r>
            <a:endParaRPr/>
          </a:p>
        </p:txBody>
      </p:sp>
      <p:sp>
        <p:nvSpPr>
          <p:cNvPr id="144" name="Google Shape;144;p13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aphicFrame>
        <p:nvGraphicFramePr>
          <p:cNvPr id="145" name="Google Shape;145;p13"/>
          <p:cNvGraphicFramePr/>
          <p:nvPr/>
        </p:nvGraphicFramePr>
        <p:xfrm>
          <a:off x="684650" y="2825625"/>
          <a:ext cx="10747950" cy="1902591"/>
        </p:xfrm>
        <a:graphic>
          <a:graphicData uri="http://schemas.openxmlformats.org/drawingml/2006/table">
            <a:tbl>
              <a:tblPr>
                <a:noFill/>
                <a:tableStyleId>{22FFBB72-1112-406E-8068-0B8F53811C29}</a:tableStyleId>
              </a:tblPr>
              <a:tblGrid>
                <a:gridCol w="18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9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3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Operation</a:t>
                      </a:r>
                      <a:endParaRPr sz="2400"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Time Complexity</a:t>
                      </a:r>
                      <a:endParaRPr sz="2400"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Space Complexity</a:t>
                      </a:r>
                      <a:endParaRPr sz="2400"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Explanation</a:t>
                      </a:r>
                      <a:endParaRPr sz="2400"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Find LCA (Recursive)</a:t>
                      </a:r>
                      <a:endParaRPr sz="24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  <a:endParaRPr sz="24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O(h)</a:t>
                      </a:r>
                      <a:endParaRPr sz="24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Traverses all nodes; recursion depth = tree height (h).</a:t>
                      </a:r>
                      <a:endParaRPr sz="24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 dirty="0">
                <a:latin typeface="Cambria"/>
                <a:ea typeface="Cambria"/>
                <a:cs typeface="Cambria"/>
                <a:sym typeface="Cambria"/>
              </a:rPr>
              <a:t>Summary</a:t>
            </a:r>
            <a:endParaRPr dirty="0"/>
          </a:p>
        </p:txBody>
      </p:sp>
      <p:sp>
        <p:nvSpPr>
          <p:cNvPr id="151" name="Google Shape;151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rtl="0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The </a:t>
            </a:r>
            <a:r>
              <a:rPr lang="en-IN" sz="2400" b="1" dirty="0">
                <a:latin typeface="Cambria"/>
                <a:ea typeface="Cambria"/>
                <a:cs typeface="Cambria"/>
                <a:sym typeface="Cambria"/>
              </a:rPr>
              <a:t>Lowest Common Ancestor (LCA)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 identifies the </a:t>
            </a:r>
            <a:r>
              <a:rPr lang="en-IN" sz="2400" b="1" dirty="0">
                <a:latin typeface="Cambria"/>
                <a:ea typeface="Cambria"/>
                <a:cs typeface="Cambria"/>
                <a:sym typeface="Cambria"/>
              </a:rPr>
              <a:t>shared parent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 of two given nodes.</a:t>
            </a:r>
            <a:br>
              <a:rPr lang="en-IN" sz="2400" dirty="0">
                <a:latin typeface="Cambria"/>
                <a:ea typeface="Cambria"/>
                <a:cs typeface="Cambria"/>
                <a:sym typeface="Cambria"/>
              </a:rPr>
            </a:b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81000" rtl="0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Solved efficiently using </a:t>
            </a:r>
            <a:r>
              <a:rPr lang="en-IN" sz="2400" b="1" dirty="0">
                <a:latin typeface="Cambria"/>
                <a:ea typeface="Cambria"/>
                <a:cs typeface="Cambria"/>
                <a:sym typeface="Cambria"/>
              </a:rPr>
              <a:t>recursion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 with </a:t>
            </a:r>
            <a:r>
              <a:rPr lang="en-IN" sz="2400" b="1" dirty="0">
                <a:latin typeface="Cambria"/>
                <a:ea typeface="Cambria"/>
                <a:cs typeface="Cambria"/>
                <a:sym typeface="Cambria"/>
              </a:rPr>
              <a:t>O(n)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 time complexity.</a:t>
            </a:r>
            <a:br>
              <a:rPr lang="en-IN" sz="2400" dirty="0">
                <a:latin typeface="Cambria"/>
                <a:ea typeface="Cambria"/>
                <a:cs typeface="Cambria"/>
                <a:sym typeface="Cambria"/>
              </a:rPr>
            </a:b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81000" rtl="0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Widely used in </a:t>
            </a:r>
            <a:r>
              <a:rPr lang="en-IN" sz="2400" b="1" dirty="0">
                <a:latin typeface="Cambria"/>
                <a:ea typeface="Cambria"/>
                <a:cs typeface="Cambria"/>
                <a:sym typeface="Cambria"/>
              </a:rPr>
              <a:t>network routing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lang="en-IN" sz="2400" b="1" dirty="0">
                <a:latin typeface="Cambria"/>
                <a:ea typeface="Cambria"/>
                <a:cs typeface="Cambria"/>
                <a:sym typeface="Cambria"/>
              </a:rPr>
              <a:t>taxonomy classification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, and </a:t>
            </a:r>
            <a:r>
              <a:rPr lang="en-IN" sz="2400" b="1" dirty="0">
                <a:latin typeface="Cambria"/>
                <a:ea typeface="Cambria"/>
                <a:cs typeface="Cambria"/>
                <a:sym typeface="Cambria"/>
              </a:rPr>
              <a:t>organization hierarchies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.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2" name="Google Shape;152;p14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58" name="Google Shape;158;p16"/>
          <p:cNvSpPr txBox="1">
            <a:spLocks noGrp="1"/>
          </p:cNvSpPr>
          <p:nvPr>
            <p:ph type="body" idx="1"/>
          </p:nvPr>
        </p:nvSpPr>
        <p:spPr>
          <a:xfrm>
            <a:off x="643600" y="1805150"/>
            <a:ext cx="10878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IN" sz="2400" b="1" dirty="0">
                <a:latin typeface="Cambria"/>
                <a:ea typeface="Cambria"/>
                <a:cs typeface="Cambria"/>
                <a:sym typeface="Cambria"/>
              </a:rPr>
              <a:t>🔹 Lowest Common Ancestor of a Binary Tree — </a:t>
            </a:r>
            <a:r>
              <a:rPr lang="en-IN" sz="2400" b="1" dirty="0" err="1">
                <a:latin typeface="Cambria"/>
                <a:ea typeface="Cambria"/>
                <a:cs typeface="Cambria"/>
                <a:sym typeface="Cambria"/>
              </a:rPr>
              <a:t>LeetCode</a:t>
            </a:r>
            <a:r>
              <a:rPr lang="en-IN" sz="2400" b="1" dirty="0">
                <a:latin typeface="Cambria"/>
                <a:ea typeface="Cambria"/>
                <a:cs typeface="Cambria"/>
                <a:sym typeface="Cambria"/>
              </a:rPr>
              <a:t> #236</a:t>
            </a:r>
            <a:br>
              <a:rPr lang="en-IN" sz="2400" b="1" dirty="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IN" sz="2400" i="1" dirty="0">
                <a:latin typeface="Cambria"/>
                <a:ea typeface="Cambria"/>
                <a:cs typeface="Cambria"/>
                <a:sym typeface="Cambria"/>
              </a:rPr>
              <a:t>🔗 </a:t>
            </a:r>
            <a:r>
              <a:rPr lang="en-IN" sz="2400" i="1" u="sng" dirty="0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3"/>
              </a:rPr>
              <a:t>https://leetcode.com/problems/lowest-common-ancestor-of-a-binary-tree/</a:t>
            </a:r>
            <a:endParaRPr sz="2400" i="1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 b="1" dirty="0">
                <a:latin typeface="Cambria"/>
                <a:ea typeface="Cambria"/>
                <a:cs typeface="Cambria"/>
                <a:sym typeface="Cambria"/>
              </a:rPr>
              <a:t>Concept:</a:t>
            </a:r>
            <a:br>
              <a:rPr lang="en-IN" sz="2400" b="1" dirty="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 Use recursion to find the deepest common parent node between two given nodes in a binary tree.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 b="1" dirty="0">
                <a:latin typeface="Cambria"/>
                <a:ea typeface="Cambria"/>
                <a:cs typeface="Cambria"/>
                <a:sym typeface="Cambria"/>
              </a:rPr>
              <a:t>Why Practice:</a:t>
            </a:r>
            <a:endParaRPr sz="2400" b="1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Reinforces </a:t>
            </a:r>
            <a:r>
              <a:rPr lang="en-IN" sz="2400" b="1" dirty="0">
                <a:latin typeface="Cambria"/>
                <a:ea typeface="Cambria"/>
                <a:cs typeface="Cambria"/>
                <a:sym typeface="Cambria"/>
              </a:rPr>
              <a:t>recursive tree traversal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 logic.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Builds foundation for </a:t>
            </a:r>
            <a:r>
              <a:rPr lang="en-IN" sz="2400" b="1" dirty="0">
                <a:latin typeface="Cambria"/>
                <a:ea typeface="Cambria"/>
                <a:cs typeface="Cambria"/>
                <a:sym typeface="Cambria"/>
              </a:rPr>
              <a:t>graph ancestry and path problems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.</a:t>
            </a:r>
            <a:endParaRPr sz="2400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 txBox="1">
            <a:spLocks noGrp="1"/>
          </p:cNvSpPr>
          <p:nvPr>
            <p:ph type="ctrTitle"/>
          </p:nvPr>
        </p:nvSpPr>
        <p:spPr>
          <a:xfrm>
            <a:off x="1524000" y="202682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lang="en-IN" sz="7000" b="1">
                <a:latin typeface="Cambria"/>
                <a:ea typeface="Cambria"/>
                <a:cs typeface="Cambria"/>
                <a:sym typeface="Cambria"/>
              </a:rPr>
              <a:t>Thanks</a:t>
            </a:r>
            <a:endParaRPr sz="7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3070741" y="1514622"/>
            <a:ext cx="6050518" cy="1517789"/>
          </a:xfrm>
          <a:custGeom>
            <a:avLst/>
            <a:gdLst/>
            <a:ahLst/>
            <a:cxnLst/>
            <a:rect l="l" t="t" r="r" b="b"/>
            <a:pathLst>
              <a:path w="6050518" h="1517789" extrusionOk="0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4636" b="-5645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407</Words>
  <Application>Microsoft Office PowerPoint</Application>
  <PresentationFormat>Widescreen</PresentationFormat>
  <Paragraphs>52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Practical 15</vt:lpstr>
      <vt:lpstr>PowerPoint Presentation</vt:lpstr>
      <vt:lpstr>Problem Statement: </vt:lpstr>
      <vt:lpstr>Concept</vt:lpstr>
      <vt:lpstr>Algorithm/Logic</vt:lpstr>
      <vt:lpstr>Visualization</vt:lpstr>
      <vt:lpstr>Code Implementation</vt:lpstr>
      <vt:lpstr>Output :</vt:lpstr>
      <vt:lpstr>Time &amp; Space Complexity</vt:lpstr>
      <vt:lpstr>Summary</vt:lpstr>
      <vt:lpstr>Practice Questions: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Prakash K. P.</dc:creator>
  <cp:lastModifiedBy>Prakash K. P.</cp:lastModifiedBy>
  <cp:revision>4</cp:revision>
  <dcterms:created xsi:type="dcterms:W3CDTF">2025-10-28T09:21:51Z</dcterms:created>
  <dcterms:modified xsi:type="dcterms:W3CDTF">2025-11-12T04:47:27Z</dcterms:modified>
</cp:coreProperties>
</file>