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58" r:id="rId3"/>
    <p:sldId id="257" r:id="rId4"/>
    <p:sldId id="260" r:id="rId5"/>
    <p:sldId id="261" r:id="rId6"/>
    <p:sldId id="276" r:id="rId7"/>
    <p:sldId id="262" r:id="rId8"/>
    <p:sldId id="264" r:id="rId9"/>
    <p:sldId id="265" r:id="rId10"/>
    <p:sldId id="268" r:id="rId11"/>
    <p:sldId id="280" r:id="rId12"/>
    <p:sldId id="267" r:id="rId13"/>
    <p:sldId id="269" r:id="rId14"/>
    <p:sldId id="270" r:id="rId15"/>
    <p:sldId id="278" r:id="rId16"/>
    <p:sldId id="281" r:id="rId17"/>
    <p:sldId id="27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5A8D"/>
    <a:srgbClr val="1963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leetcode.com/problems/convert-sorted-array-to-binary-search-tree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58467"/>
            <a:ext cx="9144000" cy="2387600"/>
          </a:xfrm>
        </p:spPr>
        <p:txBody>
          <a:bodyPr>
            <a:normAutofit/>
          </a:bodyPr>
          <a:lstStyle/>
          <a:p>
            <a:r>
              <a:rPr lang="en-US" sz="7000" dirty="0">
                <a:latin typeface="Cambria" panose="02040503050406030204" pitchFamily="18" charset="0"/>
                <a:ea typeface="Cambria" panose="02040503050406030204" pitchFamily="18" charset="0"/>
              </a:rPr>
              <a:t>Practical 10</a:t>
            </a:r>
            <a:endParaRPr lang="en-IN" sz="7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98386"/>
            <a:ext cx="9144000" cy="1655762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cs typeface="Cambria" panose="02040503050406030204" pitchFamily="18" charset="0"/>
              </a:rPr>
              <a:t>Function to Check if a Binary Tree is a Valid BST</a:t>
            </a:r>
          </a:p>
        </p:txBody>
      </p:sp>
      <p:sp>
        <p:nvSpPr>
          <p:cNvPr id="4" name="Freeform 5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8" b="-5648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309539" y="1265839"/>
          <a:ext cx="5342848" cy="441960"/>
        </p:xfrm>
        <a:graphic>
          <a:graphicData uri="http://schemas.openxmlformats.org/drawingml/2006/table">
            <a:tbl>
              <a:tblPr/>
              <a:tblGrid>
                <a:gridCol w="534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Plan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61074" y="2746276"/>
          <a:ext cx="9059442" cy="70104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4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Subject/Course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Competitive Coding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Title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en-US" sz="1800" b="1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cs typeface="Cambria" panose="02040503050406030204" pitchFamily="18" charset="0"/>
                          <a:sym typeface="+mn-ea"/>
                        </a:rPr>
                        <a:t>Function to Check if a Binary Tree is a Valid BST</a:t>
                      </a:r>
                      <a:endParaRPr lang="en-US" alt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  <a:sym typeface="+mn-ea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71065" y="3595291"/>
          <a:ext cx="9039460" cy="1752600"/>
        </p:xfrm>
        <a:graphic>
          <a:graphicData uri="http://schemas.openxmlformats.org/drawingml/2006/table">
            <a:tbl>
              <a:tblPr/>
              <a:tblGrid>
                <a:gridCol w="9039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Objectives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Understand the concept and properties of a Binary Search Tree (BST).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Learn how to validate whether a given binary tree is a valid BST.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alt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Implement BST validation using recursion and range checking.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alt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Analyze the time and space complexity of the BST validation algorithm.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b="1" dirty="0">
                <a:latin typeface="Cambria" panose="02040503050406030204" pitchFamily="18" charset="0"/>
                <a:cs typeface="Cambria" panose="020405030504060302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Write a program to check whether a given Binary Tree is a Valid Binary Search Tree (BST) or not.  </a:t>
            </a:r>
          </a:p>
          <a:p>
            <a:pPr marL="0" indent="0" algn="just">
              <a:buNone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Conditions:  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1. Each node’s left subtree must contain values less than the node’s key.  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2. Each node’s right subtree must contain values greater than the node’s key.  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3. Both left and right subtrees must themselves be valid BSTs.  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Concept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Binary Search Tree (BST) is a special kind of binary tree that maintains sorted order.</a:t>
            </a:r>
          </a:p>
          <a:p>
            <a:pPr marL="0" indent="0" algn="just">
              <a:buNone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1. Property: left &lt; root &lt; right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2. The inorder traversal of a BST produces a sorted sequence.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3. To verify a binary tree, this property must hold recursively for every node.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Algorithm/Logic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Approach 1 – Recursive Range Check:</a:t>
            </a:r>
          </a:p>
          <a:p>
            <a:pPr marL="0" indent="0" algn="just">
              <a:buNone/>
            </a:pP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Start from the root node.</a:t>
            </a:r>
          </a:p>
          <a:p>
            <a:pPr marL="914400" lvl="1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Define valid range (min, max) for each node.</a:t>
            </a:r>
          </a:p>
          <a:p>
            <a:pPr marL="914400" lvl="1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Check if node value lies within range.</a:t>
            </a:r>
          </a:p>
          <a:p>
            <a:pPr marL="914400" lvl="1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Recursively verify both subtrees.</a:t>
            </a:r>
          </a:p>
          <a:p>
            <a:pPr marL="914400" lvl="1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Left subtree uses range (min, 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node.data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914400" lvl="1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Right subtree uses range (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node.data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, max)</a:t>
            </a:r>
          </a:p>
          <a:p>
            <a:pPr marL="914400" lvl="1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If all nodes satisfy the condition,  the tree is a valid BST.</a:t>
            </a:r>
          </a:p>
          <a:p>
            <a:pPr marL="0" indent="0" algn="just">
              <a:buNone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Algorithm/Logic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Approach 2 – Inorder Traversal Check:</a:t>
            </a:r>
          </a:p>
          <a:p>
            <a:pPr marL="0" indent="0" algn="just">
              <a:buNone/>
            </a:pP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>
              <a:lnSpc>
                <a:spcPct val="150000"/>
              </a:lnSpc>
              <a:buAutoNum type="arabicPeriod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Perform inorder traversal and track previous node.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dirty="0">
                <a:latin typeface="Cambria" panose="02040503050406030204" pitchFamily="18" charset="0"/>
                <a:cs typeface="Cambria" panose="02040503050406030204" pitchFamily="18" charset="0"/>
              </a:rPr>
              <a:t>If current node ≤ previous node → Not a BST.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dirty="0">
                <a:latin typeface="Cambria" panose="02040503050406030204" pitchFamily="18" charset="0"/>
                <a:cs typeface="Cambria" panose="02040503050406030204" pitchFamily="18" charset="0"/>
              </a:rPr>
              <a:t>If traversal is sorted → Valid BST.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dirty="0">
                <a:latin typeface="Cambria" panose="02040503050406030204" pitchFamily="18" charset="0"/>
                <a:cs typeface="Cambria" panose="02040503050406030204" pitchFamily="18" charset="0"/>
              </a:rPr>
              <a:t>This method also runs in O(n) time.</a:t>
            </a:r>
          </a:p>
          <a:p>
            <a:pPr marL="457200" indent="-457200" algn="just">
              <a:buAutoNum type="arabicPeriod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11" name="TextBox 10"/>
          <p:cNvSpPr txBox="1"/>
          <p:nvPr/>
        </p:nvSpPr>
        <p:spPr>
          <a:xfrm>
            <a:off x="1942061" y="5045046"/>
            <a:ext cx="7263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Inorder Traversal: 1,2,3,4,5,6,7</a:t>
            </a:r>
          </a:p>
          <a:p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Result: Valid BST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26" name="Picture 2" descr="Binary Search Trees vs. AVL Trees: the Complexity of Construction |  Baeldung on Computer Science">
            <a:extLst>
              <a:ext uri="{FF2B5EF4-FFF2-40B4-BE49-F238E27FC236}">
                <a16:creationId xmlns:a16="http://schemas.microsoft.com/office/drawing/2014/main" id="{A945700D-8003-4DF1-1CB3-39B4CDC53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864" y="1446135"/>
            <a:ext cx="5621440" cy="3598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Code Implementation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545" y="1410335"/>
            <a:ext cx="8901430" cy="5149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82395" y="1372235"/>
            <a:ext cx="9103995" cy="41135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38555" y="1908810"/>
            <a:ext cx="9914890" cy="13557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Example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1. Root (10): range (−∞, +∞) → OK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2. Left (5): range (−∞, 10) → OK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3. Right (15): range (10, +∞) → OK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4. All nodes satisfy range → Valid BST.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7" name="Text Box 6"/>
          <p:cNvSpPr txBox="1"/>
          <p:nvPr/>
        </p:nvSpPr>
        <p:spPr>
          <a:xfrm>
            <a:off x="4192270" y="1934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Time &amp; Space Complexity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Time Complexity: O(n)</a:t>
            </a:r>
          </a:p>
          <a:p>
            <a:pPr marL="0" indent="0"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Each node is visited exactly once.</a:t>
            </a:r>
          </a:p>
          <a:p>
            <a:pPr marL="0" indent="0"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Space Complexity: O(h)</a:t>
            </a:r>
          </a:p>
          <a:p>
            <a:pPr marL="0" indent="0"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Recursion stack depends on tree height (h).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1. Verifies BST property using range limits.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2. Inorder traversal is always sorted for BST.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3. Efficient: O(n) time, O(h) space.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4. Helps in tree validation and search problems.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alt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1. Validate Binary Search Tree – </a:t>
            </a:r>
            <a:r>
              <a:rPr lang="en-US" sz="2400" b="1" dirty="0" err="1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LeetCode</a:t>
            </a: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#98</a:t>
            </a:r>
          </a:p>
          <a:p>
            <a:pPr marL="0" indent="0" algn="just">
              <a:buNone/>
            </a:pPr>
            <a:endParaRPr lang="en-US" altLang="en-US" sz="2400" dirty="0">
              <a:solidFill>
                <a:schemeClr val="accent5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🔗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Link: https://leetcode.com/problems/validate-binary-search-tree/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235A8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n-US" sz="2400" b="1" dirty="0">
                <a:solidFill>
                  <a:srgbClr val="235A8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oncept: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Use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inorder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traversal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or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recursive range checking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to ensure that every node follows the rule: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left &lt; root &lt; right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235A8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Practice: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is the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exact same concept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as your Practical 10 — validating BST structure and property correctness.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Reinforces recursion, boundary conditions, and tree traversal understanding.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US" alt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Recover Binary Search Tree –</a:t>
            </a: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600" dirty="0" err="1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LeetCode</a:t>
            </a:r>
            <a:r>
              <a:rPr lang="en-US" sz="2600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#99</a:t>
            </a:r>
          </a:p>
          <a:p>
            <a:pPr marL="0" indent="0" algn="just">
              <a:buNone/>
            </a:pPr>
            <a:endParaRPr lang="en-US" alt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alt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https://leetcode.com/problems/recover-binary-search-tree/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rgbClr val="235A8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Concept:</a:t>
            </a:r>
            <a:b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Two nodes in a Binary Search Tree are swapped by mistake.</a:t>
            </a:r>
            <a:b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Use </a:t>
            </a:r>
            <a:r>
              <a:rPr lang="en-US" sz="2600" b="1" dirty="0" err="1">
                <a:latin typeface="Cambria" panose="02040503050406030204" pitchFamily="18" charset="0"/>
                <a:ea typeface="Cambria" panose="02040503050406030204" pitchFamily="18" charset="0"/>
              </a:rPr>
              <a:t>inorder</a:t>
            </a: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 traversal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 to detect and restore the correct BST order by identifying the misplaced nodes.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235A8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Practice:</a:t>
            </a:r>
            <a:b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This question builds on the </a:t>
            </a: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BST validation logic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 — understanding how and why </a:t>
            </a:r>
            <a:r>
              <a:rPr lang="en-US" sz="2600" dirty="0" err="1">
                <a:latin typeface="Cambria" panose="02040503050406030204" pitchFamily="18" charset="0"/>
                <a:ea typeface="Cambria" panose="02040503050406030204" pitchFamily="18" charset="0"/>
              </a:rPr>
              <a:t>inorder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 traversal works for BSTs.</a:t>
            </a:r>
            <a:b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It helps strengthen your grasp of </a:t>
            </a: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BST properties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recursive traversal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error correction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 in trees.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23B51-8A31-2DBC-C4C9-1BBF02CD6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13656-FFDF-6926-16FF-9B199D0CB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A642E-4579-C0F0-2399-69810817F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3. Convert Sorted Array to Binary Search Tree —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#108</a:t>
            </a:r>
          </a:p>
          <a:p>
            <a:pPr marL="0" indent="0">
              <a:buNone/>
            </a:pP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https://leetcode.com/problems/convert-sorted-array-to-binary-search-tree/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235A8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Concept: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Build a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balanced BST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from a sorted array by recursively selecting the middle element as the root.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235A8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Practice: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Helps understand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how valid BSTs are structured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— complements your validation logic by learning how BSTs are built.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4AC74FE7-A697-D4CE-045D-0EC292AC96BA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F08E3B2B-5C70-67F4-670F-F439785B590D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59240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26822"/>
            <a:ext cx="9144000" cy="2387600"/>
          </a:xfrm>
        </p:spPr>
        <p:txBody>
          <a:bodyPr>
            <a:normAutofit/>
          </a:bodyPr>
          <a:lstStyle/>
          <a:p>
            <a:r>
              <a:rPr lang="en-US" sz="7000" b="1" dirty="0">
                <a:latin typeface="Cambria" panose="02040503050406030204" pitchFamily="18" charset="0"/>
                <a:ea typeface="Cambria" panose="02040503050406030204" pitchFamily="18" charset="0"/>
              </a:rPr>
              <a:t>Thanks</a:t>
            </a:r>
            <a:endParaRPr lang="en-IN" sz="7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reeform 5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8" b="-5648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744</Words>
  <Application>Microsoft Office PowerPoint</Application>
  <PresentationFormat>Widescreen</PresentationFormat>
  <Paragraphs>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Office Theme</vt:lpstr>
      <vt:lpstr>Practical 10</vt:lpstr>
      <vt:lpstr>PowerPoint Presentation</vt:lpstr>
      <vt:lpstr>Problem Statement</vt:lpstr>
      <vt:lpstr>Concept</vt:lpstr>
      <vt:lpstr>Algorithm/Logic</vt:lpstr>
      <vt:lpstr>Algorithm/Logic</vt:lpstr>
      <vt:lpstr>Visualization</vt:lpstr>
      <vt:lpstr>Code Implementation</vt:lpstr>
      <vt:lpstr>PowerPoint Presentation</vt:lpstr>
      <vt:lpstr>Output</vt:lpstr>
      <vt:lpstr>Example Walkthrough</vt:lpstr>
      <vt:lpstr>Time &amp; Space Complexity</vt:lpstr>
      <vt:lpstr>Summary</vt:lpstr>
      <vt:lpstr>Practice Questions:</vt:lpstr>
      <vt:lpstr>Practice Questions:</vt:lpstr>
      <vt:lpstr>Practice Questions: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 K. P.</dc:creator>
  <cp:lastModifiedBy>Prakash K. P.</cp:lastModifiedBy>
  <cp:revision>4</cp:revision>
  <dcterms:created xsi:type="dcterms:W3CDTF">2025-10-28T09:21:00Z</dcterms:created>
  <dcterms:modified xsi:type="dcterms:W3CDTF">2025-10-31T06:29:42Z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2C67170C491047618383C853E89A4E43_13</vt:lpwstr>
  </property>
  <property fmtid="{D5CDD505-2E9C-101B-9397-08002B2CF9AE}" pid="3" name="KSOProductBuildVer">
    <vt:lpwstr>1033-12.2.0.23155</vt:lpwstr>
  </property>
</Properties>
</file>