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2" name="Shape 92"/>
          <p:cNvSpPr/>
          <p:nvPr>
            <p:ph type="sldImg"/>
          </p:nvPr>
        </p:nvSpPr>
        <p:spPr>
          <a:xfrm>
            <a:off x="1143000" y="685800"/>
            <a:ext cx="4572000" cy="3429000"/>
          </a:xfrm>
          <a:prstGeom prst="rect">
            <a:avLst/>
          </a:prstGeom>
        </p:spPr>
        <p:txBody>
          <a:bodyPr/>
          <a:lstStyle/>
          <a:p>
            <a:pPr/>
          </a:p>
        </p:txBody>
      </p:sp>
      <p:sp>
        <p:nvSpPr>
          <p:cNvPr id="93" name="Shape 9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2"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3"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1" name="Title Text"/>
          <p:cNvSpPr txBox="1"/>
          <p:nvPr>
            <p:ph type="title"/>
          </p:nvPr>
        </p:nvSpPr>
        <p:spPr>
          <a:prstGeom prst="rect">
            <a:avLst/>
          </a:prstGeom>
        </p:spPr>
        <p:txBody>
          <a:bodyPr/>
          <a:lstStyle/>
          <a:p>
            <a:pPr/>
            <a:r>
              <a:t>Title Text</a:t>
            </a:r>
          </a:p>
        </p:txBody>
      </p:sp>
      <p:sp>
        <p:nvSpPr>
          <p:cNvPr id="2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sp>
        <p:nvSpPr>
          <p:cNvPr id="3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1"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spTree>
      <p:nvGrpSpPr>
        <p:cNvPr id="1" name=""/>
        <p:cNvGrpSpPr/>
        <p:nvPr/>
      </p:nvGrpSpPr>
      <p:grpSpPr>
        <a:xfrm>
          <a:off x="0" y="0"/>
          <a:ext cx="0" cy="0"/>
          <a:chOff x="0" y="0"/>
          <a:chExt cx="0" cy="0"/>
        </a:xfrm>
      </p:grpSpPr>
      <p:sp>
        <p:nvSpPr>
          <p:cNvPr id="39" name="Title Text"/>
          <p:cNvSpPr txBox="1"/>
          <p:nvPr>
            <p:ph type="title"/>
          </p:nvPr>
        </p:nvSpPr>
        <p:spPr>
          <a:prstGeom prst="rect">
            <a:avLst/>
          </a:prstGeom>
        </p:spPr>
        <p:txBody>
          <a:bodyPr/>
          <a:lstStyle/>
          <a:p>
            <a:pPr/>
            <a:r>
              <a:t>Title Text</a:t>
            </a:r>
          </a:p>
        </p:txBody>
      </p:sp>
      <p:sp>
        <p:nvSpPr>
          <p:cNvPr id="40"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spTree>
      <p:nvGrpSpPr>
        <p:cNvPr id="1" name=""/>
        <p:cNvGrpSpPr/>
        <p:nvPr/>
      </p:nvGrpSpPr>
      <p:grpSpPr>
        <a:xfrm>
          <a:off x="0" y="0"/>
          <a:ext cx="0" cy="0"/>
          <a:chOff x="0" y="0"/>
          <a:chExt cx="0" cy="0"/>
        </a:xfrm>
      </p:grpSpPr>
      <p:sp>
        <p:nvSpPr>
          <p:cNvPr id="48" name="Title Text"/>
          <p:cNvSpPr txBox="1"/>
          <p:nvPr>
            <p:ph type="title"/>
          </p:nvPr>
        </p:nvSpPr>
        <p:spPr>
          <a:xfrm>
            <a:off x="839787" y="365125"/>
            <a:ext cx="10515601" cy="1325563"/>
          </a:xfrm>
          <a:prstGeom prst="rect">
            <a:avLst/>
          </a:prstGeom>
        </p:spPr>
        <p:txBody>
          <a:bodyPr/>
          <a:lstStyle/>
          <a:p>
            <a:pPr/>
            <a:r>
              <a:t>Title Text</a:t>
            </a:r>
          </a:p>
        </p:txBody>
      </p:sp>
      <p:sp>
        <p:nvSpPr>
          <p:cNvPr id="49"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0"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sp>
        <p:nvSpPr>
          <p:cNvPr id="58" name="Title Text"/>
          <p:cNvSpPr txBox="1"/>
          <p:nvPr>
            <p:ph type="title"/>
          </p:nvPr>
        </p:nvSpPr>
        <p:spPr>
          <a:prstGeom prst="rect">
            <a:avLst/>
          </a:prstGeom>
        </p:spPr>
        <p:txBody>
          <a:bodyPr/>
          <a:lstStyle/>
          <a:p>
            <a:pPr/>
            <a:r>
              <a:t>Title Text</a:t>
            </a: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sp>
        <p:nvSpPr>
          <p:cNvPr id="73"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4"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5"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83"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4"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5"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5"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leetcode.com/problems/kth-largest-element-in-an-array/"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leetcode.com/problems/top-k-frequent-elements/?utm_source=chatgpt.com"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leetcode.com/problems/kth-smallest-element-in-a-sorted-matrix/?utm_source=chatgpt.com"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Title 1"/>
          <p:cNvSpPr txBox="1"/>
          <p:nvPr>
            <p:ph type="ctrTitle"/>
          </p:nvPr>
        </p:nvSpPr>
        <p:spPr>
          <a:xfrm>
            <a:off x="1524000" y="1758467"/>
            <a:ext cx="9144000" cy="2387601"/>
          </a:xfrm>
          <a:prstGeom prst="rect">
            <a:avLst/>
          </a:prstGeom>
        </p:spPr>
        <p:txBody>
          <a:bodyPr/>
          <a:lstStyle>
            <a:lvl1pPr>
              <a:defRPr sz="7000">
                <a:latin typeface="Cambria"/>
                <a:ea typeface="Cambria"/>
                <a:cs typeface="Cambria"/>
                <a:sym typeface="Cambria"/>
              </a:defRPr>
            </a:lvl1pPr>
          </a:lstStyle>
          <a:p>
            <a:pPr/>
            <a:r>
              <a:t>Practical 21</a:t>
            </a:r>
          </a:p>
        </p:txBody>
      </p:sp>
      <p:sp>
        <p:nvSpPr>
          <p:cNvPr id="96" name="Subtitle 2"/>
          <p:cNvSpPr txBox="1"/>
          <p:nvPr>
            <p:ph type="subTitle" sz="quarter" idx="1"/>
          </p:nvPr>
        </p:nvSpPr>
        <p:spPr>
          <a:xfrm>
            <a:off x="1524000" y="4198386"/>
            <a:ext cx="9144000" cy="1655761"/>
          </a:xfrm>
          <a:prstGeom prst="rect">
            <a:avLst/>
          </a:prstGeom>
        </p:spPr>
        <p:txBody>
          <a:bodyPr/>
          <a:lstStyle>
            <a:lvl1pPr>
              <a:defRPr>
                <a:latin typeface="Cambria"/>
                <a:ea typeface="Cambria"/>
                <a:cs typeface="Cambria"/>
                <a:sym typeface="Cambria"/>
              </a:defRPr>
            </a:lvl1pPr>
          </a:lstStyle>
          <a:p>
            <a:pPr/>
            <a:r>
              <a:t>Write a Program to Implement Huffman coding.</a:t>
            </a:r>
          </a:p>
        </p:txBody>
      </p:sp>
      <p:sp>
        <p:nvSpPr>
          <p:cNvPr id="97" name="Freeform 5"/>
          <p:cNvSpPr/>
          <p:nvPr/>
        </p:nvSpPr>
        <p:spPr>
          <a:xfrm>
            <a:off x="3070740" y="1514621"/>
            <a:ext cx="6050520" cy="1517789"/>
          </a:xfrm>
          <a:prstGeom prst="rect">
            <a:avLst/>
          </a:prstGeom>
          <a:blipFill>
            <a:blip r:embed="rId2"/>
            <a:stretch>
              <a:fillRect/>
            </a:stretch>
          </a:blip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99" name="Content Placeholder 5"/>
          <p:cNvGraphicFramePr/>
          <p:nvPr/>
        </p:nvGraphicFramePr>
        <p:xfrm>
          <a:off x="3309539" y="1265839"/>
          <a:ext cx="5342848" cy="3581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342848"/>
              </a:tblGrid>
              <a:tr h="358140">
                <a:tc>
                  <a:txBody>
                    <a:bodyPr/>
                    <a:lstStyle/>
                    <a:p>
                      <a:pPr algn="ctr">
                        <a:defRPr sz="1800"/>
                      </a:pPr>
                      <a:r>
                        <a:rPr sz="2400">
                          <a:latin typeface="Cambria"/>
                          <a:ea typeface="Cambria"/>
                          <a:cs typeface="Cambria"/>
                          <a:sym typeface="Cambria"/>
                        </a:rPr>
                        <a:t>Lesson Plan</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bl>
          </a:graphicData>
        </a:graphic>
      </p:graphicFrame>
      <p:sp>
        <p:nvSpPr>
          <p:cNvPr id="100"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graphicFrame>
        <p:nvGraphicFramePr>
          <p:cNvPr id="101" name="Table 6"/>
          <p:cNvGraphicFramePr/>
          <p:nvPr/>
        </p:nvGraphicFramePr>
        <p:xfrm>
          <a:off x="1461073" y="2746275"/>
          <a:ext cx="9059444" cy="3200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865120"/>
                <a:gridCol w="6194322"/>
              </a:tblGrid>
              <a:tr h="160020">
                <a:tc>
                  <a:txBody>
                    <a:bodyPr/>
                    <a:lstStyle/>
                    <a:p>
                      <a:pPr algn="ctr">
                        <a:defRPr sz="1800"/>
                      </a:pPr>
                      <a:r>
                        <a:rPr>
                          <a:latin typeface="Cambria"/>
                          <a:ea typeface="Cambria"/>
                          <a:cs typeface="Cambria"/>
                          <a:sym typeface="Cambria"/>
                        </a:rPr>
                        <a:t>Subject/Course</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c>
                  <a:txBody>
                    <a:bodyPr/>
                    <a:lstStyle/>
                    <a:p>
                      <a:pPr algn="l">
                        <a:defRPr sz="1800"/>
                      </a:pPr>
                      <a:r>
                        <a:rPr>
                          <a:solidFill>
                            <a:srgbClr val="0070C0"/>
                          </a:solidFill>
                          <a:latin typeface="Cambria"/>
                          <a:ea typeface="Cambria"/>
                          <a:cs typeface="Cambria"/>
                          <a:sym typeface="Cambria"/>
                        </a:rPr>
                        <a:t>Competitive Coding</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r h="160020">
                <a:tc>
                  <a:txBody>
                    <a:bodyPr/>
                    <a:lstStyle/>
                    <a:p>
                      <a:pPr algn="ctr">
                        <a:defRPr sz="1800"/>
                      </a:pPr>
                      <a:r>
                        <a:rPr>
                          <a:latin typeface="Cambria"/>
                          <a:ea typeface="Cambria"/>
                          <a:cs typeface="Cambria"/>
                          <a:sym typeface="Cambria"/>
                        </a:rPr>
                        <a:t>Lesson Title</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c>
                  <a:txBody>
                    <a:bodyPr/>
                    <a:lstStyle/>
                    <a:p>
                      <a:pPr algn="l">
                        <a:defRPr sz="1800"/>
                      </a:pPr>
                      <a:r>
                        <a:rPr>
                          <a:latin typeface="Cambria"/>
                          <a:ea typeface="Cambria"/>
                          <a:cs typeface="Cambria"/>
                          <a:sym typeface="Cambria"/>
                        </a:rPr>
                        <a:t>Write a Program to Implement Huffman coding.</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bl>
          </a:graphicData>
        </a:graphic>
      </p:graphicFrame>
      <p:graphicFrame>
        <p:nvGraphicFramePr>
          <p:cNvPr id="102" name="Table 7"/>
          <p:cNvGraphicFramePr/>
          <p:nvPr/>
        </p:nvGraphicFramePr>
        <p:xfrm>
          <a:off x="1471064" y="3595291"/>
          <a:ext cx="9039461" cy="12573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039460"/>
              </a:tblGrid>
              <a:tr h="205740">
                <a:tc>
                  <a:txBody>
                    <a:bodyPr/>
                    <a:lstStyle/>
                    <a:p>
                      <a:pPr algn="ctr">
                        <a:defRPr sz="1800"/>
                      </a:pPr>
                      <a:r>
                        <a:rPr>
                          <a:solidFill>
                            <a:srgbClr val="C00000"/>
                          </a:solidFill>
                          <a:latin typeface="Cambria"/>
                          <a:ea typeface="Cambria"/>
                          <a:cs typeface="Cambria"/>
                          <a:sym typeface="Cambria"/>
                        </a:rPr>
                        <a:t>Lesson Objectives</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r h="205740">
                <a:tc>
                  <a:txBody>
                    <a:bodyPr/>
                    <a:lstStyle/>
                    <a:p>
                      <a:pPr algn="l">
                        <a:defRPr sz="1800"/>
                      </a:pPr>
                      <a:r>
                        <a:rPr>
                          <a:latin typeface="Cambria"/>
                          <a:ea typeface="Cambria"/>
                          <a:cs typeface="Cambria"/>
                          <a:sym typeface="Cambria"/>
                        </a:rPr>
                        <a:t>Understand the concept and purpose of Huffman Coding for data compression.</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r h="205740">
                <a:tc>
                  <a:txBody>
                    <a:bodyPr/>
                    <a:lstStyle/>
                    <a:p>
                      <a:pPr algn="l">
                        <a:defRPr sz="1800"/>
                      </a:pPr>
                      <a:r>
                        <a:rPr>
                          <a:latin typeface="Cambria"/>
                          <a:ea typeface="Cambria"/>
                          <a:cs typeface="Cambria"/>
                          <a:sym typeface="Cambria"/>
                        </a:rPr>
                        <a:t>Learn how to construct a Huffman Tree using character frequencies.</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r h="320040">
                <a:tc>
                  <a:txBody>
                    <a:bodyPr/>
                    <a:lstStyle/>
                    <a:p>
                      <a:pPr algn="l">
                        <a:defRPr sz="1800"/>
                      </a:pPr>
                      <a:r>
                        <a:rPr>
                          <a:latin typeface="Cambria"/>
                          <a:ea typeface="Cambria"/>
                          <a:cs typeface="Cambria"/>
                          <a:sym typeface="Cambria"/>
                        </a:rPr>
                        <a:t>Write a program to generate Huffman Codes for given inputs.</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r h="320040">
                <a:tc>
                  <a:txBody>
                    <a:bodyPr/>
                    <a:lstStyle/>
                    <a:p>
                      <a:pPr algn="l">
                        <a:defRPr sz="1800"/>
                      </a:pPr>
                      <a:r>
                        <a:rPr>
                          <a:latin typeface="Cambria"/>
                          <a:ea typeface="Cambria"/>
                          <a:cs typeface="Cambria"/>
                          <a:sym typeface="Cambria"/>
                        </a:rPr>
                        <a:t>Analyze the efficiency and applications of Huffman Coding in real-world use.</a:t>
                      </a:r>
                    </a:p>
                  </a:txBody>
                  <a:tcPr marL="38100" marR="38100" marT="38100" marB="38100" anchor="ctr" anchorCtr="0" horzOverflow="overflow">
                    <a:lnL w="9776">
                      <a:solidFill>
                        <a:srgbClr val="000000"/>
                      </a:solidFill>
                    </a:lnL>
                    <a:lnR w="9776">
                      <a:solidFill>
                        <a:srgbClr val="000000"/>
                      </a:solidFill>
                    </a:lnR>
                    <a:lnT w="9776">
                      <a:solidFill>
                        <a:srgbClr val="000000"/>
                      </a:solidFill>
                    </a:lnT>
                    <a:lnB w="9776">
                      <a:solidFill>
                        <a:srgbClr val="000000"/>
                      </a:solidFill>
                    </a:lnB>
                    <a:solidFill>
                      <a:srgbClr val="FFFFFF"/>
                    </a:solidFill>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Title 1"/>
          <p:cNvSpPr txBox="1"/>
          <p:nvPr>
            <p:ph type="title"/>
          </p:nvPr>
        </p:nvSpPr>
        <p:spPr>
          <a:xfrm>
            <a:off x="838200" y="365125"/>
            <a:ext cx="10515600" cy="1325563"/>
          </a:xfrm>
          <a:prstGeom prst="rect">
            <a:avLst/>
          </a:prstGeom>
        </p:spPr>
        <p:txBody>
          <a:bodyPr/>
          <a:lstStyle>
            <a:lvl1pPr>
              <a:defRPr sz="4000">
                <a:latin typeface="Cambria"/>
                <a:ea typeface="Cambria"/>
                <a:cs typeface="Cambria"/>
                <a:sym typeface="Cambria"/>
              </a:defRPr>
            </a:lvl1pPr>
          </a:lstStyle>
          <a:p>
            <a:pPr/>
            <a:r>
              <a:t>Problem Statement: </a:t>
            </a:r>
          </a:p>
        </p:txBody>
      </p:sp>
      <p:sp>
        <p:nvSpPr>
          <p:cNvPr id="105" name="Content Placeholder 2"/>
          <p:cNvSpPr txBox="1"/>
          <p:nvPr>
            <p:ph type="body" idx="1"/>
          </p:nvPr>
        </p:nvSpPr>
        <p:spPr>
          <a:xfrm>
            <a:off x="838200" y="1825625"/>
            <a:ext cx="10515600" cy="4351338"/>
          </a:xfrm>
          <a:prstGeom prst="rect">
            <a:avLst/>
          </a:prstGeom>
        </p:spPr>
        <p:txBody>
          <a:bodyPr/>
          <a:lstStyle/>
          <a:p>
            <a:pPr marL="0" indent="0" algn="just">
              <a:buSzTx/>
              <a:buNone/>
              <a:defRPr sz="2400">
                <a:latin typeface="Cambria"/>
                <a:ea typeface="Cambria"/>
                <a:cs typeface="Cambria"/>
                <a:sym typeface="Cambria"/>
              </a:defRPr>
            </a:pPr>
            <a:r>
              <a:t>Write a Program to Implement Huffman coding.</a:t>
            </a:r>
          </a:p>
          <a:p>
            <a:pPr marL="0" indent="0" algn="just">
              <a:buSzTx/>
              <a:buNone/>
              <a:defRPr sz="2400">
                <a:latin typeface="Cambria"/>
                <a:ea typeface="Cambria"/>
                <a:cs typeface="Cambria"/>
                <a:sym typeface="Cambria"/>
              </a:defRPr>
            </a:pPr>
          </a:p>
          <a:p>
            <a:pPr marL="0" indent="0" algn="just">
              <a:buSzTx/>
              <a:buNone/>
              <a:defRPr>
                <a:latin typeface="Cambria"/>
                <a:ea typeface="Cambria"/>
                <a:cs typeface="Cambria"/>
                <a:sym typeface="Cambria"/>
              </a:defRPr>
            </a:pPr>
            <a:r>
              <a:t>Problem Overview</a:t>
            </a:r>
          </a:p>
          <a:p>
            <a:pPr marL="0" indent="0" algn="just">
              <a:buSzTx/>
              <a:buNone/>
              <a:defRPr sz="2400">
                <a:latin typeface="Cambria"/>
                <a:ea typeface="Cambria"/>
                <a:cs typeface="Cambria"/>
                <a:sym typeface="Cambria"/>
              </a:defRPr>
            </a:pPr>
            <a:r>
              <a:t>Given a string S of distinct character of size N and their corresponding frequency f[ ] i.e. character S[i] has f[i] frequency. Your task is to build the Huffman tree print all the huffman codes in preorder traversal of the tree.</a:t>
            </a:r>
          </a:p>
        </p:txBody>
      </p:sp>
      <p:sp>
        <p:nvSpPr>
          <p:cNvPr id="106"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Content Placeholder 2"/>
          <p:cNvSpPr txBox="1"/>
          <p:nvPr>
            <p:ph type="body" sz="half" idx="1"/>
          </p:nvPr>
        </p:nvSpPr>
        <p:spPr>
          <a:xfrm>
            <a:off x="6261941" y="966326"/>
            <a:ext cx="5073446" cy="5200651"/>
          </a:xfrm>
          <a:prstGeom prst="rect">
            <a:avLst/>
          </a:prstGeom>
        </p:spPr>
        <p:txBody>
          <a:bodyPr/>
          <a:lstStyle/>
          <a:p>
            <a:pPr marL="0" indent="0" defTabSz="813816">
              <a:spcBef>
                <a:spcPts val="800"/>
              </a:spcBef>
              <a:buSzTx/>
              <a:buNone/>
              <a:defRPr sz="2136">
                <a:latin typeface="Cambria"/>
                <a:ea typeface="Cambria"/>
                <a:cs typeface="Cambria"/>
                <a:sym typeface="Cambria"/>
              </a:defRPr>
            </a:pPr>
            <a:r>
              <a:t>Example 1:</a:t>
            </a:r>
          </a:p>
          <a:p>
            <a:pPr marL="0" indent="0" defTabSz="813816">
              <a:spcBef>
                <a:spcPts val="800"/>
              </a:spcBef>
              <a:buSzTx/>
              <a:buNone/>
              <a:defRPr sz="2046">
                <a:latin typeface="Cambria"/>
                <a:ea typeface="Cambria"/>
                <a:cs typeface="Cambria"/>
                <a:sym typeface="Cambria"/>
              </a:defRPr>
            </a:pPr>
            <a:r>
              <a:t>S = "abcdef"</a:t>
            </a:r>
          </a:p>
          <a:p>
            <a:pPr marL="0" indent="0" defTabSz="813816">
              <a:spcBef>
                <a:spcPts val="800"/>
              </a:spcBef>
              <a:buSzTx/>
              <a:buNone/>
              <a:defRPr sz="2046">
                <a:latin typeface="Cambria"/>
                <a:ea typeface="Cambria"/>
                <a:cs typeface="Cambria"/>
                <a:sym typeface="Cambria"/>
              </a:defRPr>
            </a:pPr>
            <a:r>
              <a:t>f[] = {5, 9, 12, 13, 16, 45}</a:t>
            </a:r>
          </a:p>
          <a:p>
            <a:pPr marL="0" indent="0" defTabSz="813816">
              <a:spcBef>
                <a:spcPts val="800"/>
              </a:spcBef>
              <a:buSzTx/>
              <a:buNone/>
              <a:defRPr sz="2046">
                <a:latin typeface="Cambria"/>
                <a:ea typeface="Cambria"/>
                <a:cs typeface="Cambria"/>
                <a:sym typeface="Cambria"/>
              </a:defRPr>
            </a:pPr>
            <a:r>
              <a:t>Output: </a:t>
            </a:r>
          </a:p>
          <a:p>
            <a:pPr marL="0" indent="0" defTabSz="813816">
              <a:spcBef>
                <a:spcPts val="800"/>
              </a:spcBef>
              <a:buSzTx/>
              <a:buNone/>
              <a:defRPr sz="2046">
                <a:latin typeface="Cambria"/>
                <a:ea typeface="Cambria"/>
                <a:cs typeface="Cambria"/>
                <a:sym typeface="Cambria"/>
              </a:defRPr>
            </a:pPr>
            <a:r>
              <a:t>0 100 101 1100 1101 111</a:t>
            </a:r>
          </a:p>
          <a:p>
            <a:pPr marL="0" indent="0" defTabSz="813816">
              <a:spcBef>
                <a:spcPts val="800"/>
              </a:spcBef>
              <a:buSzTx/>
              <a:buNone/>
              <a:defRPr sz="2046">
                <a:latin typeface="Cambria"/>
                <a:ea typeface="Cambria"/>
                <a:cs typeface="Cambria"/>
                <a:sym typeface="Cambria"/>
              </a:defRPr>
            </a:pPr>
            <a:r>
              <a:t>Explanation:</a:t>
            </a:r>
          </a:p>
          <a:p>
            <a:pPr marL="0" indent="0" defTabSz="813816">
              <a:spcBef>
                <a:spcPts val="800"/>
              </a:spcBef>
              <a:buSzTx/>
              <a:buNone/>
              <a:defRPr sz="2046">
                <a:latin typeface="Cambria"/>
                <a:ea typeface="Cambria"/>
                <a:cs typeface="Cambria"/>
                <a:sym typeface="Cambria"/>
              </a:defRPr>
            </a:pPr>
            <a:r>
              <a:t>HuffmanCodes will be:</a:t>
            </a:r>
          </a:p>
          <a:p>
            <a:pPr marL="0" indent="0" defTabSz="813816">
              <a:spcBef>
                <a:spcPts val="800"/>
              </a:spcBef>
              <a:buSzTx/>
              <a:buNone/>
              <a:defRPr sz="2046">
                <a:latin typeface="Cambria"/>
                <a:ea typeface="Cambria"/>
                <a:cs typeface="Cambria"/>
                <a:sym typeface="Cambria"/>
              </a:defRPr>
            </a:pPr>
            <a:r>
              <a:t>f : 0</a:t>
            </a:r>
          </a:p>
          <a:p>
            <a:pPr marL="0" indent="0" defTabSz="813816">
              <a:spcBef>
                <a:spcPts val="800"/>
              </a:spcBef>
              <a:buSzTx/>
              <a:buNone/>
              <a:defRPr sz="2046">
                <a:latin typeface="Cambria"/>
                <a:ea typeface="Cambria"/>
                <a:cs typeface="Cambria"/>
                <a:sym typeface="Cambria"/>
              </a:defRPr>
            </a:pPr>
            <a:r>
              <a:t>c : 100</a:t>
            </a:r>
          </a:p>
          <a:p>
            <a:pPr marL="0" indent="0" defTabSz="813816">
              <a:spcBef>
                <a:spcPts val="800"/>
              </a:spcBef>
              <a:buSzTx/>
              <a:buNone/>
              <a:defRPr sz="2046">
                <a:latin typeface="Cambria"/>
                <a:ea typeface="Cambria"/>
                <a:cs typeface="Cambria"/>
                <a:sym typeface="Cambria"/>
              </a:defRPr>
            </a:pPr>
            <a:r>
              <a:t>d : 101</a:t>
            </a:r>
          </a:p>
          <a:p>
            <a:pPr marL="0" indent="0" defTabSz="813816">
              <a:spcBef>
                <a:spcPts val="800"/>
              </a:spcBef>
              <a:buSzTx/>
              <a:buNone/>
              <a:defRPr sz="2046">
                <a:latin typeface="Cambria"/>
                <a:ea typeface="Cambria"/>
                <a:cs typeface="Cambria"/>
                <a:sym typeface="Cambria"/>
              </a:defRPr>
            </a:pPr>
            <a:r>
              <a:t>a : 1100</a:t>
            </a:r>
          </a:p>
          <a:p>
            <a:pPr marL="0" indent="0" defTabSz="813816">
              <a:spcBef>
                <a:spcPts val="800"/>
              </a:spcBef>
              <a:buSzTx/>
              <a:buNone/>
              <a:defRPr sz="2046">
                <a:latin typeface="Cambria"/>
                <a:ea typeface="Cambria"/>
                <a:cs typeface="Cambria"/>
                <a:sym typeface="Cambria"/>
              </a:defRPr>
            </a:pPr>
            <a:r>
              <a:t>b : 1101</a:t>
            </a:r>
          </a:p>
          <a:p>
            <a:pPr marL="0" indent="0" defTabSz="813816">
              <a:spcBef>
                <a:spcPts val="800"/>
              </a:spcBef>
              <a:buSzTx/>
              <a:buNone/>
              <a:defRPr sz="2046">
                <a:latin typeface="Cambria"/>
                <a:ea typeface="Cambria"/>
                <a:cs typeface="Cambria"/>
                <a:sym typeface="Cambria"/>
              </a:defRPr>
            </a:pPr>
            <a:r>
              <a:t>e : 111</a:t>
            </a:r>
          </a:p>
        </p:txBody>
      </p:sp>
      <p:sp>
        <p:nvSpPr>
          <p:cNvPr id="109" name="Content Placeholder 2"/>
          <p:cNvSpPr txBox="1"/>
          <p:nvPr/>
        </p:nvSpPr>
        <p:spPr>
          <a:xfrm>
            <a:off x="2179320" y="582560"/>
            <a:ext cx="3251529" cy="569288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gn="just">
              <a:lnSpc>
                <a:spcPct val="90000"/>
              </a:lnSpc>
              <a:spcBef>
                <a:spcPts val="1000"/>
              </a:spcBef>
              <a:defRPr sz="2400">
                <a:latin typeface="Cambria"/>
                <a:ea typeface="Cambria"/>
                <a:cs typeface="Cambria"/>
                <a:sym typeface="Cambria"/>
              </a:defRPr>
            </a:pPr>
          </a:p>
          <a:p>
            <a:pPr algn="just">
              <a:lnSpc>
                <a:spcPct val="90000"/>
              </a:lnSpc>
              <a:spcBef>
                <a:spcPts val="1000"/>
              </a:spcBef>
              <a:defRPr sz="2400">
                <a:latin typeface="Cambria"/>
                <a:ea typeface="Cambria"/>
                <a:cs typeface="Cambria"/>
                <a:sym typeface="Cambria"/>
              </a:defRPr>
            </a:pPr>
            <a:r>
              <a:t>Note: </a:t>
            </a:r>
            <a:endParaRPr sz="2800"/>
          </a:p>
          <a:p>
            <a:pPr algn="just">
              <a:lnSpc>
                <a:spcPct val="90000"/>
              </a:lnSpc>
              <a:spcBef>
                <a:spcPts val="1000"/>
              </a:spcBef>
              <a:defRPr sz="2400">
                <a:latin typeface="Cambria"/>
                <a:ea typeface="Cambria"/>
                <a:cs typeface="Cambria"/>
                <a:sym typeface="Cambria"/>
              </a:defRPr>
            </a:pPr>
            <a:r>
              <a:t>While merging if two nodes have the same value, then the node which occurs at first will be taken on the left of Binary Tree and the other one to the right, otherwise Node with less value will be taken on the left of the subtree and other one to the right.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Content Placeholder 2"/>
          <p:cNvSpPr txBox="1"/>
          <p:nvPr>
            <p:ph type="body" idx="1"/>
          </p:nvPr>
        </p:nvSpPr>
        <p:spPr>
          <a:xfrm>
            <a:off x="990599" y="1727303"/>
            <a:ext cx="9721647" cy="4351339"/>
          </a:xfrm>
          <a:prstGeom prst="rect">
            <a:avLst/>
          </a:prstGeom>
        </p:spPr>
        <p:txBody>
          <a:bodyPr/>
          <a:lstStyle/>
          <a:p>
            <a:pPr marL="0" indent="0" algn="just">
              <a:buSzTx/>
              <a:buNone/>
              <a:defRPr>
                <a:latin typeface="Cambria"/>
                <a:ea typeface="Cambria"/>
                <a:cs typeface="Cambria"/>
                <a:sym typeface="Cambria"/>
              </a:defRPr>
            </a:pPr>
            <a:r>
              <a:t>What is Huffman Coding?</a:t>
            </a:r>
          </a:p>
          <a:p>
            <a:pPr marL="0" indent="0" algn="just">
              <a:buSzTx/>
              <a:buNone/>
              <a:defRPr sz="2400">
                <a:latin typeface="Cambria"/>
                <a:ea typeface="Cambria"/>
                <a:cs typeface="Cambria"/>
                <a:sym typeface="Cambria"/>
              </a:defRPr>
            </a:pPr>
          </a:p>
          <a:p>
            <a:pPr lvl="1" marL="685800" indent="-228600" algn="just">
              <a:lnSpc>
                <a:spcPct val="100000"/>
              </a:lnSpc>
              <a:spcBef>
                <a:spcPts val="500"/>
              </a:spcBef>
              <a:defRPr sz="2400">
                <a:latin typeface="Cambria"/>
                <a:ea typeface="Cambria"/>
                <a:cs typeface="Cambria"/>
                <a:sym typeface="Cambria"/>
              </a:defRPr>
            </a:pPr>
            <a:r>
              <a:t>Huffman Coding is a lossless compression technique that reduces file size by encoding data efficiently.</a:t>
            </a:r>
          </a:p>
          <a:p>
            <a:pPr lvl="1" marL="685800" indent="-228600" algn="just">
              <a:lnSpc>
                <a:spcPct val="100000"/>
              </a:lnSpc>
              <a:spcBef>
                <a:spcPts val="500"/>
              </a:spcBef>
              <a:defRPr sz="2400">
                <a:latin typeface="Cambria"/>
                <a:ea typeface="Cambria"/>
                <a:cs typeface="Cambria"/>
                <a:sym typeface="Cambria"/>
              </a:defRPr>
            </a:pPr>
            <a:r>
              <a:t>It assigns shorter binary codes to more frequent characters and longer codes to less frequent ones.</a:t>
            </a:r>
          </a:p>
          <a:p>
            <a:pPr lvl="1" marL="685800" indent="-228600" algn="just">
              <a:lnSpc>
                <a:spcPct val="100000"/>
              </a:lnSpc>
              <a:spcBef>
                <a:spcPts val="500"/>
              </a:spcBef>
              <a:defRPr sz="2400">
                <a:latin typeface="Cambria"/>
                <a:ea typeface="Cambria"/>
                <a:cs typeface="Cambria"/>
                <a:sym typeface="Cambria"/>
              </a:defRPr>
            </a:pPr>
            <a:r>
              <a:t>This method ensures that no code is a prefix of another, making decoding unique and reliable.</a:t>
            </a:r>
          </a:p>
          <a:p>
            <a:pPr lvl="1" marL="685800" indent="-228600" algn="just">
              <a:lnSpc>
                <a:spcPct val="100000"/>
              </a:lnSpc>
              <a:spcBef>
                <a:spcPts val="500"/>
              </a:spcBef>
              <a:defRPr sz="2400">
                <a:latin typeface="Cambria"/>
                <a:ea typeface="Cambria"/>
                <a:cs typeface="Cambria"/>
                <a:sym typeface="Cambria"/>
              </a:defRPr>
            </a:pPr>
            <a:r>
              <a:t>It was developed by David A. Huffman in 1952 and is widely used in compression tools.</a:t>
            </a:r>
          </a:p>
        </p:txBody>
      </p:sp>
      <p:sp>
        <p:nvSpPr>
          <p:cNvPr id="112" name="Title 1"/>
          <p:cNvSpPr txBox="1"/>
          <p:nvPr>
            <p:ph type="title"/>
          </p:nvPr>
        </p:nvSpPr>
        <p:spPr>
          <a:xfrm>
            <a:off x="838200" y="365125"/>
            <a:ext cx="10515600" cy="1325563"/>
          </a:xfrm>
          <a:prstGeom prst="rect">
            <a:avLst/>
          </a:prstGeom>
        </p:spPr>
        <p:txBody>
          <a:bodyPr/>
          <a:lstStyle>
            <a:lvl1pPr>
              <a:defRPr sz="4000">
                <a:latin typeface="Cambria"/>
                <a:ea typeface="Cambria"/>
                <a:cs typeface="Cambria"/>
                <a:sym typeface="Cambria"/>
              </a:defRPr>
            </a:lvl1pPr>
          </a:lstStyle>
          <a:p>
            <a:pPr/>
            <a:r>
              <a:t>Concept: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Content Placeholder 2"/>
          <p:cNvSpPr txBox="1"/>
          <p:nvPr>
            <p:ph type="body" idx="1"/>
          </p:nvPr>
        </p:nvSpPr>
        <p:spPr>
          <a:xfrm>
            <a:off x="990599" y="1727303"/>
            <a:ext cx="9721647" cy="4351339"/>
          </a:xfrm>
          <a:prstGeom prst="rect">
            <a:avLst/>
          </a:prstGeom>
        </p:spPr>
        <p:txBody>
          <a:bodyPr/>
          <a:lstStyle/>
          <a:p>
            <a:pPr marL="0" indent="0" algn="just">
              <a:buSzTx/>
              <a:buNone/>
              <a:defRPr>
                <a:latin typeface="Cambria"/>
                <a:ea typeface="Cambria"/>
                <a:cs typeface="Cambria"/>
                <a:sym typeface="Cambria"/>
              </a:defRPr>
            </a:pPr>
            <a:r>
              <a:t>Why Huffman Coding?</a:t>
            </a:r>
          </a:p>
          <a:p>
            <a:pPr marL="0" indent="0" algn="just">
              <a:buSzTx/>
              <a:buNone/>
              <a:defRPr sz="2400">
                <a:latin typeface="Cambria"/>
                <a:ea typeface="Cambria"/>
                <a:cs typeface="Cambria"/>
                <a:sym typeface="Cambria"/>
              </a:defRPr>
            </a:pPr>
          </a:p>
          <a:p>
            <a:pPr lvl="1" marL="685800" indent="-228600" algn="just">
              <a:lnSpc>
                <a:spcPct val="100000"/>
              </a:lnSpc>
              <a:spcBef>
                <a:spcPts val="500"/>
              </a:spcBef>
              <a:defRPr sz="2400">
                <a:latin typeface="Cambria"/>
                <a:ea typeface="Cambria"/>
                <a:cs typeface="Cambria"/>
                <a:sym typeface="Cambria"/>
              </a:defRPr>
            </a:pPr>
            <a:r>
              <a:t>Data compression helps in saving storage space and reducing transmission time.</a:t>
            </a:r>
          </a:p>
          <a:p>
            <a:pPr lvl="1" marL="685800" indent="-228600" algn="just">
              <a:lnSpc>
                <a:spcPct val="100000"/>
              </a:lnSpc>
              <a:spcBef>
                <a:spcPts val="500"/>
              </a:spcBef>
              <a:defRPr sz="2400">
                <a:latin typeface="Cambria"/>
                <a:ea typeface="Cambria"/>
                <a:cs typeface="Cambria"/>
                <a:sym typeface="Cambria"/>
              </a:defRPr>
            </a:pPr>
            <a:r>
              <a:t>Huffman coding ensures that frequently used symbols consume fewer bits.</a:t>
            </a:r>
          </a:p>
          <a:p>
            <a:pPr lvl="1" marL="685800" indent="-228600" algn="just">
              <a:lnSpc>
                <a:spcPct val="100000"/>
              </a:lnSpc>
              <a:spcBef>
                <a:spcPts val="500"/>
              </a:spcBef>
              <a:defRPr sz="2400">
                <a:latin typeface="Cambria"/>
                <a:ea typeface="Cambria"/>
                <a:cs typeface="Cambria"/>
                <a:sym typeface="Cambria"/>
              </a:defRPr>
            </a:pPr>
            <a:r>
              <a:t>It provides one of the most efficient variable-length encoding schemes.</a:t>
            </a:r>
          </a:p>
          <a:p>
            <a:pPr lvl="1" marL="685800" indent="-228600" algn="just">
              <a:lnSpc>
                <a:spcPct val="100000"/>
              </a:lnSpc>
              <a:spcBef>
                <a:spcPts val="500"/>
              </a:spcBef>
              <a:defRPr sz="2400">
                <a:latin typeface="Cambria"/>
                <a:ea typeface="Cambria"/>
                <a:cs typeface="Cambria"/>
                <a:sym typeface="Cambria"/>
              </a:defRPr>
            </a:pPr>
            <a:r>
              <a:t>Applications include ZIP files, JPEG, MP3, and communication protocols.</a:t>
            </a:r>
          </a:p>
        </p:txBody>
      </p:sp>
      <p:sp>
        <p:nvSpPr>
          <p:cNvPr id="115" name="Title 1"/>
          <p:cNvSpPr txBox="1"/>
          <p:nvPr>
            <p:ph type="title"/>
          </p:nvPr>
        </p:nvSpPr>
        <p:spPr>
          <a:xfrm>
            <a:off x="838200" y="365125"/>
            <a:ext cx="10515600" cy="1325563"/>
          </a:xfrm>
          <a:prstGeom prst="rect">
            <a:avLst/>
          </a:prstGeom>
        </p:spPr>
        <p:txBody>
          <a:bodyPr/>
          <a:lstStyle>
            <a:lvl1pPr>
              <a:defRPr sz="4000">
                <a:latin typeface="Cambria"/>
                <a:ea typeface="Cambria"/>
                <a:cs typeface="Cambria"/>
                <a:sym typeface="Cambria"/>
              </a:defRPr>
            </a:lvl1pPr>
          </a:lstStyle>
          <a:p>
            <a:pPr/>
            <a:r>
              <a:t>Concept: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Content Placeholder 2"/>
          <p:cNvSpPr txBox="1"/>
          <p:nvPr>
            <p:ph type="body" idx="1"/>
          </p:nvPr>
        </p:nvSpPr>
        <p:spPr>
          <a:xfrm>
            <a:off x="990599" y="1727303"/>
            <a:ext cx="9721647" cy="4351339"/>
          </a:xfrm>
          <a:prstGeom prst="rect">
            <a:avLst/>
          </a:prstGeom>
        </p:spPr>
        <p:txBody>
          <a:bodyPr/>
          <a:lstStyle/>
          <a:p>
            <a:pPr marL="0" indent="0" algn="just">
              <a:buSzTx/>
              <a:buNone/>
              <a:defRPr>
                <a:latin typeface="Cambria"/>
                <a:ea typeface="Cambria"/>
                <a:cs typeface="Cambria"/>
                <a:sym typeface="Cambria"/>
              </a:defRPr>
            </a:pPr>
            <a:r>
              <a:t>Steps in Huffman Coding</a:t>
            </a:r>
          </a:p>
          <a:p>
            <a:pPr marL="0" indent="0" algn="just">
              <a:buSzTx/>
              <a:buNone/>
              <a:defRPr sz="2400">
                <a:latin typeface="Cambria"/>
                <a:ea typeface="Cambria"/>
                <a:cs typeface="Cambria"/>
                <a:sym typeface="Cambria"/>
              </a:defRPr>
            </a:pPr>
          </a:p>
          <a:p>
            <a:pPr lvl="1" marL="914400" indent="-457200" algn="just">
              <a:lnSpc>
                <a:spcPct val="100000"/>
              </a:lnSpc>
              <a:spcBef>
                <a:spcPts val="500"/>
              </a:spcBef>
              <a:buFontTx/>
              <a:buAutoNum type="arabicPeriod" startAt="1"/>
              <a:defRPr sz="2400">
                <a:latin typeface="Cambria"/>
                <a:ea typeface="Cambria"/>
                <a:cs typeface="Cambria"/>
                <a:sym typeface="Cambria"/>
              </a:defRPr>
            </a:pPr>
            <a:r>
              <a:t>Count the frequency of each character in the data.</a:t>
            </a:r>
          </a:p>
          <a:p>
            <a:pPr lvl="1" marL="914400" indent="-457200" algn="just">
              <a:lnSpc>
                <a:spcPct val="100000"/>
              </a:lnSpc>
              <a:spcBef>
                <a:spcPts val="500"/>
              </a:spcBef>
              <a:buFontTx/>
              <a:buAutoNum type="arabicPeriod" startAt="1"/>
              <a:defRPr sz="2400">
                <a:latin typeface="Cambria"/>
                <a:ea typeface="Cambria"/>
                <a:cs typeface="Cambria"/>
                <a:sym typeface="Cambria"/>
              </a:defRPr>
            </a:pPr>
            <a:r>
              <a:t>Create a min-heap (priority queue) containing all characters with their frequencies.</a:t>
            </a:r>
          </a:p>
          <a:p>
            <a:pPr lvl="1" marL="914400" indent="-457200" algn="just">
              <a:lnSpc>
                <a:spcPct val="100000"/>
              </a:lnSpc>
              <a:spcBef>
                <a:spcPts val="500"/>
              </a:spcBef>
              <a:buFontTx/>
              <a:buAutoNum type="arabicPeriod" startAt="1"/>
              <a:defRPr sz="2400">
                <a:latin typeface="Cambria"/>
                <a:ea typeface="Cambria"/>
                <a:cs typeface="Cambria"/>
                <a:sym typeface="Cambria"/>
              </a:defRPr>
            </a:pPr>
            <a:r>
              <a:t>Repeatedly extract two smallest nodes and merge them into one node.</a:t>
            </a:r>
          </a:p>
          <a:p>
            <a:pPr lvl="1" marL="914400" indent="-457200" algn="just">
              <a:lnSpc>
                <a:spcPct val="100000"/>
              </a:lnSpc>
              <a:spcBef>
                <a:spcPts val="500"/>
              </a:spcBef>
              <a:buFontTx/>
              <a:buAutoNum type="arabicPeriod" startAt="1"/>
              <a:defRPr sz="2400">
                <a:latin typeface="Cambria"/>
                <a:ea typeface="Cambria"/>
                <a:cs typeface="Cambria"/>
                <a:sym typeface="Cambria"/>
              </a:defRPr>
            </a:pPr>
            <a:r>
              <a:t>Continue until one node remains, which becomes the root of the Huffman Tree.</a:t>
            </a:r>
          </a:p>
        </p:txBody>
      </p:sp>
      <p:sp>
        <p:nvSpPr>
          <p:cNvPr id="118" name="Title 1"/>
          <p:cNvSpPr txBox="1"/>
          <p:nvPr>
            <p:ph type="title"/>
          </p:nvPr>
        </p:nvSpPr>
        <p:spPr>
          <a:xfrm>
            <a:off x="838200" y="365125"/>
            <a:ext cx="10515600" cy="1325563"/>
          </a:xfrm>
          <a:prstGeom prst="rect">
            <a:avLst/>
          </a:prstGeom>
        </p:spPr>
        <p:txBody>
          <a:bodyPr/>
          <a:lstStyle>
            <a:lvl1pPr>
              <a:defRPr sz="4000">
                <a:latin typeface="Cambria"/>
                <a:ea typeface="Cambria"/>
                <a:cs typeface="Cambria"/>
                <a:sym typeface="Cambria"/>
              </a:defRPr>
            </a:lvl1pPr>
          </a:lstStyle>
          <a:p>
            <a:pPr/>
            <a:r>
              <a:t>Concept: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Content Placeholder 2"/>
          <p:cNvSpPr txBox="1"/>
          <p:nvPr>
            <p:ph type="body" idx="1"/>
          </p:nvPr>
        </p:nvSpPr>
        <p:spPr>
          <a:xfrm>
            <a:off x="990599" y="1727303"/>
            <a:ext cx="9721647" cy="4351339"/>
          </a:xfrm>
          <a:prstGeom prst="rect">
            <a:avLst/>
          </a:prstGeom>
        </p:spPr>
        <p:txBody>
          <a:bodyPr/>
          <a:lstStyle/>
          <a:p>
            <a:pPr marL="0" indent="0" algn="just">
              <a:buSzTx/>
              <a:buNone/>
              <a:defRPr>
                <a:latin typeface="Cambria"/>
                <a:ea typeface="Cambria"/>
                <a:cs typeface="Cambria"/>
                <a:sym typeface="Cambria"/>
              </a:defRPr>
            </a:pPr>
            <a:r>
              <a:t>Example – Building the Tree</a:t>
            </a:r>
          </a:p>
          <a:p>
            <a:pPr marL="0" indent="0" algn="just">
              <a:buSzTx/>
              <a:buNone/>
              <a:defRPr sz="2400">
                <a:latin typeface="Cambria"/>
                <a:ea typeface="Cambria"/>
                <a:cs typeface="Cambria"/>
                <a:sym typeface="Cambria"/>
              </a:defRPr>
            </a:pPr>
          </a:p>
          <a:p>
            <a:pPr lvl="1" marL="0" indent="457200" algn="just">
              <a:lnSpc>
                <a:spcPct val="100000"/>
              </a:lnSpc>
              <a:spcBef>
                <a:spcPts val="500"/>
              </a:spcBef>
              <a:buSzTx/>
              <a:buNone/>
              <a:defRPr sz="2400">
                <a:latin typeface="Cambria"/>
                <a:ea typeface="Cambria"/>
                <a:cs typeface="Cambria"/>
                <a:sym typeface="Cambria"/>
              </a:defRPr>
            </a:pPr>
            <a:r>
              <a:t>Given Input:</a:t>
            </a:r>
          </a:p>
          <a:p>
            <a:pPr lvl="1" marL="0" indent="457200" algn="just">
              <a:lnSpc>
                <a:spcPct val="100000"/>
              </a:lnSpc>
              <a:spcBef>
                <a:spcPts val="500"/>
              </a:spcBef>
              <a:buSzTx/>
              <a:buNone/>
              <a:defRPr sz="2400">
                <a:latin typeface="Cambria"/>
                <a:ea typeface="Cambria"/>
                <a:cs typeface="Cambria"/>
                <a:sym typeface="Cambria"/>
              </a:defRPr>
            </a:pPr>
            <a:r>
              <a:t>A:5, B:9, C:12, D:13, E:16, F:45</a:t>
            </a:r>
          </a:p>
          <a:p>
            <a:pPr lvl="1" marL="0" indent="457200" algn="just">
              <a:lnSpc>
                <a:spcPct val="100000"/>
              </a:lnSpc>
              <a:spcBef>
                <a:spcPts val="500"/>
              </a:spcBef>
              <a:buSzTx/>
              <a:buNone/>
              <a:defRPr sz="2400">
                <a:latin typeface="Cambria"/>
                <a:ea typeface="Cambria"/>
                <a:cs typeface="Cambria"/>
                <a:sym typeface="Cambria"/>
              </a:defRPr>
            </a:pPr>
          </a:p>
          <a:p>
            <a:pPr lvl="1" marL="0" indent="457200" algn="just">
              <a:lnSpc>
                <a:spcPct val="100000"/>
              </a:lnSpc>
              <a:spcBef>
                <a:spcPts val="500"/>
              </a:spcBef>
              <a:buSzTx/>
              <a:buNone/>
              <a:defRPr sz="2400">
                <a:latin typeface="Cambria"/>
                <a:ea typeface="Cambria"/>
                <a:cs typeface="Cambria"/>
                <a:sym typeface="Cambria"/>
              </a:defRPr>
            </a:pPr>
            <a:r>
              <a:t>Step 1: Combine A and B → Node(14)</a:t>
            </a:r>
          </a:p>
          <a:p>
            <a:pPr lvl="1" marL="0" indent="457200" algn="just">
              <a:lnSpc>
                <a:spcPct val="100000"/>
              </a:lnSpc>
              <a:spcBef>
                <a:spcPts val="500"/>
              </a:spcBef>
              <a:buSzTx/>
              <a:buNone/>
              <a:defRPr sz="2400">
                <a:latin typeface="Cambria"/>
                <a:ea typeface="Cambria"/>
                <a:cs typeface="Cambria"/>
                <a:sym typeface="Cambria"/>
              </a:defRPr>
            </a:pPr>
            <a:r>
              <a:t>Step 2: Combine C and D → Node(25)</a:t>
            </a:r>
          </a:p>
          <a:p>
            <a:pPr lvl="1" marL="0" indent="457200" algn="just">
              <a:lnSpc>
                <a:spcPct val="100000"/>
              </a:lnSpc>
              <a:spcBef>
                <a:spcPts val="500"/>
              </a:spcBef>
              <a:buSzTx/>
              <a:buNone/>
              <a:defRPr sz="2400">
                <a:latin typeface="Cambria"/>
                <a:ea typeface="Cambria"/>
                <a:cs typeface="Cambria"/>
                <a:sym typeface="Cambria"/>
              </a:defRPr>
            </a:pPr>
            <a:r>
              <a:t>Step 3: Combine Node(14) and E → Node(30)</a:t>
            </a:r>
          </a:p>
          <a:p>
            <a:pPr lvl="1" marL="0" indent="457200" algn="just">
              <a:lnSpc>
                <a:spcPct val="100000"/>
              </a:lnSpc>
              <a:spcBef>
                <a:spcPts val="500"/>
              </a:spcBef>
              <a:buSzTx/>
              <a:buNone/>
              <a:defRPr sz="2400">
                <a:latin typeface="Cambria"/>
                <a:ea typeface="Cambria"/>
                <a:cs typeface="Cambria"/>
                <a:sym typeface="Cambria"/>
              </a:defRPr>
            </a:pPr>
            <a:r>
              <a:t>Step 4: Continue merging until one root node remains → Node(100)</a:t>
            </a:r>
          </a:p>
        </p:txBody>
      </p:sp>
      <p:sp>
        <p:nvSpPr>
          <p:cNvPr id="121" name="Title 1"/>
          <p:cNvSpPr txBox="1"/>
          <p:nvPr>
            <p:ph type="title"/>
          </p:nvPr>
        </p:nvSpPr>
        <p:spPr>
          <a:xfrm>
            <a:off x="838200" y="365125"/>
            <a:ext cx="10515600" cy="1325563"/>
          </a:xfrm>
          <a:prstGeom prst="rect">
            <a:avLst/>
          </a:prstGeom>
        </p:spPr>
        <p:txBody>
          <a:bodyPr/>
          <a:lstStyle>
            <a:lvl1pPr>
              <a:defRPr sz="4000">
                <a:latin typeface="Cambria"/>
                <a:ea typeface="Cambria"/>
                <a:cs typeface="Cambria"/>
                <a:sym typeface="Cambria"/>
              </a:defRPr>
            </a:lvl1pPr>
          </a:lstStyle>
          <a:p>
            <a:pPr/>
            <a:r>
              <a:t>Concept: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pic>
        <p:nvPicPr>
          <p:cNvPr id="124" name="Picture 5" descr="Picture 5"/>
          <p:cNvPicPr>
            <a:picLocks noChangeAspect="1"/>
          </p:cNvPicPr>
          <p:nvPr/>
        </p:nvPicPr>
        <p:blipFill>
          <a:blip r:embed="rId3">
            <a:extLst/>
          </a:blip>
          <a:stretch>
            <a:fillRect/>
          </a:stretch>
        </p:blipFill>
        <p:spPr>
          <a:xfrm>
            <a:off x="2771139" y="1814420"/>
            <a:ext cx="6649721" cy="4147821"/>
          </a:xfrm>
          <a:prstGeom prst="rect">
            <a:avLst/>
          </a:prstGeom>
          <a:ln w="12700">
            <a:miter lim="400000"/>
          </a:ln>
        </p:spPr>
      </p:pic>
      <p:sp>
        <p:nvSpPr>
          <p:cNvPr id="125" name="Title 1"/>
          <p:cNvSpPr txBox="1"/>
          <p:nvPr/>
        </p:nvSpPr>
        <p:spPr>
          <a:xfrm>
            <a:off x="883919" y="3651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Huffman Tree Visualization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28" name="Text Box 9"/>
          <p:cNvSpPr txBox="1"/>
          <p:nvPr/>
        </p:nvSpPr>
        <p:spPr>
          <a:xfrm>
            <a:off x="1264550" y="1808335"/>
            <a:ext cx="10244457" cy="3291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buSzPct val="90000"/>
              <a:buAutoNum type="arabicPeriod" startAt="1"/>
              <a:defRPr sz="2400">
                <a:latin typeface="Cambria"/>
                <a:ea typeface="Cambria"/>
                <a:cs typeface="Cambria"/>
                <a:sym typeface="Cambria"/>
              </a:defRPr>
            </a:pPr>
            <a:r>
              <a:t>Insert all characters into a priority queue with their frequencies.</a:t>
            </a:r>
          </a:p>
          <a:p>
            <a:pPr marL="457200" indent="-457200">
              <a:buSzPct val="90000"/>
              <a:buAutoNum type="arabicPeriod" startAt="1"/>
              <a:defRPr sz="2400">
                <a:latin typeface="Cambria"/>
                <a:ea typeface="Cambria"/>
                <a:cs typeface="Cambria"/>
                <a:sym typeface="Cambria"/>
              </a:defRPr>
            </a:pPr>
          </a:p>
          <a:p>
            <a:pPr marL="457200" indent="-457200">
              <a:buSzPct val="90000"/>
              <a:buAutoNum type="arabicPeriod" startAt="2"/>
              <a:defRPr sz="2400">
                <a:latin typeface="Cambria"/>
                <a:ea typeface="Cambria"/>
                <a:cs typeface="Cambria"/>
                <a:sym typeface="Cambria"/>
              </a:defRPr>
            </a:pPr>
            <a:r>
              <a:t>While more than one node exists, remove two smallest nodes and combine them.</a:t>
            </a:r>
          </a:p>
          <a:p>
            <a:pPr marL="457200" indent="-457200">
              <a:buSzPct val="90000"/>
              <a:buAutoNum type="arabicPeriod" startAt="2"/>
              <a:defRPr sz="2400">
                <a:latin typeface="Cambria"/>
                <a:ea typeface="Cambria"/>
                <a:cs typeface="Cambria"/>
                <a:sym typeface="Cambria"/>
              </a:defRPr>
            </a:pPr>
          </a:p>
          <a:p>
            <a:pPr marL="457200" indent="-457200">
              <a:buSzPct val="90000"/>
              <a:buAutoNum type="arabicPeriod" startAt="3"/>
              <a:defRPr sz="2400">
                <a:latin typeface="Cambria"/>
                <a:ea typeface="Cambria"/>
                <a:cs typeface="Cambria"/>
                <a:sym typeface="Cambria"/>
              </a:defRPr>
            </a:pPr>
            <a:r>
              <a:t>Insert the new merged node back into the queue.</a:t>
            </a:r>
          </a:p>
          <a:p>
            <a:pPr marL="457200" indent="-457200">
              <a:buSzPct val="90000"/>
              <a:buAutoNum type="arabicPeriod" startAt="3"/>
              <a:defRPr sz="2400">
                <a:latin typeface="Cambria"/>
                <a:ea typeface="Cambria"/>
                <a:cs typeface="Cambria"/>
                <a:sym typeface="Cambria"/>
              </a:defRPr>
            </a:pPr>
          </a:p>
          <a:p>
            <a:pPr marL="457200" indent="-457200">
              <a:buSzPct val="90000"/>
              <a:buAutoNum type="arabicPeriod" startAt="4"/>
              <a:defRPr sz="2400">
                <a:latin typeface="Cambria"/>
                <a:ea typeface="Cambria"/>
                <a:cs typeface="Cambria"/>
                <a:sym typeface="Cambria"/>
              </a:defRPr>
            </a:pPr>
            <a:r>
              <a:t>When one node remains, traverse the tree assigning ‘0’ for left and ‘1’ for right to generate codes.</a:t>
            </a:r>
          </a:p>
        </p:txBody>
      </p:sp>
      <p:sp>
        <p:nvSpPr>
          <p:cNvPr id="129" name="Title 1"/>
          <p:cNvSpPr txBox="1"/>
          <p:nvPr/>
        </p:nvSpPr>
        <p:spPr>
          <a:xfrm>
            <a:off x="883919" y="3651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Algorithm / Pseudocode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Content Placeholder 2"/>
          <p:cNvSpPr txBox="1"/>
          <p:nvPr>
            <p:ph type="body" idx="1"/>
          </p:nvPr>
        </p:nvSpPr>
        <p:spPr>
          <a:xfrm>
            <a:off x="1229897" y="1523539"/>
            <a:ext cx="10515601" cy="4351338"/>
          </a:xfrm>
          <a:prstGeom prst="rect">
            <a:avLst/>
          </a:prstGeom>
        </p:spPr>
        <p:txBody>
          <a:bodyPr/>
          <a:lstStyle/>
          <a:p>
            <a:pPr marL="0" indent="0" defTabSz="594359">
              <a:spcBef>
                <a:spcPts val="600"/>
              </a:spcBef>
              <a:buSzTx/>
              <a:buNone/>
              <a:defRPr sz="1560">
                <a:latin typeface="Cambria"/>
                <a:ea typeface="Cambria"/>
                <a:cs typeface="Cambria"/>
                <a:sym typeface="Cambria"/>
              </a:defRPr>
            </a:pPr>
            <a:r>
              <a:t>import java.util.PriorityQueue;</a:t>
            </a:r>
          </a:p>
          <a:p>
            <a:pPr marL="0" indent="0" defTabSz="594359">
              <a:spcBef>
                <a:spcPts val="600"/>
              </a:spcBef>
              <a:buSzTx/>
              <a:buNone/>
              <a:defRPr sz="1560">
                <a:latin typeface="Cambria"/>
                <a:ea typeface="Cambria"/>
                <a:cs typeface="Cambria"/>
                <a:sym typeface="Cambria"/>
              </a:defRPr>
            </a:pPr>
          </a:p>
          <a:p>
            <a:pPr marL="0" indent="0" defTabSz="594359">
              <a:spcBef>
                <a:spcPts val="600"/>
              </a:spcBef>
              <a:buSzTx/>
              <a:buNone/>
              <a:defRPr sz="1560">
                <a:latin typeface="Cambria"/>
                <a:ea typeface="Cambria"/>
                <a:cs typeface="Cambria"/>
                <a:sym typeface="Cambria"/>
              </a:defRPr>
            </a:pPr>
            <a:r>
              <a:t>class Node {</a:t>
            </a:r>
          </a:p>
          <a:p>
            <a:pPr marL="0" indent="0" defTabSz="594359">
              <a:spcBef>
                <a:spcPts val="600"/>
              </a:spcBef>
              <a:buSzTx/>
              <a:buNone/>
              <a:defRPr sz="1560">
                <a:latin typeface="Cambria"/>
                <a:ea typeface="Cambria"/>
                <a:cs typeface="Cambria"/>
                <a:sym typeface="Cambria"/>
              </a:defRPr>
            </a:pPr>
            <a:r>
              <a:t>    char ch;</a:t>
            </a:r>
          </a:p>
          <a:p>
            <a:pPr marL="0" indent="0" defTabSz="594359">
              <a:spcBef>
                <a:spcPts val="600"/>
              </a:spcBef>
              <a:buSzTx/>
              <a:buNone/>
              <a:defRPr sz="1560">
                <a:latin typeface="Cambria"/>
                <a:ea typeface="Cambria"/>
                <a:cs typeface="Cambria"/>
                <a:sym typeface="Cambria"/>
              </a:defRPr>
            </a:pPr>
            <a:r>
              <a:t>    int freq;</a:t>
            </a:r>
          </a:p>
          <a:p>
            <a:pPr marL="0" indent="0" defTabSz="594359">
              <a:spcBef>
                <a:spcPts val="600"/>
              </a:spcBef>
              <a:buSzTx/>
              <a:buNone/>
              <a:defRPr sz="1560">
                <a:latin typeface="Cambria"/>
                <a:ea typeface="Cambria"/>
                <a:cs typeface="Cambria"/>
                <a:sym typeface="Cambria"/>
              </a:defRPr>
            </a:pPr>
            <a:r>
              <a:t>    Node left, right;</a:t>
            </a:r>
          </a:p>
          <a:p>
            <a:pPr marL="0" indent="0" defTabSz="594359">
              <a:spcBef>
                <a:spcPts val="600"/>
              </a:spcBef>
              <a:buSzTx/>
              <a:buNone/>
              <a:defRPr sz="1560">
                <a:latin typeface="Cambria"/>
                <a:ea typeface="Cambria"/>
                <a:cs typeface="Cambria"/>
                <a:sym typeface="Cambria"/>
              </a:defRPr>
            </a:pPr>
          </a:p>
          <a:p>
            <a:pPr marL="0" indent="0" defTabSz="594359">
              <a:spcBef>
                <a:spcPts val="600"/>
              </a:spcBef>
              <a:buSzTx/>
              <a:buNone/>
              <a:defRPr sz="1560">
                <a:latin typeface="Cambria"/>
                <a:ea typeface="Cambria"/>
                <a:cs typeface="Cambria"/>
                <a:sym typeface="Cambria"/>
              </a:defRPr>
            </a:pPr>
            <a:r>
              <a:t>    Node(char ch, int freq) {</a:t>
            </a:r>
          </a:p>
          <a:p>
            <a:pPr marL="0" indent="0" defTabSz="594359">
              <a:spcBef>
                <a:spcPts val="600"/>
              </a:spcBef>
              <a:buSzTx/>
              <a:buNone/>
              <a:defRPr sz="1560">
                <a:latin typeface="Cambria"/>
                <a:ea typeface="Cambria"/>
                <a:cs typeface="Cambria"/>
                <a:sym typeface="Cambria"/>
              </a:defRPr>
            </a:pPr>
            <a:r>
              <a:t>        this.ch = ch;</a:t>
            </a:r>
          </a:p>
          <a:p>
            <a:pPr marL="0" indent="0" defTabSz="594359">
              <a:spcBef>
                <a:spcPts val="600"/>
              </a:spcBef>
              <a:buSzTx/>
              <a:buNone/>
              <a:defRPr sz="1560">
                <a:latin typeface="Cambria"/>
                <a:ea typeface="Cambria"/>
                <a:cs typeface="Cambria"/>
                <a:sym typeface="Cambria"/>
              </a:defRPr>
            </a:pPr>
            <a:r>
              <a:t>        this.freq = freq;</a:t>
            </a:r>
          </a:p>
          <a:p>
            <a:pPr marL="0" indent="0" defTabSz="594359">
              <a:spcBef>
                <a:spcPts val="600"/>
              </a:spcBef>
              <a:buSzTx/>
              <a:buNone/>
              <a:defRPr sz="1560">
                <a:latin typeface="Cambria"/>
                <a:ea typeface="Cambria"/>
                <a:cs typeface="Cambria"/>
                <a:sym typeface="Cambria"/>
              </a:defRPr>
            </a:pPr>
            <a:r>
              <a:t>        this.left = null;</a:t>
            </a:r>
          </a:p>
          <a:p>
            <a:pPr marL="0" indent="0" defTabSz="594359">
              <a:spcBef>
                <a:spcPts val="600"/>
              </a:spcBef>
              <a:buSzTx/>
              <a:buNone/>
              <a:defRPr sz="1560">
                <a:latin typeface="Cambria"/>
                <a:ea typeface="Cambria"/>
                <a:cs typeface="Cambria"/>
                <a:sym typeface="Cambria"/>
              </a:defRPr>
            </a:pPr>
            <a:r>
              <a:t>        this.right = null;</a:t>
            </a:r>
          </a:p>
          <a:p>
            <a:pPr marL="0" indent="0" defTabSz="594359">
              <a:spcBef>
                <a:spcPts val="600"/>
              </a:spcBef>
              <a:buSzTx/>
              <a:buNone/>
              <a:defRPr sz="1560">
                <a:latin typeface="Cambria"/>
                <a:ea typeface="Cambria"/>
                <a:cs typeface="Cambria"/>
                <a:sym typeface="Cambria"/>
              </a:defRPr>
            </a:pPr>
            <a:r>
              <a:t>    }</a:t>
            </a:r>
          </a:p>
          <a:p>
            <a:pPr marL="0" indent="0" defTabSz="594359">
              <a:spcBef>
                <a:spcPts val="600"/>
              </a:spcBef>
              <a:buSzTx/>
              <a:buNone/>
              <a:defRPr sz="1560">
                <a:latin typeface="Cambria"/>
                <a:ea typeface="Cambria"/>
                <a:cs typeface="Cambria"/>
                <a:sym typeface="Cambria"/>
              </a:defRPr>
            </a:pPr>
            <a:r>
              <a:t>}</a:t>
            </a:r>
          </a:p>
        </p:txBody>
      </p:sp>
      <p:sp>
        <p:nvSpPr>
          <p:cNvPr id="132"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33" name="Title 1"/>
          <p:cNvSpPr txBox="1"/>
          <p:nvPr/>
        </p:nvSpPr>
        <p:spPr>
          <a:xfrm>
            <a:off x="883919" y="3651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Code Implementation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Content Placeholder 2"/>
          <p:cNvSpPr txBox="1"/>
          <p:nvPr>
            <p:ph type="body" idx="1"/>
          </p:nvPr>
        </p:nvSpPr>
        <p:spPr>
          <a:xfrm>
            <a:off x="1184767" y="1085373"/>
            <a:ext cx="10515601" cy="4351338"/>
          </a:xfrm>
          <a:prstGeom prst="rect">
            <a:avLst/>
          </a:prstGeom>
        </p:spPr>
        <p:txBody>
          <a:bodyPr/>
          <a:lstStyle/>
          <a:p>
            <a:pPr marL="0" indent="0" defTabSz="612648">
              <a:spcBef>
                <a:spcPts val="600"/>
              </a:spcBef>
              <a:buSzTx/>
              <a:buNone/>
              <a:defRPr sz="1608">
                <a:latin typeface="Cambria"/>
                <a:ea typeface="Cambria"/>
                <a:cs typeface="Cambria"/>
                <a:sym typeface="Cambria"/>
              </a:defRPr>
            </a:pPr>
            <a:r>
              <a:t>class HuffmanCoding {</a:t>
            </a:r>
          </a:p>
          <a:p>
            <a:pPr marL="0" indent="0" defTabSz="612648">
              <a:spcBef>
                <a:spcPts val="600"/>
              </a:spcBef>
              <a:buSzTx/>
              <a:buNone/>
              <a:defRPr sz="1608">
                <a:latin typeface="Cambria"/>
                <a:ea typeface="Cambria"/>
                <a:cs typeface="Cambria"/>
                <a:sym typeface="Cambria"/>
              </a:defRPr>
            </a:pPr>
            <a:r>
              <a:t>    // Print Huffman Codes from the root of Huffman Tree</a:t>
            </a:r>
          </a:p>
          <a:p>
            <a:pPr marL="0" indent="0" defTabSz="612648">
              <a:spcBef>
                <a:spcPts val="600"/>
              </a:spcBef>
              <a:buSzTx/>
              <a:buNone/>
              <a:defRPr sz="1608">
                <a:latin typeface="Cambria"/>
                <a:ea typeface="Cambria"/>
                <a:cs typeface="Cambria"/>
                <a:sym typeface="Cambria"/>
              </a:defRPr>
            </a:pPr>
            <a:r>
              <a:t>    static void printCodes(Node root, String s) {</a:t>
            </a:r>
          </a:p>
          <a:p>
            <a:pPr marL="0" indent="0" defTabSz="612648">
              <a:spcBef>
                <a:spcPts val="600"/>
              </a:spcBef>
              <a:buSzTx/>
              <a:buNone/>
              <a:defRPr sz="1608">
                <a:latin typeface="Cambria"/>
                <a:ea typeface="Cambria"/>
                <a:cs typeface="Cambria"/>
                <a:sym typeface="Cambria"/>
              </a:defRPr>
            </a:pPr>
            <a:r>
              <a:t>        if (root == null) return;</a:t>
            </a:r>
          </a:p>
          <a:p>
            <a:pPr marL="0" indent="0" defTabSz="612648">
              <a:spcBef>
                <a:spcPts val="600"/>
              </a:spcBef>
              <a:buSzTx/>
              <a:buNone/>
              <a:defRPr sz="1608">
                <a:latin typeface="Cambria"/>
                <a:ea typeface="Cambria"/>
                <a:cs typeface="Cambria"/>
                <a:sym typeface="Cambria"/>
              </a:defRPr>
            </a:pPr>
          </a:p>
          <a:p>
            <a:pPr marL="0" indent="0" defTabSz="612648">
              <a:spcBef>
                <a:spcPts val="600"/>
              </a:spcBef>
              <a:buSzTx/>
              <a:buNone/>
              <a:defRPr sz="1608">
                <a:latin typeface="Cambria"/>
                <a:ea typeface="Cambria"/>
                <a:cs typeface="Cambria"/>
                <a:sym typeface="Cambria"/>
              </a:defRPr>
            </a:pPr>
            <a:r>
              <a:t>        // If it's a leaf node, print the character and its code</a:t>
            </a:r>
          </a:p>
          <a:p>
            <a:pPr marL="0" indent="0" defTabSz="612648">
              <a:spcBef>
                <a:spcPts val="600"/>
              </a:spcBef>
              <a:buSzTx/>
              <a:buNone/>
              <a:defRPr sz="1608">
                <a:latin typeface="Cambria"/>
                <a:ea typeface="Cambria"/>
                <a:cs typeface="Cambria"/>
                <a:sym typeface="Cambria"/>
              </a:defRPr>
            </a:pPr>
            <a:r>
              <a:t>        if (root.left == null &amp;&amp; root.right == null) {</a:t>
            </a:r>
          </a:p>
          <a:p>
            <a:pPr marL="0" indent="0" defTabSz="612648">
              <a:spcBef>
                <a:spcPts val="600"/>
              </a:spcBef>
              <a:buSzTx/>
              <a:buNone/>
              <a:defRPr sz="1608">
                <a:latin typeface="Cambria"/>
                <a:ea typeface="Cambria"/>
                <a:cs typeface="Cambria"/>
                <a:sym typeface="Cambria"/>
              </a:defRPr>
            </a:pPr>
            <a:r>
              <a:t>            System.out.println(root.ch + ": " + s);</a:t>
            </a:r>
          </a:p>
          <a:p>
            <a:pPr marL="0" indent="0" defTabSz="612648">
              <a:spcBef>
                <a:spcPts val="600"/>
              </a:spcBef>
              <a:buSzTx/>
              <a:buNone/>
              <a:defRPr sz="1608">
                <a:latin typeface="Cambria"/>
                <a:ea typeface="Cambria"/>
                <a:cs typeface="Cambria"/>
                <a:sym typeface="Cambria"/>
              </a:defRPr>
            </a:pPr>
            <a:r>
              <a:t>            return;</a:t>
            </a:r>
          </a:p>
          <a:p>
            <a:pPr marL="0" indent="0" defTabSz="612648">
              <a:spcBef>
                <a:spcPts val="600"/>
              </a:spcBef>
              <a:buSzTx/>
              <a:buNone/>
              <a:defRPr sz="1608">
                <a:latin typeface="Cambria"/>
                <a:ea typeface="Cambria"/>
                <a:cs typeface="Cambria"/>
                <a:sym typeface="Cambria"/>
              </a:defRPr>
            </a:pPr>
            <a:r>
              <a:t>        }</a:t>
            </a:r>
          </a:p>
          <a:p>
            <a:pPr marL="0" indent="0" defTabSz="612648">
              <a:spcBef>
                <a:spcPts val="600"/>
              </a:spcBef>
              <a:buSzTx/>
              <a:buNone/>
              <a:defRPr sz="1608">
                <a:latin typeface="Cambria"/>
                <a:ea typeface="Cambria"/>
                <a:cs typeface="Cambria"/>
                <a:sym typeface="Cambria"/>
              </a:defRPr>
            </a:pPr>
          </a:p>
          <a:p>
            <a:pPr marL="0" indent="0" defTabSz="612648">
              <a:spcBef>
                <a:spcPts val="600"/>
              </a:spcBef>
              <a:buSzTx/>
              <a:buNone/>
              <a:defRPr sz="1608">
                <a:latin typeface="Cambria"/>
                <a:ea typeface="Cambria"/>
                <a:cs typeface="Cambria"/>
                <a:sym typeface="Cambria"/>
              </a:defRPr>
            </a:pPr>
            <a:r>
              <a:t>        printCodes(root.left, s + "0");</a:t>
            </a:r>
          </a:p>
          <a:p>
            <a:pPr marL="0" indent="0" defTabSz="612648">
              <a:spcBef>
                <a:spcPts val="600"/>
              </a:spcBef>
              <a:buSzTx/>
              <a:buNone/>
              <a:defRPr sz="1608">
                <a:latin typeface="Cambria"/>
                <a:ea typeface="Cambria"/>
                <a:cs typeface="Cambria"/>
                <a:sym typeface="Cambria"/>
              </a:defRPr>
            </a:pPr>
            <a:r>
              <a:t>        printCodes(root.right, s + "1");</a:t>
            </a:r>
          </a:p>
          <a:p>
            <a:pPr marL="0" indent="0" defTabSz="612648">
              <a:spcBef>
                <a:spcPts val="600"/>
              </a:spcBef>
              <a:buSzTx/>
              <a:buNone/>
              <a:defRPr sz="1608">
                <a:latin typeface="Cambria"/>
                <a:ea typeface="Cambria"/>
                <a:cs typeface="Cambria"/>
                <a:sym typeface="Cambria"/>
              </a:defRPr>
            </a:pPr>
            <a:r>
              <a:t>    }</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Content Placeholder 2"/>
          <p:cNvSpPr txBox="1"/>
          <p:nvPr>
            <p:ph type="body" idx="1"/>
          </p:nvPr>
        </p:nvSpPr>
        <p:spPr>
          <a:xfrm>
            <a:off x="1184767" y="1085373"/>
            <a:ext cx="10515601" cy="4351338"/>
          </a:xfrm>
          <a:prstGeom prst="rect">
            <a:avLst/>
          </a:prstGeom>
        </p:spPr>
        <p:txBody>
          <a:bodyPr/>
          <a:lstStyle/>
          <a:p>
            <a:pPr marL="0" indent="0" defTabSz="667512">
              <a:spcBef>
                <a:spcPts val="700"/>
              </a:spcBef>
              <a:buSzTx/>
              <a:buNone/>
              <a:defRPr sz="1752">
                <a:latin typeface="Cambria"/>
                <a:ea typeface="Cambria"/>
                <a:cs typeface="Cambria"/>
                <a:sym typeface="Cambria"/>
              </a:defRPr>
            </a:pPr>
            <a:r>
              <a:t>public static void main(String[] args) {</a:t>
            </a:r>
          </a:p>
          <a:p>
            <a:pPr marL="0" indent="0" defTabSz="667512">
              <a:spcBef>
                <a:spcPts val="700"/>
              </a:spcBef>
              <a:buSzTx/>
              <a:buNone/>
              <a:defRPr sz="1752">
                <a:latin typeface="Cambria"/>
                <a:ea typeface="Cambria"/>
                <a:cs typeface="Cambria"/>
                <a:sym typeface="Cambria"/>
              </a:defRPr>
            </a:pPr>
            <a:r>
              <a:t>        char[] chars = {'A', 'B', 'C', 'D', 'E', 'F'};</a:t>
            </a:r>
          </a:p>
          <a:p>
            <a:pPr marL="0" indent="0" defTabSz="667512">
              <a:spcBef>
                <a:spcPts val="700"/>
              </a:spcBef>
              <a:buSzTx/>
              <a:buNone/>
              <a:defRPr sz="1752">
                <a:latin typeface="Cambria"/>
                <a:ea typeface="Cambria"/>
                <a:cs typeface="Cambria"/>
                <a:sym typeface="Cambria"/>
              </a:defRPr>
            </a:pPr>
            <a:r>
              <a:t>        int[] freq = {5, 9, 12, 13, 16, 45};</a:t>
            </a:r>
          </a:p>
          <a:p>
            <a:pPr marL="0" indent="0" defTabSz="667512">
              <a:spcBef>
                <a:spcPts val="700"/>
              </a:spcBef>
              <a:buSzTx/>
              <a:buNone/>
              <a:defRPr sz="1752">
                <a:latin typeface="Cambria"/>
                <a:ea typeface="Cambria"/>
                <a:cs typeface="Cambria"/>
                <a:sym typeface="Cambria"/>
              </a:defRPr>
            </a:pPr>
          </a:p>
          <a:p>
            <a:pPr marL="0" indent="0" defTabSz="667512">
              <a:spcBef>
                <a:spcPts val="700"/>
              </a:spcBef>
              <a:buSzTx/>
              <a:buNone/>
              <a:defRPr sz="1752">
                <a:latin typeface="Cambria"/>
                <a:ea typeface="Cambria"/>
                <a:cs typeface="Cambria"/>
                <a:sym typeface="Cambria"/>
              </a:defRPr>
            </a:pPr>
            <a:r>
              <a:t>        // Create a priority queue (min-heap) based on frequency</a:t>
            </a:r>
          </a:p>
          <a:p>
            <a:pPr marL="0" indent="0" defTabSz="667512">
              <a:spcBef>
                <a:spcPts val="700"/>
              </a:spcBef>
              <a:buSzTx/>
              <a:buNone/>
              <a:defRPr sz="1752">
                <a:latin typeface="Cambria"/>
                <a:ea typeface="Cambria"/>
                <a:cs typeface="Cambria"/>
                <a:sym typeface="Cambria"/>
              </a:defRPr>
            </a:pPr>
            <a:r>
              <a:t>        PriorityQueue&lt;Node&gt; pq = new PriorityQueue&lt;&gt;((a, b) -&gt; a.freq - b.freq);</a:t>
            </a:r>
          </a:p>
          <a:p>
            <a:pPr marL="0" indent="0" defTabSz="667512">
              <a:spcBef>
                <a:spcPts val="700"/>
              </a:spcBef>
              <a:buSzTx/>
              <a:buNone/>
              <a:defRPr sz="1752">
                <a:latin typeface="Cambria"/>
                <a:ea typeface="Cambria"/>
                <a:cs typeface="Cambria"/>
                <a:sym typeface="Cambria"/>
              </a:defRPr>
            </a:pPr>
          </a:p>
          <a:p>
            <a:pPr marL="0" indent="0" defTabSz="667512">
              <a:spcBef>
                <a:spcPts val="700"/>
              </a:spcBef>
              <a:buSzTx/>
              <a:buNone/>
              <a:defRPr sz="1752">
                <a:latin typeface="Cambria"/>
                <a:ea typeface="Cambria"/>
                <a:cs typeface="Cambria"/>
                <a:sym typeface="Cambria"/>
              </a:defRPr>
            </a:pPr>
            <a:r>
              <a:t>        // Create leaf nodes for each character and add to the queue</a:t>
            </a:r>
          </a:p>
          <a:p>
            <a:pPr marL="0" indent="0" defTabSz="667512">
              <a:spcBef>
                <a:spcPts val="700"/>
              </a:spcBef>
              <a:buSzTx/>
              <a:buNone/>
              <a:defRPr sz="1752">
                <a:latin typeface="Cambria"/>
                <a:ea typeface="Cambria"/>
                <a:cs typeface="Cambria"/>
                <a:sym typeface="Cambria"/>
              </a:defRPr>
            </a:pPr>
            <a:r>
              <a:t>        for (int i = 0; i &lt; chars.length; i++) {</a:t>
            </a:r>
          </a:p>
          <a:p>
            <a:pPr marL="0" indent="0" defTabSz="667512">
              <a:spcBef>
                <a:spcPts val="700"/>
              </a:spcBef>
              <a:buSzTx/>
              <a:buNone/>
              <a:defRPr sz="1752">
                <a:latin typeface="Cambria"/>
                <a:ea typeface="Cambria"/>
                <a:cs typeface="Cambria"/>
                <a:sym typeface="Cambria"/>
              </a:defRPr>
            </a:pPr>
            <a:r>
              <a:t>            pq.add(new Node(chars[i], freq[i]));</a:t>
            </a:r>
          </a:p>
          <a:p>
            <a:pPr marL="0" indent="0" defTabSz="667512">
              <a:spcBef>
                <a:spcPts val="700"/>
              </a:spcBef>
              <a:buSzTx/>
              <a:buNone/>
              <a:defRPr sz="1752">
                <a:latin typeface="Cambria"/>
                <a:ea typeface="Cambria"/>
                <a:cs typeface="Cambria"/>
                <a:sym typeface="Cambria"/>
              </a:defRPr>
            </a:pPr>
            <a:r>
              <a:t>        }</a:t>
            </a:r>
          </a:p>
          <a:p>
            <a:pPr marL="0" indent="0" defTabSz="667512">
              <a:spcBef>
                <a:spcPts val="700"/>
              </a:spcBef>
              <a:buSzTx/>
              <a:buNone/>
              <a:defRPr sz="1752">
                <a:latin typeface="Cambria"/>
                <a:ea typeface="Cambria"/>
                <a:cs typeface="Cambria"/>
                <a:sym typeface="Cambria"/>
              </a:defRPr>
            </a:pPr>
          </a:p>
          <a:p>
            <a:pPr marL="0" indent="0" defTabSz="667512">
              <a:spcBef>
                <a:spcPts val="700"/>
              </a:spcBef>
              <a:buSzTx/>
              <a:buNone/>
              <a:defRPr sz="1752">
                <a:latin typeface="Cambria"/>
                <a:ea typeface="Cambria"/>
                <a:cs typeface="Cambria"/>
                <a:sym typeface="Cambria"/>
              </a:defRPr>
            </a:pPr>
            <a:r>
              <a:t>       </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Content Placeholder 2"/>
          <p:cNvSpPr txBox="1"/>
          <p:nvPr>
            <p:ph type="body" idx="1"/>
          </p:nvPr>
        </p:nvSpPr>
        <p:spPr>
          <a:xfrm>
            <a:off x="813885" y="541081"/>
            <a:ext cx="10886483" cy="5775838"/>
          </a:xfrm>
          <a:prstGeom prst="rect">
            <a:avLst/>
          </a:prstGeom>
        </p:spPr>
        <p:txBody>
          <a:bodyPr/>
          <a:lstStyle/>
          <a:p>
            <a:pPr marL="0" indent="0" defTabSz="658368">
              <a:spcBef>
                <a:spcPts val="700"/>
              </a:spcBef>
              <a:buSzTx/>
              <a:buNone/>
              <a:defRPr sz="1728">
                <a:latin typeface="Cambria"/>
                <a:ea typeface="Cambria"/>
                <a:cs typeface="Cambria"/>
                <a:sym typeface="Cambria"/>
              </a:defRPr>
            </a:pPr>
            <a:r>
              <a:t>while (pq.size() &gt; 1) {</a:t>
            </a:r>
          </a:p>
          <a:p>
            <a:pPr marL="0" indent="0" defTabSz="658368">
              <a:spcBef>
                <a:spcPts val="700"/>
              </a:spcBef>
              <a:buSzTx/>
              <a:buNone/>
              <a:defRPr sz="1728">
                <a:latin typeface="Cambria"/>
                <a:ea typeface="Cambria"/>
                <a:cs typeface="Cambria"/>
                <a:sym typeface="Cambria"/>
              </a:defRPr>
            </a:pPr>
            <a:r>
              <a:t>            // Extract the two nodes with minimum frequency</a:t>
            </a:r>
          </a:p>
          <a:p>
            <a:pPr marL="0" indent="0" defTabSz="658368">
              <a:spcBef>
                <a:spcPts val="700"/>
              </a:spcBef>
              <a:buSzTx/>
              <a:buNone/>
              <a:defRPr sz="1728">
                <a:latin typeface="Cambria"/>
                <a:ea typeface="Cambria"/>
                <a:cs typeface="Cambria"/>
                <a:sym typeface="Cambria"/>
              </a:defRPr>
            </a:pPr>
            <a:r>
              <a:t>            Node left = pq.poll();</a:t>
            </a:r>
          </a:p>
          <a:p>
            <a:pPr marL="0" indent="0" defTabSz="658368">
              <a:spcBef>
                <a:spcPts val="700"/>
              </a:spcBef>
              <a:buSzTx/>
              <a:buNone/>
              <a:defRPr sz="1728">
                <a:latin typeface="Cambria"/>
                <a:ea typeface="Cambria"/>
                <a:cs typeface="Cambria"/>
                <a:sym typeface="Cambria"/>
              </a:defRPr>
            </a:pPr>
            <a:r>
              <a:t>            Node right = pq.poll();</a:t>
            </a:r>
          </a:p>
          <a:p>
            <a:pPr marL="0" indent="0" defTabSz="658368">
              <a:spcBef>
                <a:spcPts val="700"/>
              </a:spcBef>
              <a:buSzTx/>
              <a:buNone/>
              <a:defRPr sz="1728">
                <a:latin typeface="Cambria"/>
                <a:ea typeface="Cambria"/>
                <a:cs typeface="Cambria"/>
                <a:sym typeface="Cambria"/>
              </a:defRPr>
            </a:pPr>
          </a:p>
          <a:p>
            <a:pPr marL="0" indent="0" defTabSz="658368">
              <a:spcBef>
                <a:spcPts val="700"/>
              </a:spcBef>
              <a:buSzTx/>
              <a:buNone/>
              <a:defRPr sz="1728">
                <a:latin typeface="Cambria"/>
                <a:ea typeface="Cambria"/>
                <a:cs typeface="Cambria"/>
                <a:sym typeface="Cambria"/>
              </a:defRPr>
            </a:pPr>
            <a:r>
              <a:t>            // Create a new internal node with a combined frequency</a:t>
            </a:r>
          </a:p>
          <a:p>
            <a:pPr marL="0" indent="0" defTabSz="658368">
              <a:spcBef>
                <a:spcPts val="700"/>
              </a:spcBef>
              <a:buSzTx/>
              <a:buNone/>
              <a:defRPr sz="1728">
                <a:latin typeface="Cambria"/>
                <a:ea typeface="Cambria"/>
                <a:cs typeface="Cambria"/>
                <a:sym typeface="Cambria"/>
              </a:defRPr>
            </a:pPr>
            <a:r>
              <a:t>            Node sum = new Node('$', left.freq + right.freq);</a:t>
            </a:r>
          </a:p>
          <a:p>
            <a:pPr marL="0" indent="0" defTabSz="658368">
              <a:spcBef>
                <a:spcPts val="700"/>
              </a:spcBef>
              <a:buSzTx/>
              <a:buNone/>
              <a:defRPr sz="1728">
                <a:latin typeface="Cambria"/>
                <a:ea typeface="Cambria"/>
                <a:cs typeface="Cambria"/>
                <a:sym typeface="Cambria"/>
              </a:defRPr>
            </a:pPr>
            <a:r>
              <a:t>            sum.left = left;</a:t>
            </a:r>
          </a:p>
          <a:p>
            <a:pPr marL="0" indent="0" defTabSz="658368">
              <a:spcBef>
                <a:spcPts val="700"/>
              </a:spcBef>
              <a:buSzTx/>
              <a:buNone/>
              <a:defRPr sz="1728">
                <a:latin typeface="Cambria"/>
                <a:ea typeface="Cambria"/>
                <a:cs typeface="Cambria"/>
                <a:sym typeface="Cambria"/>
              </a:defRPr>
            </a:pPr>
            <a:r>
              <a:t>            sum.right = right;</a:t>
            </a:r>
          </a:p>
          <a:p>
            <a:pPr marL="0" indent="0" defTabSz="658368">
              <a:spcBef>
                <a:spcPts val="700"/>
              </a:spcBef>
              <a:buSzTx/>
              <a:buNone/>
              <a:defRPr sz="1728">
                <a:latin typeface="Cambria"/>
                <a:ea typeface="Cambria"/>
                <a:cs typeface="Cambria"/>
                <a:sym typeface="Cambria"/>
              </a:defRPr>
            </a:pPr>
          </a:p>
          <a:p>
            <a:pPr marL="0" indent="0" defTabSz="658368">
              <a:spcBef>
                <a:spcPts val="700"/>
              </a:spcBef>
              <a:buSzTx/>
              <a:buNone/>
              <a:defRPr sz="1728">
                <a:latin typeface="Cambria"/>
                <a:ea typeface="Cambria"/>
                <a:cs typeface="Cambria"/>
                <a:sym typeface="Cambria"/>
              </a:defRPr>
            </a:pPr>
            <a:r>
              <a:t>            // Add the new node to the priority queue</a:t>
            </a:r>
          </a:p>
          <a:p>
            <a:pPr marL="0" indent="0" defTabSz="658368">
              <a:spcBef>
                <a:spcPts val="700"/>
              </a:spcBef>
              <a:buSzTx/>
              <a:buNone/>
              <a:defRPr sz="1728">
                <a:latin typeface="Cambria"/>
                <a:ea typeface="Cambria"/>
                <a:cs typeface="Cambria"/>
                <a:sym typeface="Cambria"/>
              </a:defRPr>
            </a:pPr>
            <a:r>
              <a:t>            pq.add(sum);</a:t>
            </a:r>
          </a:p>
          <a:p>
            <a:pPr marL="0" indent="0" defTabSz="658368">
              <a:spcBef>
                <a:spcPts val="700"/>
              </a:spcBef>
              <a:buSzTx/>
              <a:buNone/>
              <a:defRPr sz="1728">
                <a:latin typeface="Cambria"/>
                <a:ea typeface="Cambria"/>
                <a:cs typeface="Cambria"/>
                <a:sym typeface="Cambria"/>
              </a:defRPr>
            </a:pPr>
            <a:r>
              <a:t>        }</a:t>
            </a:r>
          </a:p>
          <a:p>
            <a:pPr marL="0" indent="0" defTabSz="658368">
              <a:spcBef>
                <a:spcPts val="700"/>
              </a:spcBef>
              <a:buSzTx/>
              <a:buNone/>
              <a:defRPr sz="1728">
                <a:latin typeface="Cambria"/>
                <a:ea typeface="Cambria"/>
                <a:cs typeface="Cambria"/>
                <a:sym typeface="Cambria"/>
              </a:defRPr>
            </a:pPr>
          </a:p>
          <a:p>
            <a:pPr marL="0" indent="0" defTabSz="658368">
              <a:spcBef>
                <a:spcPts val="700"/>
              </a:spcBef>
              <a:buSzTx/>
              <a:buNone/>
              <a:defRPr sz="1728">
                <a:latin typeface="Cambria"/>
                <a:ea typeface="Cambria"/>
                <a:cs typeface="Cambria"/>
                <a:sym typeface="Cambria"/>
              </a:defRPr>
            </a:pPr>
            <a:r>
              <a:t>        // Print the Huffman codes</a:t>
            </a:r>
          </a:p>
          <a:p>
            <a:pPr marL="0" indent="0" defTabSz="658368">
              <a:spcBef>
                <a:spcPts val="700"/>
              </a:spcBef>
              <a:buSzTx/>
              <a:buNone/>
              <a:defRPr sz="1728">
                <a:latin typeface="Cambria"/>
                <a:ea typeface="Cambria"/>
                <a:cs typeface="Cambria"/>
                <a:sym typeface="Cambria"/>
              </a:defRPr>
            </a:pPr>
            <a:r>
              <a:t>        printCodes(pq.peek(), "");</a:t>
            </a:r>
          </a:p>
          <a:p>
            <a:pPr marL="0" indent="0" defTabSz="658368">
              <a:spcBef>
                <a:spcPts val="700"/>
              </a:spcBef>
              <a:buSzTx/>
              <a:buNone/>
              <a:defRPr sz="1728">
                <a:latin typeface="Cambria"/>
                <a:ea typeface="Cambria"/>
                <a:cs typeface="Cambria"/>
                <a:sym typeface="Cambria"/>
              </a:defRPr>
            </a:pPr>
            <a:r>
              <a:t>    }</a:t>
            </a:r>
          </a:p>
          <a:p>
            <a:pPr marL="0" indent="0" defTabSz="658368">
              <a:spcBef>
                <a:spcPts val="700"/>
              </a:spcBef>
              <a:buSzTx/>
              <a:buNone/>
              <a:defRPr sz="1728">
                <a:latin typeface="Cambria"/>
                <a:ea typeface="Cambria"/>
                <a:cs typeface="Cambria"/>
                <a:sym typeface="Cambria"/>
              </a:defRPr>
            </a:pPr>
            <a:r>
              <a:t>}</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42" name="Title 1"/>
          <p:cNvSpPr txBox="1"/>
          <p:nvPr/>
        </p:nvSpPr>
        <p:spPr>
          <a:xfrm>
            <a:off x="883919" y="3651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Output</a:t>
            </a:r>
          </a:p>
        </p:txBody>
      </p:sp>
      <p:sp>
        <p:nvSpPr>
          <p:cNvPr id="143" name="Text Box 3"/>
          <p:cNvSpPr txBox="1"/>
          <p:nvPr/>
        </p:nvSpPr>
        <p:spPr>
          <a:xfrm>
            <a:off x="2762639" y="1888200"/>
            <a:ext cx="5077113" cy="293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latin typeface="Cambria"/>
                <a:ea typeface="Cambria"/>
                <a:cs typeface="Cambria"/>
                <a:sym typeface="Cambria"/>
              </a:defRPr>
            </a:pPr>
            <a:r>
              <a:t>Output (for given input):</a:t>
            </a:r>
          </a:p>
          <a:p>
            <a:pPr>
              <a:defRPr sz="2400">
                <a:latin typeface="Cambria"/>
                <a:ea typeface="Cambria"/>
                <a:cs typeface="Cambria"/>
                <a:sym typeface="Cambria"/>
              </a:defRPr>
            </a:pPr>
            <a:r>
              <a:t>F: 0  </a:t>
            </a:r>
          </a:p>
          <a:p>
            <a:pPr>
              <a:defRPr sz="2400">
                <a:latin typeface="Cambria"/>
                <a:ea typeface="Cambria"/>
                <a:cs typeface="Cambria"/>
                <a:sym typeface="Cambria"/>
              </a:defRPr>
            </a:pPr>
            <a:r>
              <a:t>C: 100  </a:t>
            </a:r>
          </a:p>
          <a:p>
            <a:pPr>
              <a:defRPr sz="2400">
                <a:latin typeface="Cambria"/>
                <a:ea typeface="Cambria"/>
                <a:cs typeface="Cambria"/>
                <a:sym typeface="Cambria"/>
              </a:defRPr>
            </a:pPr>
            <a:r>
              <a:t>D: 101  </a:t>
            </a:r>
          </a:p>
          <a:p>
            <a:pPr>
              <a:defRPr sz="2400">
                <a:latin typeface="Cambria"/>
                <a:ea typeface="Cambria"/>
                <a:cs typeface="Cambria"/>
                <a:sym typeface="Cambria"/>
              </a:defRPr>
            </a:pPr>
            <a:r>
              <a:t>A: 1100  </a:t>
            </a:r>
          </a:p>
          <a:p>
            <a:pPr>
              <a:defRPr sz="2400">
                <a:latin typeface="Cambria"/>
                <a:ea typeface="Cambria"/>
                <a:cs typeface="Cambria"/>
                <a:sym typeface="Cambria"/>
              </a:defRPr>
            </a:pPr>
            <a:r>
              <a:t>B: 1101  </a:t>
            </a:r>
          </a:p>
          <a:p>
            <a:pPr>
              <a:defRPr sz="2400">
                <a:latin typeface="Cambria"/>
                <a:ea typeface="Cambria"/>
                <a:cs typeface="Cambria"/>
                <a:sym typeface="Cambria"/>
              </a:defRPr>
            </a:pPr>
            <a:r>
              <a:t>E: 111  </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46" name="Text Box 1"/>
          <p:cNvSpPr txBox="1"/>
          <p:nvPr/>
        </p:nvSpPr>
        <p:spPr>
          <a:xfrm>
            <a:off x="1367790" y="1843088"/>
            <a:ext cx="9761220" cy="3291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Arial"/>
              <a:buChar char="•"/>
              <a:defRPr sz="2400">
                <a:latin typeface="Cambria"/>
                <a:ea typeface="Cambria"/>
                <a:cs typeface="Cambria"/>
                <a:sym typeface="Cambria"/>
              </a:defRPr>
            </a:pPr>
            <a:r>
              <a:t>Huffman Coding efficiently compresses data by reducing total bits used.</a:t>
            </a:r>
          </a:p>
          <a:p>
            <a:pPr marL="342900" indent="-342900">
              <a:buSzPct val="100000"/>
              <a:buFont typeface="Arial"/>
              <a:buChar char="•"/>
              <a:defRPr sz="2400">
                <a:latin typeface="Cambria"/>
                <a:ea typeface="Cambria"/>
                <a:cs typeface="Cambria"/>
                <a:sym typeface="Cambria"/>
              </a:defRPr>
            </a:pPr>
          </a:p>
          <a:p>
            <a:pPr marL="342900" indent="-342900">
              <a:buSzPct val="100000"/>
              <a:buFont typeface="Arial"/>
              <a:buChar char="•"/>
              <a:defRPr sz="2400">
                <a:latin typeface="Cambria"/>
                <a:ea typeface="Cambria"/>
                <a:cs typeface="Cambria"/>
                <a:sym typeface="Cambria"/>
              </a:defRPr>
            </a:pPr>
            <a:r>
              <a:t>It uses frequency-based tree construction to assign unique variable-length codes.</a:t>
            </a:r>
          </a:p>
          <a:p>
            <a:pPr marL="342900" indent="-342900">
              <a:buSzPct val="100000"/>
              <a:buFont typeface="Arial"/>
              <a:buChar char="•"/>
              <a:defRPr sz="2400">
                <a:latin typeface="Cambria"/>
                <a:ea typeface="Cambria"/>
                <a:cs typeface="Cambria"/>
                <a:sym typeface="Cambria"/>
              </a:defRPr>
            </a:pPr>
          </a:p>
          <a:p>
            <a:pPr marL="342900" indent="-342900">
              <a:buSzPct val="100000"/>
              <a:buFont typeface="Arial"/>
              <a:buChar char="•"/>
              <a:defRPr sz="2400">
                <a:latin typeface="Cambria"/>
                <a:ea typeface="Cambria"/>
                <a:cs typeface="Cambria"/>
                <a:sym typeface="Cambria"/>
              </a:defRPr>
            </a:pPr>
            <a:r>
              <a:t>The algorithm’s complexity is O(n log n) due to the use of a min-heap.</a:t>
            </a:r>
          </a:p>
          <a:p>
            <a:pPr marL="342900" indent="-342900">
              <a:buSzPct val="100000"/>
              <a:buFont typeface="Arial"/>
              <a:buChar char="•"/>
              <a:defRPr sz="2400">
                <a:latin typeface="Cambria"/>
                <a:ea typeface="Cambria"/>
                <a:cs typeface="Cambria"/>
                <a:sym typeface="Cambria"/>
              </a:defRPr>
            </a:pPr>
          </a:p>
          <a:p>
            <a:pPr marL="342900" indent="-342900">
              <a:buSzPct val="100000"/>
              <a:buFont typeface="Arial"/>
              <a:buChar char="•"/>
              <a:defRPr sz="2400">
                <a:latin typeface="Cambria"/>
                <a:ea typeface="Cambria"/>
                <a:cs typeface="Cambria"/>
                <a:sym typeface="Cambria"/>
              </a:defRPr>
            </a:pPr>
            <a:r>
              <a:t>It remains one of the most widely used lossless compression techniques in computing.</a:t>
            </a:r>
          </a:p>
        </p:txBody>
      </p:sp>
      <p:sp>
        <p:nvSpPr>
          <p:cNvPr id="147" name="Title 1"/>
          <p:cNvSpPr txBox="1"/>
          <p:nvPr/>
        </p:nvSpPr>
        <p:spPr>
          <a:xfrm>
            <a:off x="1036319" y="5175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Summary</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50" name="Text Box 1"/>
          <p:cNvSpPr txBox="1"/>
          <p:nvPr/>
        </p:nvSpPr>
        <p:spPr>
          <a:xfrm>
            <a:off x="1367790" y="1843088"/>
            <a:ext cx="9761220" cy="446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latin typeface="Cambria"/>
                <a:ea typeface="Cambria"/>
                <a:cs typeface="Cambria"/>
                <a:sym typeface="Cambria"/>
              </a:defRPr>
            </a:pPr>
            <a:r>
              <a:t>1️⃣ Kth Largest Element in an Array</a:t>
            </a:r>
          </a:p>
          <a:p>
            <a:pPr>
              <a:defRPr sz="2400">
                <a:latin typeface="Cambria"/>
                <a:ea typeface="Cambria"/>
                <a:cs typeface="Cambria"/>
                <a:sym typeface="Cambria"/>
              </a:defRPr>
            </a:pPr>
          </a:p>
          <a:p>
            <a:pPr>
              <a:defRPr sz="2400">
                <a:latin typeface="Cambria"/>
                <a:ea typeface="Cambria"/>
                <a:cs typeface="Cambria"/>
                <a:sym typeface="Cambria"/>
              </a:defRPr>
            </a:pPr>
            <a:r>
              <a:t>Link: </a:t>
            </a:r>
            <a:r>
              <a:rPr u="sng">
                <a:solidFill>
                  <a:srgbClr val="0563C1"/>
                </a:solidFill>
                <a:uFill>
                  <a:solidFill>
                    <a:srgbClr val="0563C1"/>
                  </a:solidFill>
                </a:uFill>
                <a:hlinkClick r:id="rId3" invalidUrl="" action="" tgtFrame="" tooltip="" history="1" highlightClick="0" endSnd="0"/>
              </a:rPr>
              <a:t>https://leetcode.com/problems/kth-largest-element-in-an-array/</a:t>
            </a:r>
          </a:p>
          <a:p>
            <a:pPr>
              <a:defRPr sz="2400">
                <a:latin typeface="Cambria"/>
                <a:ea typeface="Cambria"/>
                <a:cs typeface="Cambria"/>
                <a:sym typeface="Cambria"/>
              </a:defRPr>
            </a:pPr>
          </a:p>
          <a:p>
            <a:pPr>
              <a:defRPr sz="2400">
                <a:latin typeface="Cambria"/>
                <a:ea typeface="Cambria"/>
                <a:cs typeface="Cambria"/>
                <a:sym typeface="Cambria"/>
              </a:defRPr>
            </a:pPr>
            <a:r>
              <a:t>Description:</a:t>
            </a:r>
          </a:p>
          <a:p>
            <a:pPr>
              <a:defRPr sz="2400">
                <a:latin typeface="Cambria"/>
                <a:ea typeface="Cambria"/>
                <a:cs typeface="Cambria"/>
                <a:sym typeface="Cambria"/>
              </a:defRPr>
            </a:pPr>
            <a:r>
              <a:t>Find the k-th largest element in an unsorted array using a min-heap or priority queue.</a:t>
            </a:r>
          </a:p>
          <a:p>
            <a:pPr>
              <a:defRPr sz="2400">
                <a:latin typeface="Cambria"/>
                <a:ea typeface="Cambria"/>
                <a:cs typeface="Cambria"/>
                <a:sym typeface="Cambria"/>
              </a:defRPr>
            </a:pPr>
          </a:p>
          <a:p>
            <a:pPr>
              <a:defRPr sz="2400">
                <a:latin typeface="Cambria"/>
                <a:ea typeface="Cambria"/>
                <a:cs typeface="Cambria"/>
                <a:sym typeface="Cambria"/>
              </a:defRPr>
            </a:pPr>
            <a:r>
              <a:t>Concept Reinforced: Heap operations, element comparison, and top-k pattern.</a:t>
            </a:r>
          </a:p>
          <a:p>
            <a:pPr>
              <a:defRPr sz="2400">
                <a:latin typeface="Cambria"/>
                <a:ea typeface="Cambria"/>
                <a:cs typeface="Cambria"/>
                <a:sym typeface="Cambria"/>
              </a:defRPr>
            </a:pPr>
          </a:p>
          <a:p>
            <a:pPr>
              <a:defRPr sz="2400">
                <a:latin typeface="Cambria"/>
                <a:ea typeface="Cambria"/>
                <a:cs typeface="Cambria"/>
                <a:sym typeface="Cambria"/>
              </a:defRPr>
            </a:pPr>
            <a:r>
              <a:t>Difficulty: </a:t>
            </a:r>
            <a:r>
              <a:rPr>
                <a:latin typeface="+mn-lt"/>
                <a:ea typeface="+mn-ea"/>
                <a:cs typeface="+mn-cs"/>
                <a:sym typeface="Helvetica"/>
              </a:rPr>
              <a:t>🟡 </a:t>
            </a:r>
            <a:r>
              <a:t>Medium</a:t>
            </a:r>
          </a:p>
        </p:txBody>
      </p:sp>
      <p:sp>
        <p:nvSpPr>
          <p:cNvPr id="151" name="Title 1"/>
          <p:cNvSpPr txBox="1"/>
          <p:nvPr/>
        </p:nvSpPr>
        <p:spPr>
          <a:xfrm>
            <a:off x="1036319" y="5175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Practice Questions: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54" name="Text Box 1"/>
          <p:cNvSpPr txBox="1"/>
          <p:nvPr/>
        </p:nvSpPr>
        <p:spPr>
          <a:xfrm>
            <a:off x="1367790" y="1843088"/>
            <a:ext cx="9761220" cy="481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latin typeface="Cambria"/>
                <a:ea typeface="Cambria"/>
                <a:cs typeface="Cambria"/>
                <a:sym typeface="Cambria"/>
              </a:defRPr>
            </a:pPr>
            <a:r>
              <a:t>2️⃣ Top K Frequent Elements</a:t>
            </a:r>
          </a:p>
          <a:p>
            <a:pPr>
              <a:defRPr sz="2400">
                <a:latin typeface="Cambria"/>
                <a:ea typeface="Cambria"/>
                <a:cs typeface="Cambria"/>
                <a:sym typeface="Cambria"/>
              </a:defRPr>
            </a:pPr>
          </a:p>
          <a:p>
            <a:pPr>
              <a:defRPr sz="2400">
                <a:latin typeface="Cambria"/>
                <a:ea typeface="Cambria"/>
                <a:cs typeface="Cambria"/>
                <a:sym typeface="Cambria"/>
              </a:defRPr>
            </a:pPr>
            <a:r>
              <a:t>Link: </a:t>
            </a:r>
            <a:r>
              <a:rPr u="sng">
                <a:solidFill>
                  <a:srgbClr val="0563C1"/>
                </a:solidFill>
                <a:uFill>
                  <a:solidFill>
                    <a:srgbClr val="0563C1"/>
                  </a:solidFill>
                </a:uFill>
                <a:hlinkClick r:id="rId3" invalidUrl="" action="" tgtFrame="" tooltip="" history="1" highlightClick="0" endSnd="0"/>
              </a:rPr>
              <a:t>https://leetcode.com/problems/top-k-frequent-elements/?utm_source=chatgpt.com</a:t>
            </a:r>
          </a:p>
          <a:p>
            <a:pPr>
              <a:defRPr sz="2400">
                <a:latin typeface="Cambria"/>
                <a:ea typeface="Cambria"/>
                <a:cs typeface="Cambria"/>
                <a:sym typeface="Cambria"/>
              </a:defRPr>
            </a:pPr>
          </a:p>
          <a:p>
            <a:pPr>
              <a:defRPr sz="2400">
                <a:latin typeface="Cambria"/>
                <a:ea typeface="Cambria"/>
                <a:cs typeface="Cambria"/>
                <a:sym typeface="Cambria"/>
              </a:defRPr>
            </a:pPr>
            <a:r>
              <a:t>Description:</a:t>
            </a:r>
          </a:p>
          <a:p>
            <a:pPr>
              <a:defRPr sz="2400">
                <a:latin typeface="Cambria"/>
                <a:ea typeface="Cambria"/>
                <a:cs typeface="Cambria"/>
                <a:sym typeface="Cambria"/>
              </a:defRPr>
            </a:pPr>
            <a:r>
              <a:t>Given an integer array, return the k most frequent elements using hash map + heap.</a:t>
            </a:r>
          </a:p>
          <a:p>
            <a:pPr>
              <a:defRPr sz="2400">
                <a:latin typeface="Cambria"/>
                <a:ea typeface="Cambria"/>
                <a:cs typeface="Cambria"/>
                <a:sym typeface="Cambria"/>
              </a:defRPr>
            </a:pPr>
          </a:p>
          <a:p>
            <a:pPr>
              <a:defRPr sz="2400">
                <a:latin typeface="Cambria"/>
                <a:ea typeface="Cambria"/>
                <a:cs typeface="Cambria"/>
                <a:sym typeface="Cambria"/>
              </a:defRPr>
            </a:pPr>
            <a:r>
              <a:t>Concept Reinforced: Frequency counting, priority queue usage — similar to Huffman frequency logic.</a:t>
            </a:r>
          </a:p>
          <a:p>
            <a:pPr>
              <a:defRPr sz="2400">
                <a:latin typeface="Cambria"/>
                <a:ea typeface="Cambria"/>
                <a:cs typeface="Cambria"/>
                <a:sym typeface="Cambria"/>
              </a:defRPr>
            </a:pPr>
          </a:p>
          <a:p>
            <a:pPr>
              <a:defRPr sz="2400">
                <a:latin typeface="Cambria"/>
                <a:ea typeface="Cambria"/>
                <a:cs typeface="Cambria"/>
                <a:sym typeface="Cambria"/>
              </a:defRPr>
            </a:pPr>
            <a:r>
              <a:t>Difficulty: </a:t>
            </a:r>
            <a:r>
              <a:rPr>
                <a:latin typeface="+mn-lt"/>
                <a:ea typeface="+mn-ea"/>
                <a:cs typeface="+mn-cs"/>
                <a:sym typeface="Helvetica"/>
              </a:rPr>
              <a:t>🟡 </a:t>
            </a:r>
            <a:r>
              <a:t>Medium</a:t>
            </a:r>
          </a:p>
        </p:txBody>
      </p:sp>
      <p:sp>
        <p:nvSpPr>
          <p:cNvPr id="155" name="Title 1"/>
          <p:cNvSpPr txBox="1"/>
          <p:nvPr/>
        </p:nvSpPr>
        <p:spPr>
          <a:xfrm>
            <a:off x="1036319" y="5175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Practice Questions: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Freeform 26"/>
          <p:cNvSpPr/>
          <p:nvPr/>
        </p:nvSpPr>
        <p:spPr>
          <a:xfrm>
            <a:off x="9991482" y="4"/>
            <a:ext cx="2145712" cy="995947"/>
          </a:xfrm>
          <a:prstGeom prst="rect">
            <a:avLst/>
          </a:prstGeom>
          <a:blipFill>
            <a:blip r:embed="rId2"/>
            <a:stretch>
              <a:fillRect/>
            </a:stretch>
          </a:blipFill>
          <a:ln w="12700">
            <a:miter lim="400000"/>
          </a:ln>
        </p:spPr>
        <p:txBody>
          <a:bodyPr lIns="45719" rIns="45719"/>
          <a:lstStyle/>
          <a:p>
            <a:pPr/>
          </a:p>
        </p:txBody>
      </p:sp>
      <p:sp>
        <p:nvSpPr>
          <p:cNvPr id="158" name="Text Box 1"/>
          <p:cNvSpPr txBox="1"/>
          <p:nvPr/>
        </p:nvSpPr>
        <p:spPr>
          <a:xfrm>
            <a:off x="1367790" y="1843088"/>
            <a:ext cx="9761220" cy="481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latin typeface="Cambria"/>
                <a:ea typeface="Cambria"/>
                <a:cs typeface="Cambria"/>
                <a:sym typeface="Cambria"/>
              </a:defRPr>
            </a:pPr>
            <a:r>
              <a:t>3️⃣ Kth Smallest Element in a Sorted Matrix</a:t>
            </a:r>
          </a:p>
          <a:p>
            <a:pPr>
              <a:defRPr sz="2400">
                <a:latin typeface="Cambria"/>
                <a:ea typeface="Cambria"/>
                <a:cs typeface="Cambria"/>
                <a:sym typeface="Cambria"/>
              </a:defRPr>
            </a:pPr>
          </a:p>
          <a:p>
            <a:pPr>
              <a:defRPr sz="2400">
                <a:latin typeface="Cambria"/>
                <a:ea typeface="Cambria"/>
                <a:cs typeface="Cambria"/>
                <a:sym typeface="Cambria"/>
              </a:defRPr>
            </a:pPr>
            <a:r>
              <a:t>Link: </a:t>
            </a:r>
            <a:r>
              <a:rPr u="sng">
                <a:solidFill>
                  <a:srgbClr val="0563C1"/>
                </a:solidFill>
                <a:uFill>
                  <a:solidFill>
                    <a:srgbClr val="0563C1"/>
                  </a:solidFill>
                </a:uFill>
                <a:hlinkClick r:id="rId3" invalidUrl="" action="" tgtFrame="" tooltip="" history="1" highlightClick="0" endSnd="0"/>
              </a:rPr>
              <a:t>https://leetcode.com/problems/kth-smallest-element-in-a-sorted-matrix/?utm_source=chatgpt.com</a:t>
            </a:r>
          </a:p>
          <a:p>
            <a:pPr>
              <a:defRPr sz="2400">
                <a:latin typeface="Cambria"/>
                <a:ea typeface="Cambria"/>
                <a:cs typeface="Cambria"/>
                <a:sym typeface="Cambria"/>
              </a:defRPr>
            </a:pPr>
          </a:p>
          <a:p>
            <a:pPr>
              <a:defRPr sz="2400">
                <a:latin typeface="Cambria"/>
                <a:ea typeface="Cambria"/>
                <a:cs typeface="Cambria"/>
                <a:sym typeface="Cambria"/>
              </a:defRPr>
            </a:pPr>
            <a:r>
              <a:t>Description:</a:t>
            </a:r>
          </a:p>
          <a:p>
            <a:pPr>
              <a:defRPr sz="2400">
                <a:latin typeface="Cambria"/>
                <a:ea typeface="Cambria"/>
                <a:cs typeface="Cambria"/>
                <a:sym typeface="Cambria"/>
              </a:defRPr>
            </a:pPr>
            <a:r>
              <a:t>Find the k-th smallest element in a sorted matrix using a min-heap or binary search approach.</a:t>
            </a:r>
          </a:p>
          <a:p>
            <a:pPr>
              <a:defRPr sz="2400">
                <a:latin typeface="Cambria"/>
                <a:ea typeface="Cambria"/>
                <a:cs typeface="Cambria"/>
                <a:sym typeface="Cambria"/>
              </a:defRPr>
            </a:pPr>
          </a:p>
          <a:p>
            <a:pPr>
              <a:defRPr sz="2400">
                <a:latin typeface="Cambria"/>
                <a:ea typeface="Cambria"/>
                <a:cs typeface="Cambria"/>
                <a:sym typeface="Cambria"/>
              </a:defRPr>
            </a:pPr>
            <a:r>
              <a:t>Concept Reinforced: Heap-based selection and efficient traversal — extends Huffman Tree’s greedy concept.</a:t>
            </a:r>
          </a:p>
          <a:p>
            <a:pPr>
              <a:defRPr sz="2400">
                <a:latin typeface="Cambria"/>
                <a:ea typeface="Cambria"/>
                <a:cs typeface="Cambria"/>
                <a:sym typeface="Cambria"/>
              </a:defRPr>
            </a:pPr>
          </a:p>
          <a:p>
            <a:pPr>
              <a:defRPr sz="2400">
                <a:latin typeface="Cambria"/>
                <a:ea typeface="Cambria"/>
                <a:cs typeface="Cambria"/>
                <a:sym typeface="Cambria"/>
              </a:defRPr>
            </a:pPr>
            <a:r>
              <a:t>Difficulty: </a:t>
            </a:r>
            <a:r>
              <a:rPr>
                <a:latin typeface="+mn-lt"/>
                <a:ea typeface="+mn-ea"/>
                <a:cs typeface="+mn-cs"/>
                <a:sym typeface="Helvetica"/>
              </a:rPr>
              <a:t>🟡 </a:t>
            </a:r>
            <a:r>
              <a:t>Medium</a:t>
            </a:r>
          </a:p>
        </p:txBody>
      </p:sp>
      <p:sp>
        <p:nvSpPr>
          <p:cNvPr id="159" name="Title 1"/>
          <p:cNvSpPr txBox="1"/>
          <p:nvPr/>
        </p:nvSpPr>
        <p:spPr>
          <a:xfrm>
            <a:off x="1036319" y="517525"/>
            <a:ext cx="10424162"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90000"/>
              </a:lnSpc>
              <a:defRPr sz="4000">
                <a:latin typeface="Cambria"/>
                <a:ea typeface="Cambria"/>
                <a:cs typeface="Cambria"/>
                <a:sym typeface="Cambria"/>
              </a:defRPr>
            </a:lvl1pPr>
          </a:lstStyle>
          <a:p>
            <a:pPr/>
            <a:r>
              <a:t>Practice Questions: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itle 1"/>
          <p:cNvSpPr txBox="1"/>
          <p:nvPr>
            <p:ph type="ctrTitle"/>
          </p:nvPr>
        </p:nvSpPr>
        <p:spPr>
          <a:xfrm>
            <a:off x="1524000" y="2026822"/>
            <a:ext cx="9144000" cy="2387601"/>
          </a:xfrm>
          <a:prstGeom prst="rect">
            <a:avLst/>
          </a:prstGeom>
        </p:spPr>
        <p:txBody>
          <a:bodyPr/>
          <a:lstStyle>
            <a:lvl1pPr>
              <a:defRPr sz="7000">
                <a:latin typeface="Cambria"/>
                <a:ea typeface="Cambria"/>
                <a:cs typeface="Cambria"/>
                <a:sym typeface="Cambria"/>
              </a:defRPr>
            </a:lvl1pPr>
          </a:lstStyle>
          <a:p>
            <a:pPr/>
            <a:r>
              <a:t>Thanks</a:t>
            </a:r>
          </a:p>
        </p:txBody>
      </p:sp>
      <p:sp>
        <p:nvSpPr>
          <p:cNvPr id="162" name="Freeform 5"/>
          <p:cNvSpPr/>
          <p:nvPr/>
        </p:nvSpPr>
        <p:spPr>
          <a:xfrm>
            <a:off x="3070740" y="1514621"/>
            <a:ext cx="6050520" cy="1517789"/>
          </a:xfrm>
          <a:prstGeom prst="rect">
            <a:avLst/>
          </a:prstGeom>
          <a:blipFill>
            <a:blip r:embed="rId2"/>
            <a:stretch>
              <a:fillRect/>
            </a:stretch>
          </a:blipFill>
          <a:ln w="12700">
            <a:miter lim="400000"/>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