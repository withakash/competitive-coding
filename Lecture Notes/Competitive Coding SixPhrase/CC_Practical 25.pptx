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2;p23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/>
            </a:lvl1pPr>
            <a:lvl2pPr marL="228600" indent="457200">
              <a:buClrTx/>
              <a:buSzTx/>
              <a:buFontTx/>
              <a:buNone/>
              <a:defRPr b="1" sz="2400"/>
            </a:lvl2pPr>
            <a:lvl3pPr marL="228600" indent="914400">
              <a:buClrTx/>
              <a:buSzTx/>
              <a:buFontTx/>
              <a:buNone/>
              <a:defRPr b="1" sz="2400"/>
            </a:lvl3pPr>
            <a:lvl4pPr marL="228600" indent="1371600">
              <a:buClrTx/>
              <a:buSzTx/>
              <a:buFontTx/>
              <a:buNone/>
              <a:defRPr b="1" sz="2400"/>
            </a:lvl4pPr>
            <a:lvl5pPr marL="228600" indent="1828800"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24"/>
          <p:cNvSpPr txBox="1"/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Google Shape;40;p2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/>
            </a:pPr>
          </a:p>
        </p:txBody>
      </p:sp>
      <p:sp>
        <p:nvSpPr>
          <p:cNvPr id="52" name="Google Shape;41;p2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27"/>
          <p:cNvSpPr txBox="1"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3;p28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etcode.com/problems/binary-tree-level-order-traversal/" TargetMode="External"/><Relationship Id="rId3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Practical 25</a:t>
            </a:r>
          </a:p>
        </p:txBody>
      </p:sp>
      <p:sp>
        <p:nvSpPr>
          <p:cNvPr id="116" name="Google Shape;85;p1"/>
          <p:cNvSpPr txBox="1"/>
          <p:nvPr>
            <p:ph type="subTitle" sz="quarter" idx="1"/>
          </p:nvPr>
        </p:nvSpPr>
        <p:spPr>
          <a:xfrm>
            <a:off x="1524000" y="4198386"/>
            <a:ext cx="9144000" cy="1655761"/>
          </a:xfrm>
          <a:prstGeom prst="rect">
            <a:avLst/>
          </a:prstGeom>
        </p:spPr>
        <p:txBody>
          <a:bodyPr/>
          <a:lstStyle>
            <a:lvl1pPr marL="0" indent="0">
              <a:defRPr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Tree Traversal using Level Order Traversal</a:t>
            </a:r>
          </a:p>
        </p:txBody>
      </p:sp>
      <p:sp>
        <p:nvSpPr>
          <p:cNvPr id="117" name="Google Shape;86;p1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91;p2"/>
          <p:cNvGraphicFramePr/>
          <p:nvPr/>
        </p:nvGraphicFramePr>
        <p:xfrm>
          <a:off x="3309539" y="1265839"/>
          <a:ext cx="5342850" cy="3581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92;p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21" name="Google Shape;93;p2"/>
          <p:cNvGraphicFramePr/>
          <p:nvPr/>
        </p:nvGraphicFramePr>
        <p:xfrm>
          <a:off x="1461073" y="2746275"/>
          <a:ext cx="9059452" cy="3200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Tree Traversal using Level Order Traversal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Google Shape;94;p2"/>
          <p:cNvGraphicFramePr/>
          <p:nvPr/>
        </p:nvGraphicFramePr>
        <p:xfrm>
          <a:off x="1471064" y="3595291"/>
          <a:ext cx="9039451" cy="12573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039450"/>
              </a:tblGrid>
              <a:tr h="20574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Level Order Traversal in a binary tree.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process tree nodes level by level using a queue.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Level Order Traversal using Breadth-First Search (BFS) logic.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algorithm for different tree structures.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Statement: </a:t>
            </a:r>
          </a:p>
        </p:txBody>
      </p:sp>
      <p:sp>
        <p:nvSpPr>
          <p:cNvPr id="125" name="Google Shape;100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Level Order Traversal of a binary tree means visiting all nodes level by level,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from top to bottom and left to right at each level.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goal is to print the elements in this order.</a:t>
            </a:r>
          </a:p>
        </p:txBody>
      </p:sp>
      <p:sp>
        <p:nvSpPr>
          <p:cNvPr id="126" name="Google Shape;101;p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129" name="Google Shape;107;p4"/>
          <p:cNvSpPr txBox="1"/>
          <p:nvPr>
            <p:ph type="body" idx="1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</p:spPr>
        <p:txBody>
          <a:bodyPr/>
          <a:lstStyle/>
          <a:p>
            <a:pPr lvl="1" marL="685800" indent="-266700">
              <a:lnSpc>
                <a:spcPct val="150000"/>
              </a:lnSpc>
              <a:spcBef>
                <a:spcPts val="1200"/>
              </a:spcBef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Level Order Traversal is based on Breadth-First Search (BFS).</a:t>
            </a:r>
          </a:p>
          <a:p>
            <a:pPr lvl="1" marL="685800" indent="-266700">
              <a:lnSpc>
                <a:spcPct val="150000"/>
              </a:lnSpc>
              <a:spcBef>
                <a:spcPts val="0"/>
              </a:spcBef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We use a queue to store nodes of each level.</a:t>
            </a:r>
          </a:p>
          <a:p>
            <a:pPr lvl="1" marL="685800" indent="-266700">
              <a:lnSpc>
                <a:spcPct val="150000"/>
              </a:lnSpc>
              <a:spcBef>
                <a:spcPts val="0"/>
              </a:spcBef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Nodes are visited in the order they appear in the queue.</a:t>
            </a:r>
          </a:p>
          <a:p>
            <a:pPr lvl="1" marL="685800" indent="-266700">
              <a:lnSpc>
                <a:spcPct val="150000"/>
              </a:lnSpc>
              <a:spcBef>
                <a:spcPts val="0"/>
              </a:spcBef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Commonly used in shortest path problems and hierarchical data processing.</a:t>
            </a:r>
          </a:p>
        </p:txBody>
      </p:sp>
      <p:sp>
        <p:nvSpPr>
          <p:cNvPr id="130" name="Google Shape;108;p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Algorithm/Logic</a:t>
            </a:r>
          </a:p>
        </p:txBody>
      </p:sp>
      <p:sp>
        <p:nvSpPr>
          <p:cNvPr id="133" name="Google Shape;114;p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Steps:</a:t>
            </a:r>
          </a:p>
          <a:p>
            <a:pPr indent="-381000">
              <a:lnSpc>
                <a:spcPct val="115000"/>
              </a:lnSpc>
              <a:spcBef>
                <a:spcPts val="120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Create an empty queue and enqueue the root node.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While the queue is not empty:</a:t>
            </a:r>
          </a:p>
          <a:p>
            <a:pPr lvl="1" marL="914400" indent="-381000">
              <a:lnSpc>
                <a:spcPct val="115000"/>
              </a:lnSpc>
              <a:spcBef>
                <a:spcPts val="0"/>
              </a:spcBef>
              <a:buSzPts val="2400"/>
              <a:buFont typeface="Cambria"/>
              <a:buChar char="○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Dequeue a node, print its data.</a:t>
            </a:r>
          </a:p>
          <a:p>
            <a:pPr lvl="1" marL="914400" indent="-381000">
              <a:lnSpc>
                <a:spcPct val="115000"/>
              </a:lnSpc>
              <a:spcBef>
                <a:spcPts val="0"/>
              </a:spcBef>
              <a:buSzPts val="2400"/>
              <a:buChar char="○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Enqueue its left and right child (if present).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Continue until all nodes are processed.</a:t>
            </a:r>
          </a:p>
        </p:txBody>
      </p:sp>
      <p:sp>
        <p:nvSpPr>
          <p:cNvPr id="134" name="Google Shape;115;p5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20;p7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Google Shape;121;p7"/>
          <p:cNvSpPr txBox="1"/>
          <p:nvPr>
            <p:ph type="title"/>
          </p:nvPr>
        </p:nvSpPr>
        <p:spPr>
          <a:xfrm>
            <a:off x="838200" y="344652"/>
            <a:ext cx="10515600" cy="1325701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Visualization</a:t>
            </a:r>
          </a:p>
        </p:txBody>
      </p:sp>
      <p:pic>
        <p:nvPicPr>
          <p:cNvPr id="138" name="Google Shape;122;p7" descr="Google Shape;122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50674" y="1372245"/>
            <a:ext cx="5068401" cy="2967751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Google Shape;123;p7"/>
          <p:cNvSpPr txBox="1"/>
          <p:nvPr/>
        </p:nvSpPr>
        <p:spPr>
          <a:xfrm>
            <a:off x="1658175" y="4575424"/>
            <a:ext cx="9795600" cy="196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Output: [[5], [12, 13], [7, 14, 2], [17, 23, 27, 3, 8, 11]]</a:t>
            </a:r>
          </a:p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Explanation: Start with the root - [5]</a:t>
            </a:r>
          </a:p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Level 1: [12, 13]</a:t>
            </a:r>
          </a:p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Level 2: [7, 14, 2]</a:t>
            </a:r>
          </a:p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Level 3: [17, 23, 27, 3, 8, 11]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Code Implementation</a:t>
            </a:r>
          </a:p>
        </p:txBody>
      </p:sp>
      <p:sp>
        <p:nvSpPr>
          <p:cNvPr id="142" name="Google Shape;129;p8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import java.util.*;…"/>
          <p:cNvSpPr txBox="1"/>
          <p:nvPr/>
        </p:nvSpPr>
        <p:spPr>
          <a:xfrm>
            <a:off x="884356" y="1983359"/>
            <a:ext cx="9252579" cy="355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import java.util.*;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class Node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int data;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Node left, right;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Node(int data)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this.data = data;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left = right = null;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36;p9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public class LevelOrderTraversal {…"/>
          <p:cNvSpPr txBox="1"/>
          <p:nvPr/>
        </p:nvSpPr>
        <p:spPr>
          <a:xfrm>
            <a:off x="527461" y="559808"/>
            <a:ext cx="4762535" cy="542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public class LevelOrderTraversal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// Function to perform Level Order Traversal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public static void levelOrder(Node root)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if (root == null)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return;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Queue&lt;Node&gt; queue = new LinkedList&lt;&gt;();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queue.add(root);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while (!queue.isEmpty())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Node current = queue.poll();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System.out.print(current.data + " ");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if (current.left != null)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queue.add(current.left);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if (current.right != null)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queue.add(current.right);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}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36;p9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public static void main(String[] args) {…"/>
          <p:cNvSpPr txBox="1"/>
          <p:nvPr/>
        </p:nvSpPr>
        <p:spPr>
          <a:xfrm>
            <a:off x="561999" y="813089"/>
            <a:ext cx="5003544" cy="400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public static void main(String[] args)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// Constructing a sample binary tree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Node root = new Node(1);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 = new Node(2);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 = new Node(3);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root.left.left = new Node(4);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root.left.right = new Node(5);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root.right.left = new Node(6);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root.right.right = new Node(7);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System.out.print("Level Order Traversal: ");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levelOrder(root);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4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Time &amp; Space Complexity</a:t>
            </a:r>
          </a:p>
        </p:txBody>
      </p:sp>
      <p:sp>
        <p:nvSpPr>
          <p:cNvPr id="152" name="Google Shape;144;p1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53" name="Google Shape;145;p13"/>
          <p:cNvGraphicFramePr/>
          <p:nvPr/>
        </p:nvGraphicFramePr>
        <p:xfrm>
          <a:off x="1114574" y="2846099"/>
          <a:ext cx="9895627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09400"/>
                <a:gridCol w="2408675"/>
                <a:gridCol w="2509025"/>
                <a:gridCol w="2368525"/>
              </a:tblGrid>
              <a:tr h="50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Level Order (BFS)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Queue-based BFS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56" name="Google Shape;151;p14"/>
          <p:cNvSpPr txBox="1"/>
          <p:nvPr>
            <p:ph type="body" idx="1"/>
          </p:nvPr>
        </p:nvSpPr>
        <p:spPr>
          <a:xfrm>
            <a:off x="1072161" y="1983700"/>
            <a:ext cx="10515601" cy="3443707"/>
          </a:xfrm>
          <a:prstGeom prst="rect">
            <a:avLst/>
          </a:prstGeom>
        </p:spPr>
        <p:txBody>
          <a:bodyPr/>
          <a:lstStyle/>
          <a:p>
            <a:pPr indent="-381000" algn="just">
              <a:lnSpc>
                <a:spcPct val="160000"/>
              </a:lnSpc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Level Order Traversal visits all nodes level by level.</a:t>
            </a:r>
          </a:p>
          <a:p>
            <a:pPr indent="-381000" algn="just">
              <a:lnSpc>
                <a:spcPct val="160000"/>
              </a:lnSpc>
              <a:spcBef>
                <a:spcPts val="0"/>
              </a:spcBef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It uses a queue to maintain the processing order (BFS).</a:t>
            </a:r>
          </a:p>
          <a:p>
            <a:pPr indent="-381000" algn="just">
              <a:lnSpc>
                <a:spcPct val="160000"/>
              </a:lnSpc>
              <a:spcBef>
                <a:spcPts val="0"/>
              </a:spcBef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Ensures complete traversal of all levels before moving deeper.</a:t>
            </a:r>
          </a:p>
          <a:p>
            <a:pPr indent="-381000" algn="just">
              <a:lnSpc>
                <a:spcPct val="160000"/>
              </a:lnSpc>
              <a:spcBef>
                <a:spcPts val="0"/>
              </a:spcBef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Commonly used in shortest path, serialization, and organizational hierarchy problems.</a:t>
            </a:r>
          </a:p>
        </p:txBody>
      </p:sp>
      <p:sp>
        <p:nvSpPr>
          <p:cNvPr id="157" name="Google Shape;152;p1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Practice Questions:</a:t>
            </a:r>
          </a:p>
        </p:txBody>
      </p:sp>
      <p:sp>
        <p:nvSpPr>
          <p:cNvPr id="160" name="Google Shape;158;p16"/>
          <p:cNvSpPr txBox="1"/>
          <p:nvPr>
            <p:ph type="body" idx="1"/>
          </p:nvPr>
        </p:nvSpPr>
        <p:spPr>
          <a:xfrm>
            <a:off x="838200" y="1579965"/>
            <a:ext cx="10515600" cy="43512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1. Binary Tree Level Order Traversal — LeetCode #102</a:t>
            </a:r>
            <a:br/>
            <a:r>
              <a:t> 🔗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https://leetcode.com/problems/binary-tree-level-order-traversal/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Concept:</a:t>
            </a:r>
            <a:br/>
            <a:r>
              <a:t>Perform a level-wise traversal of a binary tree using BFS and return a list of nodes at each level.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Why Practice:</a:t>
            </a:r>
          </a:p>
          <a:p>
            <a:pPr indent="-381000">
              <a:lnSpc>
                <a:spcPct val="115000"/>
              </a:lnSpc>
              <a:spcBef>
                <a:spcPts val="1200"/>
              </a:spcBef>
              <a:buSzPts val="2400"/>
              <a:buChar char="●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Builds understanding of queue-based traversal.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Char char="●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Helps in mastering breadth-first search concepts used across tree and graph problems.</a:t>
            </a:r>
          </a:p>
        </p:txBody>
      </p:sp>
      <p:sp>
        <p:nvSpPr>
          <p:cNvPr id="161" name="Google Shape;159;p16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4;p18"/>
          <p:cNvSpPr txBox="1"/>
          <p:nvPr>
            <p:ph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Thanks</a:t>
            </a:r>
          </a:p>
        </p:txBody>
      </p:sp>
      <p:sp>
        <p:nvSpPr>
          <p:cNvPr id="164" name="Google Shape;165;p18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