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58" r:id="rId3"/>
    <p:sldId id="257" r:id="rId4"/>
    <p:sldId id="260" r:id="rId5"/>
    <p:sldId id="261" r:id="rId6"/>
    <p:sldId id="276" r:id="rId7"/>
    <p:sldId id="262" r:id="rId8"/>
    <p:sldId id="264" r:id="rId9"/>
    <p:sldId id="280" r:id="rId10"/>
    <p:sldId id="265" r:id="rId11"/>
    <p:sldId id="268" r:id="rId12"/>
    <p:sldId id="267" r:id="rId13"/>
    <p:sldId id="269" r:id="rId14"/>
    <p:sldId id="270" r:id="rId15"/>
    <p:sldId id="278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391"/>
    <a:srgbClr val="235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-1056" y="-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FD3DD-A230-4840-8A40-55BBECD74F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55961-C506-4397-AAD1-749D1ADB5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9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5961-C506-4397-AAD1-749D1ADB50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65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5961-C506-4397-AAD1-749D1ADB50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6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A3EF7C-9A4D-88E2-C4CC-C39582306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C5AD664-159A-4DD6-933B-34FF44C61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7061C8-DB36-80F8-49FD-4740859A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61AB32-1842-334F-F9B1-E3ACD9DF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AC70B78-EE29-9CE8-B923-351F6D5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4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A09FB-F866-B864-CE15-0ED311C0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BA2372-0DE1-85A0-FEE3-D10FEB858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682CCF-7F29-DB12-A62F-8716481D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EE48AF-008B-BAEB-1931-9475AEE3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1ECE98-40D4-77D2-4D20-22CE258A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26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4785CC-501D-7868-14B2-9E03058B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4FDFFB-ADAD-1778-A89D-7CCB0CF88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F1C0220-365B-BA84-8E1E-1861FEBA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8A99F35-C3CC-5755-D418-351796B2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17F2DD-CFBF-34A6-D4BB-61E3C2B0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B95EF6-B198-A5D1-279B-4FCBC8EF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89412F-3104-C664-F481-A8D77EEC7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F19965E-5C0B-02DB-7237-83148FB84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10E994B-DF7B-4643-5641-BBB9B132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93E34EB-903D-872E-B4D9-5C5C6F89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D8F85C-E3FF-EAE7-390A-0A114D60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4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628937-13B6-E840-481C-E4BE9A33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A5CB719-DEA0-F595-54CF-6CDF6A2AD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7465EE9-78F8-2BE5-FA84-A3F91DD99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F030E4F-BC82-3014-AB63-B299F0028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525E42D-A645-C6F5-BAB7-D365632FA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D89159D-5AF9-67ED-B063-2CA20F7B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37F52C7-F6CC-8492-9EE6-EC7DE410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C2A36F7-667D-F80A-1A39-3832B259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9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23F300-92C8-B0AD-0E41-AC6E16DD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A3C5C80-A6C1-8C63-878D-B68B0916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BE5CAAD-2C01-4F9B-BB69-5A4A33A0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181C1E0-FBFA-A136-3478-A7ABE380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35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459CEB0-3FAE-4CAA-DB67-B2878765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9DCFD7F-BD5F-DEE0-330C-C6A302BE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B676547-319F-884F-01E1-A8E5CA23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66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176630-3931-20E0-16B1-16AFB9E5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F26464-64E2-06D5-238E-F4E4F1D2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7C04F8F-2406-C0D9-FE0C-EA76951AA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6700067-E7D6-564C-D95D-945BD7D2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13D7ECA-7702-259D-1165-9B6591E2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C16E639-CADB-9226-037E-57FCDF90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79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48F1E7-C4F9-DE92-600D-3A06F8D9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8D27332-527C-CDEB-5E3C-5191FFB04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172BCBB-0226-1CD1-C81D-90C98F4D0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A32B915-8EE2-B94F-E7A5-026E5959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97E5A9-BD8E-B08B-71DC-494FF25D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ED5D131-048C-A75A-CCA8-DFD386DE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33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37C6D1-68B5-79F9-D1FB-89DD00AF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EDFEF47-628B-21E6-C192-9A1ADBD94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F211DA-AD34-022F-EAEF-1058B50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77F97D-B4CD-6E69-0786-4B37F7E7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242247-F626-966C-9028-131DEA24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24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3B3C7B4-D871-D125-2855-66783341C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FFADC94-8DFB-0D2C-5672-176050FF7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DD5E8E-091F-6512-F9F4-D688AF85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87BC39-7793-E5B8-7F4B-033C6C99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F470A5-8874-1B25-BB76-ADD786BD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16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6DC89AB-27E6-CD37-E425-3A632A70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F8D8411-6495-DE2A-7B3B-C978FEB1F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DBA7FD-0373-8009-BAC6-A9B68C889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B8C219-0A60-87C9-05EF-17A1D87BA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53A1BB-065A-0AC1-9560-DDFBC7C70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7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85DF42-3AAB-5ABA-6664-039D820DF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dirty="0">
                <a:latin typeface="Cambria" panose="02040503050406030204" pitchFamily="18" charset="0"/>
                <a:ea typeface="Cambria" panose="02040503050406030204" pitchFamily="18" charset="0"/>
              </a:rPr>
              <a:t>Practical </a:t>
            </a:r>
            <a:r>
              <a:rPr lang="en-US" sz="7000" dirty="0" smtClean="0">
                <a:latin typeface="Cambria" panose="02040503050406030204" pitchFamily="18" charset="0"/>
                <a:ea typeface="Cambria" panose="02040503050406030204" pitchFamily="18" charset="0"/>
              </a:rPr>
              <a:t>17</a:t>
            </a:r>
            <a:endParaRPr lang="en-IN" sz="7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F06CF19-098F-1A24-E2AA-764F50764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7813"/>
            <a:ext cx="9144000" cy="1655762"/>
          </a:xfrm>
        </p:spPr>
        <p:txBody>
          <a:bodyPr/>
          <a:lstStyle/>
          <a:p>
            <a:r>
              <a:rPr lang="en-US" dirty="0">
                <a:latin typeface="Cambria" pitchFamily="18" charset="0"/>
                <a:ea typeface="Cambria" pitchFamily="18" charset="0"/>
              </a:rPr>
              <a:t>Hashing,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collisions</a:t>
            </a:r>
            <a:endParaRPr lang="en-IN" dirty="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1EB037CC-2254-F3F2-3E31-37AF8D72886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26483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B2E5B0-6D5B-AA51-D14A-1F693035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16630BDC-437F-2F05-F866-95DD52B25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547025"/>
              </p:ext>
            </p:extLst>
          </p:nvPr>
        </p:nvGraphicFramePr>
        <p:xfrm>
          <a:off x="3309539" y="1265839"/>
          <a:ext cx="5342848" cy="441960"/>
        </p:xfrm>
        <a:graphic>
          <a:graphicData uri="http://schemas.openxmlformats.org/drawingml/2006/table">
            <a:tbl>
              <a:tblPr/>
              <a:tblGrid>
                <a:gridCol w="5342848">
                  <a:extLst>
                    <a:ext uri="{9D8B030D-6E8A-4147-A177-3AD203B41FA5}">
                      <a16:colId xmlns:a16="http://schemas.microsoft.com/office/drawing/2014/main" xmlns="" val="2198981689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Plan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11059474"/>
                  </a:ext>
                </a:extLst>
              </a:tr>
            </a:tbl>
          </a:graphicData>
        </a:graphic>
      </p:graphicFrame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B3E43877-1080-6E4B-6AE0-E2492EFDFEB1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1593851C-D4FF-08B5-09C5-7485B1DE2FD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9DC201C7-4C87-CD1D-B3D7-4E286AF41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42193"/>
              </p:ext>
            </p:extLst>
          </p:nvPr>
        </p:nvGraphicFramePr>
        <p:xfrm>
          <a:off x="1461074" y="2746276"/>
          <a:ext cx="9059442" cy="124968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xmlns="" val="332542170"/>
                    </a:ext>
                  </a:extLst>
                </a:gridCol>
                <a:gridCol w="6194322">
                  <a:extLst>
                    <a:ext uri="{9D8B030D-6E8A-4147-A177-3AD203B41FA5}">
                      <a16:colId xmlns:a16="http://schemas.microsoft.com/office/drawing/2014/main" xmlns="" val="4288960800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Subject/Course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Competitive Coding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0199635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Title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Implementation of hash function usage to store and</a:t>
                      </a:r>
                    </a:p>
                    <a:p>
                      <a:pPr rtl="0" fontAlgn="ctr">
                        <a:buNone/>
                      </a:pPr>
                      <a:r>
                        <a:rPr lang="en-US" alt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retrieve key-value pairs.</a:t>
                      </a:r>
                    </a:p>
                    <a:p>
                      <a:pPr rtl="0" fontAlgn="ctr">
                        <a:buNone/>
                      </a:pP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05822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CF94AD06-F5C6-E858-BB39-C46F901F6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08157"/>
              </p:ext>
            </p:extLst>
          </p:nvPr>
        </p:nvGraphicFramePr>
        <p:xfrm>
          <a:off x="1520492" y="4104164"/>
          <a:ext cx="9039460" cy="1402080"/>
        </p:xfrm>
        <a:graphic>
          <a:graphicData uri="http://schemas.openxmlformats.org/drawingml/2006/table">
            <a:tbl>
              <a:tblPr/>
              <a:tblGrid>
                <a:gridCol w="9039460">
                  <a:extLst>
                    <a:ext uri="{9D8B030D-6E8A-4147-A177-3AD203B41FA5}">
                      <a16:colId xmlns:a16="http://schemas.microsoft.com/office/drawing/2014/main" xmlns="" val="287047718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Objectives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6106314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 smtClean="0">
                          <a:solidFill>
                            <a:schemeClr val="tx1"/>
                          </a:solidFill>
                          <a:effectLst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implement a hash function for storing and retrieving key–value pairs efficiently.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31342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 smtClean="0">
                          <a:solidFill>
                            <a:schemeClr val="tx1"/>
                          </a:solidFill>
                          <a:effectLst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design functions for insertion, search, and display operations in a hash table.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279789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 smtClean="0">
                          <a:solidFill>
                            <a:schemeClr val="tx1"/>
                          </a:solidFill>
                          <a:effectLst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design functions for insertion, search, and display operations in a hash table.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93324615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09664DAA-772B-E4EF-0181-CDE1F5DB4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54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C05516-FB3F-631C-A9D1-2F54F912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Problem Statement: 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961C21-8B3F-3FCC-C6DF-5B758D0E3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487" y="1739127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ambria" pitchFamily="18" charset="0"/>
                <a:ea typeface="Cambria" pitchFamily="18" charset="0"/>
              </a:rPr>
              <a:t>Write a Program for a basic hash function in a programming language of your choice. Demonstrate its usage to store 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and retrieve 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key-value pairs.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1. Insert key–value pairs</a:t>
            </a:r>
            <a:b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2. Search for a key</a:t>
            </a:r>
            <a:b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3. Display the complete hash table</a:t>
            </a:r>
          </a:p>
          <a:p>
            <a:pPr marL="0" indent="0" algn="just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9FDD4DAE-07CF-B93D-23EE-35585D2FA412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E84C1E60-1DB4-D19B-1A72-44495D4AF39F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1973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3471CBB-E23A-2BEC-F54D-26A7CE847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833C17-EF57-1327-531A-B31C43893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8BA18-316C-FA4D-932C-1955346FD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Hashing 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converts data (key) into a fixed-size index using a hash function.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itchFamily="18" charset="0"/>
                <a:ea typeface="Cambria" pitchFamily="18" charset="0"/>
              </a:rPr>
              <a:t>Enables fast insertion and lookup in O(1) average time.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itchFamily="18" charset="0"/>
                <a:ea typeface="Cambria" pitchFamily="18" charset="0"/>
              </a:rPr>
              <a:t>Collision: Two keys produce the same index.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itchFamily="18" charset="0"/>
                <a:ea typeface="Cambria" pitchFamily="18" charset="0"/>
              </a:rPr>
              <a:t>Chaining: Handle collisions by maintaining a list of key-value pairs at each index.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0231122B-7886-9834-4897-B3DA540B74F3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04504AB9-0C30-167A-A60C-7DFAB529661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8439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44ED1EC-6695-3D52-17CD-60F1CAB8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C92FF2-6FD6-747B-B02A-A950CEDC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EF0F38-2FA4-DA47-3CAE-BA523339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773" y="157849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Initialize: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Create an array (vector) of buckets.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Hash Function</a:t>
            </a:r>
            <a:r>
              <a:rPr lang="en-US" b="1" dirty="0" smtClean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h=(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h∗base+ASCII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(char))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modTABLE_SIZE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Base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= 31 (a small prime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Mod = Table size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6CA385B6-C2A8-DB08-BCF2-71686C41A94C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F7F04C97-35E2-E246-0C3E-7C8A0DA9235A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8596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2445099-55B5-9236-0CD8-EAEA771E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561973-4D1E-24A1-EB17-7A4FE6DD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B3234F-16B4-61DF-3A20-B7A9E5D6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Compute index using hash function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If key exists → update value.</a:t>
            </a:r>
          </a:p>
          <a:p>
            <a:pPr marL="0" indent="0">
              <a:buNone/>
            </a:pPr>
            <a:r>
              <a:rPr lang="en-US" sz="2400" dirty="0"/>
              <a:t>Else → append to that bucket.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 Find (key): 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/>
              <a:t> C</a:t>
            </a:r>
            <a:r>
              <a:rPr lang="en-US" sz="2400" dirty="0" smtClean="0"/>
              <a:t>ompute </a:t>
            </a:r>
            <a:r>
              <a:rPr lang="en-US" sz="2400" dirty="0"/>
              <a:t>index using hash function.</a:t>
            </a:r>
          </a:p>
          <a:p>
            <a:pPr marL="0" indent="0">
              <a:buNone/>
            </a:pPr>
            <a:r>
              <a:rPr lang="en-US" sz="2400" dirty="0" smtClean="0"/>
              <a:t>	Search </a:t>
            </a:r>
            <a:r>
              <a:rPr lang="en-US" sz="2400" dirty="0"/>
              <a:t>for the key in the bucket.</a:t>
            </a:r>
          </a:p>
          <a:p>
            <a:pPr marL="0" indent="0">
              <a:buNone/>
            </a:pPr>
            <a:r>
              <a:rPr lang="en-US" sz="2400" dirty="0" smtClean="0"/>
              <a:t>	Return </a:t>
            </a:r>
            <a:r>
              <a:rPr lang="en-US" sz="2400" dirty="0"/>
              <a:t>its value or &lt;NOT FOUND&gt;.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6. Display():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BFA45CE6-B22F-B916-C3D4-B5DA637CCD17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79DC9D26-5CD5-6E05-B3C2-FD9DAF5BFF0C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97874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A757F5-E06B-0D76-7A4F-C848E18A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63DB27F0-C905-D415-A161-040C9733845E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D2052580-A359-3FA7-0DED-63B209651E19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727BA98-9D33-B943-2B11-73A5EDC3DA18}"/>
              </a:ext>
            </a:extLst>
          </p:cNvPr>
          <p:cNvSpPr txBox="1"/>
          <p:nvPr/>
        </p:nvSpPr>
        <p:spPr>
          <a:xfrm>
            <a:off x="887895" y="2047461"/>
            <a:ext cx="1000539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mbria" pitchFamily="18" charset="0"/>
                <a:ea typeface="Cambria" pitchFamily="18" charset="0"/>
              </a:rPr>
              <a:t>Hash 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Table (TABLE_SIZE = 11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):</a:t>
            </a:r>
          </a:p>
          <a:p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0 : [banana → yellow]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3 : [apple → red]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5 : [grape → purple]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8 : [mango → orange]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9 : [pear → green]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10: [peach → pink]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65A4450D-91D5-946F-5F3D-5E4C2FC7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7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252AC7-C2D5-C03B-35AD-6A95EF2C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9F91BD-B079-BE15-6F3A-152F26E2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303219BA-DB1F-C905-2DBC-E1E73FC08264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9F8CC54D-F78F-1D30-AC5B-ACFBA73B2591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0454"/>
            <a:ext cx="10406449" cy="470650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 err="1">
                <a:latin typeface="Cambria" pitchFamily="18" charset="0"/>
                <a:ea typeface="Cambria" pitchFamily="18" charset="0"/>
              </a:rPr>
              <a:t>const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size_t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 TABLE_SIZE = 11;                // small size to show collisions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vector&lt;vector&lt;pair&lt;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string,string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&gt;&gt;&gt; buckets(TABLE_SIZE);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// helper lambdas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auto insert = [&amp;](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const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 string &amp;key, 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const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 string &amp;value) {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    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size_t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idx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 = 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simpleStringHash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(key, TABLE_SIZE);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    // update if key already exists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    for (auto &amp;p : buckets[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idx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]) {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        if (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p.first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 == key) { 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p.second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 = value; return; }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    }</a:t>
            </a:r>
          </a:p>
          <a:p>
            <a:pPr marL="0" indent="0">
              <a:buNone/>
            </a:pPr>
            <a:endParaRPr lang="en-US" sz="7200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    buckets[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idx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].</a:t>
            </a:r>
            <a:r>
              <a:rPr lang="en-US" sz="7200" dirty="0" err="1">
                <a:latin typeface="Cambria" pitchFamily="18" charset="0"/>
                <a:ea typeface="Cambria" pitchFamily="18" charset="0"/>
              </a:rPr>
              <a:t>push_back</a:t>
            </a:r>
            <a:r>
              <a:rPr lang="en-US" sz="7200" dirty="0">
                <a:latin typeface="Cambria" pitchFamily="18" charset="0"/>
                <a:ea typeface="Cambria" pitchFamily="18" charset="0"/>
              </a:rPr>
              <a:t>({key, value});</a:t>
            </a:r>
          </a:p>
          <a:p>
            <a:pPr marL="0" indent="0">
              <a:buNone/>
            </a:pPr>
            <a:r>
              <a:rPr lang="en-US" sz="7200" dirty="0">
                <a:latin typeface="Cambria" pitchFamily="18" charset="0"/>
                <a:ea typeface="Cambria" pitchFamily="18" charset="0"/>
              </a:rPr>
              <a:t>    };</a:t>
            </a:r>
          </a:p>
          <a:p>
            <a:pPr marL="0" indent="0">
              <a:buNone/>
            </a:pPr>
            <a:r>
              <a:rPr lang="en-US" sz="6200" dirty="0">
                <a:latin typeface="Cambria" pitchFamily="18" charset="0"/>
                <a:ea typeface="Cambria" pitchFamily="18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36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890133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9568" y="0"/>
            <a:ext cx="4612432" cy="979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2701" y="1164771"/>
            <a:ext cx="1059542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auto </a:t>
            </a:r>
            <a:r>
              <a:rPr lang="en-US" sz="2000" dirty="0" err="1"/>
              <a:t>findValue</a:t>
            </a:r>
            <a:r>
              <a:rPr lang="en-US" sz="2000" dirty="0"/>
              <a:t> = [&amp;](</a:t>
            </a:r>
            <a:r>
              <a:rPr lang="en-US" sz="2000" dirty="0" err="1"/>
              <a:t>const</a:t>
            </a:r>
            <a:r>
              <a:rPr lang="en-US" sz="2000" dirty="0"/>
              <a:t> string &amp;key) -&gt; string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size_t</a:t>
            </a:r>
            <a:r>
              <a:rPr lang="en-US" sz="2000" dirty="0"/>
              <a:t> </a:t>
            </a:r>
            <a:r>
              <a:rPr lang="en-US" sz="2000" dirty="0" err="1"/>
              <a:t>idx</a:t>
            </a:r>
            <a:r>
              <a:rPr lang="en-US" sz="2000" dirty="0"/>
              <a:t> = </a:t>
            </a:r>
            <a:r>
              <a:rPr lang="en-US" sz="2000" dirty="0" err="1"/>
              <a:t>simpleStringHash</a:t>
            </a:r>
            <a:r>
              <a:rPr lang="en-US" sz="2000" dirty="0"/>
              <a:t>(key, TABLE_SIZE);</a:t>
            </a:r>
          </a:p>
          <a:p>
            <a:r>
              <a:rPr lang="en-US" sz="2000" dirty="0"/>
              <a:t>        for (auto &amp;p : buckets[</a:t>
            </a:r>
            <a:r>
              <a:rPr lang="en-US" sz="2000" dirty="0" err="1"/>
              <a:t>idx</a:t>
            </a:r>
            <a:r>
              <a:rPr lang="en-US" sz="2000" dirty="0"/>
              <a:t>]) {</a:t>
            </a:r>
          </a:p>
          <a:p>
            <a:r>
              <a:rPr lang="en-US" sz="2000" dirty="0"/>
              <a:t>            if (</a:t>
            </a:r>
            <a:r>
              <a:rPr lang="en-US" sz="2000" dirty="0" err="1"/>
              <a:t>p.first</a:t>
            </a:r>
            <a:r>
              <a:rPr lang="en-US" sz="2000" dirty="0"/>
              <a:t> == key) return </a:t>
            </a:r>
            <a:r>
              <a:rPr lang="en-US" sz="2000" dirty="0" err="1"/>
              <a:t>p.second</a:t>
            </a:r>
            <a:r>
              <a:rPr lang="en-US" sz="2000" dirty="0"/>
              <a:t>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     return "&lt;NOT FOUND&gt;";</a:t>
            </a:r>
          </a:p>
          <a:p>
            <a:r>
              <a:rPr lang="en-US" sz="2000" dirty="0"/>
              <a:t>    };</a:t>
            </a:r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    auto </a:t>
            </a:r>
            <a:r>
              <a:rPr lang="en-US" sz="2000" dirty="0" err="1"/>
              <a:t>showTable</a:t>
            </a:r>
            <a:r>
              <a:rPr lang="en-US" sz="2000" dirty="0"/>
              <a:t> = [&amp;]()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"Hash table buckets (index : [key -&gt; value, ...])\n";</a:t>
            </a:r>
          </a:p>
          <a:p>
            <a:r>
              <a:rPr lang="en-US" sz="2000" dirty="0"/>
              <a:t>        for (</a:t>
            </a:r>
            <a:r>
              <a:rPr lang="en-US" sz="2000" dirty="0" err="1"/>
              <a:t>size_t</a:t>
            </a:r>
            <a:r>
              <a:rPr lang="en-US" sz="2000" dirty="0"/>
              <a:t> i = 0; i &lt; TABLE_SIZE; ++i) {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cout</a:t>
            </a:r>
            <a:r>
              <a:rPr lang="en-US" sz="2000" dirty="0"/>
              <a:t> &lt;&lt; i &lt;&lt; " : ";</a:t>
            </a:r>
          </a:p>
          <a:p>
            <a:r>
              <a:rPr lang="en-US" sz="2000" dirty="0"/>
              <a:t> for (auto &amp;p : buckets[i]) </a:t>
            </a:r>
            <a:r>
              <a:rPr lang="en-US" sz="2000" dirty="0" err="1"/>
              <a:t>cout</a:t>
            </a:r>
            <a:r>
              <a:rPr lang="en-US" sz="2000" dirty="0"/>
              <a:t> &lt;&lt; "[" &lt;&lt; </a:t>
            </a:r>
            <a:r>
              <a:rPr lang="en-US" sz="2000" dirty="0" err="1"/>
              <a:t>p.first</a:t>
            </a:r>
            <a:r>
              <a:rPr lang="en-US" sz="2000" dirty="0"/>
              <a:t> &lt;&lt; " -&gt; " &lt;&lt; </a:t>
            </a:r>
            <a:r>
              <a:rPr lang="en-US" sz="2000" dirty="0" err="1"/>
              <a:t>p.second</a:t>
            </a:r>
            <a:r>
              <a:rPr lang="en-US" sz="2000" dirty="0"/>
              <a:t> &lt;&lt; "] ";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cout</a:t>
            </a:r>
            <a:r>
              <a:rPr lang="en-US" sz="2000" dirty="0"/>
              <a:t> &lt;&lt; "\n";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 }; </a:t>
            </a:r>
          </a:p>
          <a:p>
            <a:r>
              <a:rPr lang="en-US" sz="2000" dirty="0"/>
              <a:t>     </a:t>
            </a:r>
          </a:p>
          <a:p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805" y="0"/>
            <a:ext cx="4316731" cy="91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37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75F10BD-B35E-94E8-5663-50815139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D95692B6-5191-E00C-ACAA-7C9663EBCE49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E72CA855-6ABE-C5DA-0EBF-4AEA5D66ADCE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7838" y="667265"/>
            <a:ext cx="10735962" cy="550969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auto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findValue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= [&amp;](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const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string &amp;key) -&gt; string {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size_t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idx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=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simpleStringHash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(key, TABLE_SIZE);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for (auto &amp;p : buckets[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idx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]) {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    if (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p.first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== key) return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p.second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;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return "&lt;NOT FOUND&gt;";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};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auto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showTable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= [&amp;]() {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cout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&lt;&lt; "Hash table buckets (index : [key -&gt; value, ...])\n";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for (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size_t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i = 0; i &lt; TABLE_SIZE; ++i) {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   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cout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&lt;&lt; i &lt;&lt; " : ";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for (auto &amp;p : buckets[i])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cout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&lt;&lt; "[" &lt;&lt;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p.first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&lt;&lt; " -&gt; " &lt;&lt;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p.second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&lt;&lt; "] ";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    </a:t>
            </a:r>
            <a:r>
              <a:rPr lang="en-US" sz="2900" dirty="0" err="1">
                <a:latin typeface="Cambria" pitchFamily="18" charset="0"/>
                <a:ea typeface="Cambria" pitchFamily="18" charset="0"/>
              </a:rPr>
              <a:t>cout</a:t>
            </a:r>
            <a:r>
              <a:rPr lang="en-US" sz="2900" dirty="0">
                <a:latin typeface="Cambria" pitchFamily="18" charset="0"/>
                <a:ea typeface="Cambria" pitchFamily="18" charset="0"/>
              </a:rPr>
              <a:t> &lt;&lt; "\n";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}; </a:t>
            </a:r>
          </a:p>
          <a:p>
            <a:pPr marL="0" indent="0">
              <a:buNone/>
            </a:pPr>
            <a:r>
              <a:rPr lang="en-US" sz="2900" dirty="0">
                <a:latin typeface="Cambria" pitchFamily="18" charset="0"/>
                <a:ea typeface="Cambria" pitchFamily="18" charset="0"/>
              </a:rPr>
              <a:t>    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9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800864-9EDE-78C7-0F9E-B71EB851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938AF3-4E5D-AF38-B55F-B9BBCED8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E56FFAE0-CE47-9DD9-533B-A6051A99BFE1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DDE19BF5-049B-07F1-4D03-4365CC90539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6" name="Rectangle 5"/>
          <p:cNvSpPr/>
          <p:nvPr/>
        </p:nvSpPr>
        <p:spPr>
          <a:xfrm>
            <a:off x="926757" y="1878226"/>
            <a:ext cx="821724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dirty="0"/>
              <a:t>Hash table buckets (index : [key → value])</a:t>
            </a:r>
            <a:br>
              <a:rPr lang="en-US" dirty="0"/>
            </a:br>
            <a:r>
              <a:rPr lang="en-US" dirty="0"/>
              <a:t>0 : [banana → yellow]</a:t>
            </a:r>
            <a:br>
              <a:rPr lang="en-US" dirty="0"/>
            </a:br>
            <a:r>
              <a:rPr lang="en-US" dirty="0"/>
              <a:t>3 : [apple → red]</a:t>
            </a:r>
            <a:br>
              <a:rPr lang="en-US" dirty="0"/>
            </a:br>
            <a:r>
              <a:rPr lang="en-US" dirty="0"/>
              <a:t>5 : [grape → purple]</a:t>
            </a:r>
            <a:br>
              <a:rPr lang="en-US" dirty="0"/>
            </a:br>
            <a:r>
              <a:rPr lang="en-US" dirty="0"/>
              <a:t>8 : [mango → orange]</a:t>
            </a:r>
            <a:br>
              <a:rPr lang="en-US" dirty="0"/>
            </a:br>
            <a:r>
              <a:rPr lang="en-US" dirty="0"/>
              <a:t>9 : [pear → green]</a:t>
            </a:r>
            <a:br>
              <a:rPr lang="en-US" dirty="0"/>
            </a:br>
            <a:r>
              <a:rPr lang="en-US" dirty="0"/>
              <a:t>10: [peach → pink]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Retrieve:</a:t>
            </a:r>
            <a:br>
              <a:rPr lang="en-US" dirty="0"/>
            </a:br>
            <a:r>
              <a:rPr lang="en-US" dirty="0"/>
              <a:t>apple → red</a:t>
            </a:r>
            <a:br>
              <a:rPr lang="en-US" dirty="0"/>
            </a:br>
            <a:r>
              <a:rPr lang="en-US" dirty="0"/>
              <a:t>banana → yellow</a:t>
            </a:r>
            <a:br>
              <a:rPr lang="en-US" dirty="0"/>
            </a:br>
            <a:r>
              <a:rPr lang="en-US" dirty="0"/>
              <a:t>pear → green</a:t>
            </a:r>
            <a:br>
              <a:rPr lang="en-US" dirty="0"/>
            </a:br>
            <a:r>
              <a:rPr lang="en-US" dirty="0"/>
              <a:t>kiwi → &lt;NOT FOUND&gt;</a:t>
            </a:r>
          </a:p>
        </p:txBody>
      </p:sp>
    </p:spTree>
    <p:extLst>
      <p:ext uri="{BB962C8B-B14F-4D97-AF65-F5344CB8AC3E}">
        <p14:creationId xmlns:p14="http://schemas.microsoft.com/office/powerpoint/2010/main" val="570035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180AAD-7D52-28B3-9987-C87A48C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12C46F-6A00-51C1-03B6-49572A16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Time &amp; Space Complexity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D8201889-2AEF-1665-2C2D-579C5496C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446024"/>
              </p:ext>
            </p:extLst>
          </p:nvPr>
        </p:nvGraphicFramePr>
        <p:xfrm>
          <a:off x="1043609" y="2232128"/>
          <a:ext cx="9929191" cy="2468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81739">
                  <a:extLst>
                    <a:ext uri="{9D8B030D-6E8A-4147-A177-3AD203B41FA5}">
                      <a16:colId xmlns:a16="http://schemas.microsoft.com/office/drawing/2014/main" xmlns="" val="550509386"/>
                    </a:ext>
                  </a:extLst>
                </a:gridCol>
                <a:gridCol w="1739348">
                  <a:extLst>
                    <a:ext uri="{9D8B030D-6E8A-4147-A177-3AD203B41FA5}">
                      <a16:colId xmlns:a16="http://schemas.microsoft.com/office/drawing/2014/main" xmlns="" val="3080709575"/>
                    </a:ext>
                  </a:extLst>
                </a:gridCol>
                <a:gridCol w="1888434">
                  <a:extLst>
                    <a:ext uri="{9D8B030D-6E8A-4147-A177-3AD203B41FA5}">
                      <a16:colId xmlns:a16="http://schemas.microsoft.com/office/drawing/2014/main" xmlns="" val="769219263"/>
                    </a:ext>
                  </a:extLst>
                </a:gridCol>
                <a:gridCol w="3319670">
                  <a:extLst>
                    <a:ext uri="{9D8B030D-6E8A-4147-A177-3AD203B41FA5}">
                      <a16:colId xmlns:a16="http://schemas.microsoft.com/office/drawing/2014/main" xmlns="" val="2005432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Space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Why?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04216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40035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Search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50749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8E5BE82E-2F29-9429-C647-CB30979A4AE0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67BD99B5-A27B-06DE-27E6-25523559414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771634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64597BD-9FB6-41C6-30A1-D3C2BC77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453A5A-3BCD-6710-70D4-90212BCA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20C6DD-F7E5-78D0-C864-E35DCF55B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Hashing improves search efficiency.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Collision handling via chaining ensures stable performance.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Each bucket can store multiple key-value pairs.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Effective for dictionaries, databases, and symbol tables.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14A6E9B5-1CFC-504A-2188-F9373268C03C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5ADE9C5B-E567-2E88-CFA1-3D267E9688EA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4450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752432-6567-F6B8-58C5-D8227FF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505A7-E21D-9F7F-BB89-B8827944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5D82DD-AA93-1185-60B7-4D79F669B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832" y="1544595"/>
            <a:ext cx="10562968" cy="463236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dirty="0" smtClean="0"/>
              <a:t> 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Design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HashMap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 — </a:t>
            </a:r>
            <a:r>
              <a:rPr lang="en-US" dirty="0" err="1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LeetCode</a:t>
            </a:r>
            <a:r>
              <a:rPr lang="en-US" dirty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 #706</a:t>
            </a:r>
            <a:endParaRPr lang="en-US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🔗     https</a:t>
            </a:r>
            <a:r>
              <a:rPr lang="en-US" dirty="0">
                <a:latin typeface="Cambria" pitchFamily="18" charset="0"/>
                <a:ea typeface="Cambria" pitchFamily="18" charset="0"/>
              </a:rPr>
              <a:t>://leetcode.com/problems/design-hashmap/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Build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simple hash map with chaining.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Same as our class example — perfect for reinforcement.</a:t>
            </a:r>
          </a:p>
          <a:p>
            <a:pPr marL="0" indent="0" algn="just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4D1A9CE8-F7D1-6FDC-CCFE-04EDCAC4835B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E2920209-269F-7DB9-0ED2-0218F5B605F2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143794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E6EE52-C2E8-68F8-9017-0B5AA27D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AE521D-378E-D113-212D-D4461F1F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5F38C4-85FA-6FC3-DF2F-EFA9FD1B9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b="1" dirty="0"/>
              <a:t>Valid Anagram — </a:t>
            </a:r>
            <a:r>
              <a:rPr lang="en-US" dirty="0" err="1"/>
              <a:t>LeetCode</a:t>
            </a:r>
            <a:r>
              <a:rPr lang="en-US" dirty="0"/>
              <a:t> </a:t>
            </a:r>
            <a:r>
              <a:rPr lang="en-US" dirty="0" smtClean="0"/>
              <a:t>#706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🔗   https://leetcode.com/problems/valid-anagram/</a:t>
            </a:r>
          </a:p>
          <a:p>
            <a:pPr marL="0" indent="0" algn="just">
              <a:buNone/>
            </a:pPr>
            <a:endParaRPr lang="en-US" b="1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Uses hashing for frequency counting.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xmlns="" id="{8B12A9FF-BED6-6228-CD62-637B40F67AAE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xmlns="" id="{AD6FC475-9F81-231D-7841-2C62B0B545F5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80447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0828A94-A648-E376-259E-F66FA43D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6D5232-2903-D341-34C9-5C74DB9A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b="1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IN" sz="7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xmlns="" id="{4100F48C-2E5C-EB14-4264-B3580D048FE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186468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722</Words>
  <Application>Microsoft Office PowerPoint</Application>
  <PresentationFormat>Custom</PresentationFormat>
  <Paragraphs>133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Practical 17</vt:lpstr>
      <vt:lpstr>PowerPoint Presentation</vt:lpstr>
      <vt:lpstr>Problem Statement: </vt:lpstr>
      <vt:lpstr>Concept</vt:lpstr>
      <vt:lpstr>Algorithm/Logic</vt:lpstr>
      <vt:lpstr>Algorithm/Logic</vt:lpstr>
      <vt:lpstr>Visualization</vt:lpstr>
      <vt:lpstr>Code Implementation</vt:lpstr>
      <vt:lpstr>Code Implementation</vt:lpstr>
      <vt:lpstr>PowerPoint Presentation</vt:lpstr>
      <vt:lpstr>Output</vt:lpstr>
      <vt:lpstr>Time &amp; Space Complexity</vt:lpstr>
      <vt:lpstr>Summary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1</dc:title>
  <dc:creator>Prakash K. P.</dc:creator>
  <cp:lastModifiedBy>user</cp:lastModifiedBy>
  <cp:revision>11</cp:revision>
  <dcterms:created xsi:type="dcterms:W3CDTF">2025-10-28T09:21:51Z</dcterms:created>
  <dcterms:modified xsi:type="dcterms:W3CDTF">2025-10-29T06:47:14Z</dcterms:modified>
</cp:coreProperties>
</file>