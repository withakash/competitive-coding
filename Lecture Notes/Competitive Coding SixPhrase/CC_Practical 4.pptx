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9" r:id="rId2"/>
    <p:sldId id="258" r:id="rId3"/>
    <p:sldId id="257" r:id="rId4"/>
    <p:sldId id="260" r:id="rId5"/>
    <p:sldId id="288" r:id="rId6"/>
    <p:sldId id="262" r:id="rId7"/>
    <p:sldId id="281" r:id="rId8"/>
    <p:sldId id="282" r:id="rId9"/>
    <p:sldId id="276" r:id="rId10"/>
    <p:sldId id="289" r:id="rId11"/>
    <p:sldId id="264" r:id="rId12"/>
    <p:sldId id="290" r:id="rId13"/>
    <p:sldId id="274" r:id="rId14"/>
    <p:sldId id="268" r:id="rId15"/>
    <p:sldId id="267" r:id="rId16"/>
    <p:sldId id="277" r:id="rId17"/>
    <p:sldId id="270" r:id="rId18"/>
    <p:sldId id="27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6391"/>
    <a:srgbClr val="235A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841927-98DD-4D9D-B9FB-44B71342165D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99CB32-7767-456A-86B8-58DE97D408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308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3EF7C-9A4D-88E2-C4CC-C39582306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5AD664-159A-4DD6-933B-34FF44C618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061C8-DB36-80F8-49FD-4740859A4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1AB32-1842-334F-F9B1-E3ACD9DFB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70B78-EE29-9CE8-B923-351F6D58B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646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09FB-F866-B864-CE15-0ED311C07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A2372-0DE1-85A0-FEE3-D10FEB858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82CCF-7F29-DB12-A62F-8716481D1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E48AF-008B-BAEB-1931-9475AEE37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ECE98-40D4-77D2-4D20-22CE258AB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326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785CC-501D-7868-14B2-9E03058B6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4FDFFB-ADAD-1778-A89D-7CCB0CF88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C0220-365B-BA84-8E1E-1861FEBAF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99F35-C3CC-5755-D418-351796B2F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7F2DD-CFBF-34A6-D4BB-61E3C2B0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47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95EF6-B198-A5D1-279B-4FCBC8EF3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9412F-3104-C664-F481-A8D77EEC7F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19965E-5C0B-02DB-7237-83148FB84B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0E994B-DF7B-4643-5641-BBB9B1328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34EB-903D-872E-B4D9-5C5C6F89C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8F85C-E3FF-EAE7-390A-0A114D60F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748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8937-13B6-E840-481C-E4BE9A33F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CB719-DEA0-F595-54CF-6CDF6A2AD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465EE9-78F8-2BE5-FA84-A3F91DD99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030E4F-BC82-3014-AB63-B299F0028A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25E42D-A645-C6F5-BAB7-D365632FA1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89159D-5AF9-67ED-B063-2CA20F7BE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7F52C7-F6CC-8492-9EE6-EC7DE4109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2A36F7-667D-F80A-1A39-3832B2594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998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3F300-92C8-B0AD-0E41-AC6E16DD9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3C5C80-A6C1-8C63-878D-B68B0916A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E5CAAD-2C01-4F9B-BB69-5A4A33A05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1C1E0-FBFA-A136-3478-A7ABE380E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352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59CEB0-3FAE-4CAA-DB67-B2878765D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DCFD7F-BD5F-DEE0-330C-C6A302BED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76547-319F-884F-01E1-A8E5CA23E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666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76630-3931-20E0-16B1-16AFB9E54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26464-64E2-06D5-238E-F4E4F1D21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C04F8F-2406-C0D9-FE0C-EA76951AA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700067-E7D6-564C-D95D-945BD7D24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D7ECA-7702-259D-1165-9B6591E26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16E639-CADB-9226-037E-57FCDF909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979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8F1E7-C4F9-DE92-600D-3A06F8D9E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D27332-527C-CDEB-5E3C-5191FFB044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72BCBB-0226-1CD1-C81D-90C98F4D03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32B915-8EE2-B94F-E7A5-026E59598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97E5A9-BD8E-B08B-71DC-494FF25DD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D5D131-048C-A75A-CCA8-DFD386DE7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332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C6D1-68B5-79F9-D1FB-89DD00AF2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DFEF47-628B-21E6-C192-9A1ADBD94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211DA-AD34-022F-EAEF-1058B504D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7F97D-B4CD-6E69-0786-4B37F7E7E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42247-F626-966C-9028-131DEA244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245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B3C7B4-D871-D125-2855-66783341C1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FADC94-8DFB-0D2C-5672-176050FF7A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D5E8E-091F-6512-F9F4-D688AF854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7BC39-7793-E5B8-7F4B-033C6C990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470A5-8874-1B25-BB76-ADD786BDA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4160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DC89AB-27E6-CD37-E425-3A632A70A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D8411-6495-DE2A-7B3B-C978FEB1F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BA7FD-0373-8009-BAC6-A9B68C8895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1787D-E165-4BDE-BA1E-DCBC9827DA08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8C219-0A60-87C9-05EF-17A1D87BAF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3A1BB-065A-0AC1-9560-DDFBC7C708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8774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design-circular-deque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etcode.com/problems/find-the-winner-of-the-circular-game/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5DF42-3AAB-5ABA-6664-039D820DF1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8467"/>
            <a:ext cx="9144000" cy="2387600"/>
          </a:xfrm>
        </p:spPr>
        <p:txBody>
          <a:bodyPr>
            <a:normAutofit/>
          </a:bodyPr>
          <a:lstStyle/>
          <a:p>
            <a:r>
              <a:rPr lang="en-US" sz="7000" dirty="0">
                <a:latin typeface="Cambria" panose="02040503050406030204" pitchFamily="18" charset="0"/>
                <a:ea typeface="Cambria" panose="02040503050406030204" pitchFamily="18" charset="0"/>
              </a:rPr>
              <a:t>Practical 4</a:t>
            </a:r>
            <a:endParaRPr lang="en-IN" sz="7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06CF19-098F-1A24-E2AA-764F507649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98386"/>
            <a:ext cx="9144000" cy="1655762"/>
          </a:xfrm>
        </p:spPr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Implementation of Circular Queue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1EB037CC-2254-F3F2-3E31-37AF8D72886B}"/>
              </a:ext>
            </a:extLst>
          </p:cNvPr>
          <p:cNvSpPr/>
          <p:nvPr/>
        </p:nvSpPr>
        <p:spPr>
          <a:xfrm>
            <a:off x="3070741" y="1514622"/>
            <a:ext cx="6050518" cy="1517789"/>
          </a:xfrm>
          <a:custGeom>
            <a:avLst/>
            <a:gdLst/>
            <a:ahLst/>
            <a:cxnLst/>
            <a:rect l="l" t="t" r="r" b="b"/>
            <a:pathLst>
              <a:path w="6050518" h="1517789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38" b="-5648"/>
            </a:stretch>
          </a:blipFill>
        </p:spPr>
      </p:sp>
    </p:spTree>
    <p:extLst>
      <p:ext uri="{BB962C8B-B14F-4D97-AF65-F5344CB8AC3E}">
        <p14:creationId xmlns:p14="http://schemas.microsoft.com/office/powerpoint/2010/main" val="264832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2E5B0-6D5B-AA51-D14A-1F6930352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6630BDC-437F-2F05-F866-95DD52B258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5547025"/>
              </p:ext>
            </p:extLst>
          </p:nvPr>
        </p:nvGraphicFramePr>
        <p:xfrm>
          <a:off x="3309539" y="1265839"/>
          <a:ext cx="5342848" cy="441960"/>
        </p:xfrm>
        <a:graphic>
          <a:graphicData uri="http://schemas.openxmlformats.org/drawingml/2006/table">
            <a:tbl>
              <a:tblPr/>
              <a:tblGrid>
                <a:gridCol w="5342848">
                  <a:extLst>
                    <a:ext uri="{9D8B030D-6E8A-4147-A177-3AD203B41FA5}">
                      <a16:colId xmlns:a16="http://schemas.microsoft.com/office/drawing/2014/main" val="2198981689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Lesson Plan</a:t>
                      </a:r>
                      <a:endParaRPr lang="en-IN" sz="2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059474"/>
                  </a:ext>
                </a:extLst>
              </a:tr>
            </a:tbl>
          </a:graphicData>
        </a:graphic>
      </p:graphicFrame>
      <p:grpSp>
        <p:nvGrpSpPr>
          <p:cNvPr id="4" name="Group 25">
            <a:extLst>
              <a:ext uri="{FF2B5EF4-FFF2-40B4-BE49-F238E27FC236}">
                <a16:creationId xmlns:a16="http://schemas.microsoft.com/office/drawing/2014/main" id="{B3E43877-1080-6E4B-6AE0-E2492EFDFEB1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1593851C-D4FF-08B5-09C5-7485B1DE2FD4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DC201C7-4C87-CD1D-B3D7-4E286AF414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708706"/>
              </p:ext>
            </p:extLst>
          </p:nvPr>
        </p:nvGraphicFramePr>
        <p:xfrm>
          <a:off x="1461074" y="2362816"/>
          <a:ext cx="9059442" cy="701040"/>
        </p:xfrm>
        <a:graphic>
          <a:graphicData uri="http://schemas.openxmlformats.org/drawingml/2006/table">
            <a:tbl>
              <a:tblPr/>
              <a:tblGrid>
                <a:gridCol w="2865120">
                  <a:extLst>
                    <a:ext uri="{9D8B030D-6E8A-4147-A177-3AD203B41FA5}">
                      <a16:colId xmlns:a16="http://schemas.microsoft.com/office/drawing/2014/main" val="332542170"/>
                    </a:ext>
                  </a:extLst>
                </a:gridCol>
                <a:gridCol w="6194322">
                  <a:extLst>
                    <a:ext uri="{9D8B030D-6E8A-4147-A177-3AD203B41FA5}">
                      <a16:colId xmlns:a16="http://schemas.microsoft.com/office/drawing/2014/main" val="4288960800"/>
                    </a:ext>
                  </a:extLst>
                </a:gridCol>
              </a:tblGrid>
              <a:tr h="33581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Subject/Course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Competitive Coding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996359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Lesson Title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solidFill>
                            <a:srgbClr val="0070C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Implementation of Circular Queue</a:t>
                      </a:r>
                      <a:endParaRPr lang="en-IN" sz="1800" b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58223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F94AD06-F5C6-E858-BB39-C46F901F64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5391899"/>
              </p:ext>
            </p:extLst>
          </p:nvPr>
        </p:nvGraphicFramePr>
        <p:xfrm>
          <a:off x="1490571" y="3308681"/>
          <a:ext cx="9020113" cy="2575560"/>
        </p:xfrm>
        <a:graphic>
          <a:graphicData uri="http://schemas.openxmlformats.org/drawingml/2006/table">
            <a:tbl>
              <a:tblPr/>
              <a:tblGrid>
                <a:gridCol w="9020113">
                  <a:extLst>
                    <a:ext uri="{9D8B030D-6E8A-4147-A177-3AD203B41FA5}">
                      <a16:colId xmlns:a16="http://schemas.microsoft.com/office/drawing/2014/main" val="2870477182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C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Lesson Objectives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063145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To explain the concept and purpose of a circular queue and how it differs from a linear queue.</a:t>
                      </a: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342010"/>
                  </a:ext>
                </a:extLst>
              </a:tr>
              <a:tr h="496649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To implement circular queue operations (enqueue, dequeue, front, rear, </a:t>
                      </a:r>
                      <a:r>
                        <a:rPr lang="en-IN" sz="18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isFull</a:t>
                      </a: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 </a:t>
                      </a:r>
                      <a:r>
                        <a:rPr lang="en-IN" sz="18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isEmpty</a:t>
                      </a: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) using an array-based approach in code.</a:t>
                      </a: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79789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Evaluate the time and space complexity of common circular queue operations.</a:t>
                      </a: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332461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To identify suitable scenarios in computer science or real-life where </a:t>
                      </a:r>
                      <a:r>
                        <a:rPr lang="en-IN" sz="18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Circualr</a:t>
                      </a: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Queue is applicable and efficient.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2145128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09664DAA-772B-E4EF-0181-CDE1F5DB4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0880" y="452326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546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05516-FB3F-631C-A9D1-2F54F912B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Bold"/>
                <a:sym typeface="Cambria Bold"/>
              </a:rPr>
              <a:t>Problem Statement: 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61C21-8B3F-3FCC-C6DF-5B758D0E3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Write a program to design a circular queue(k) which Should implement the below functions </a:t>
            </a:r>
          </a:p>
          <a:p>
            <a:pPr marL="0" indent="0" algn="just">
              <a:buNone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a. Enqueue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b. Dequeue </a:t>
            </a:r>
          </a:p>
          <a:p>
            <a:pPr marL="0" indent="0" algn="just">
              <a:buNone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c. Front</a:t>
            </a:r>
          </a:p>
          <a:p>
            <a:pPr marL="0" indent="0" algn="just">
              <a:buNone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d. Rear</a:t>
            </a: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9FDD4DAE-07CF-B93D-23EE-35585D2FA412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E84C1E60-1DB4-D19B-1A72-44495D4AF39F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319735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71CBB-E23A-2BEC-F54D-26A7CE847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33C17-EF57-1327-531A-B31C43893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Introduction to 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8BA18-316C-FA4D-932C-1955346FD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algn="just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 Circular Queue is a linear data structure that follows the FIFO (First In First Out) principle.</a:t>
            </a:r>
          </a:p>
          <a:p>
            <a:pPr algn="just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Unlike a normal queue, the last position is connected back to the first position to make a circle.</a:t>
            </a:r>
          </a:p>
          <a:p>
            <a:pPr algn="just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This structure efficiently utilizes memory by reusing empty spaces created by dequeued elements.</a:t>
            </a: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0231122B-7886-9834-4897-B3DA540B74F3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04504AB9-0C30-167A-A60C-7DFAB5296614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684396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62713-EC62-F995-5244-9F7E97B1D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954BC-96C7-2F72-605C-722F746C0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Concept and Background</a:t>
            </a:r>
            <a:endParaRPr lang="en-IN" sz="4000" b="1" dirty="0">
              <a:solidFill>
                <a:schemeClr val="lt1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D9F67-BFC1-FCB7-5289-DDCA43DF1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Circular Queue connects the end of the queue back to the front.</a:t>
            </a:r>
          </a:p>
          <a:p>
            <a:pPr algn="just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It prevents wastage of space in a linear queue when elements are dequeued.</a:t>
            </a:r>
          </a:p>
          <a:p>
            <a:pPr algn="just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It can be implemented using Arrays, Linked List etc.</a:t>
            </a:r>
          </a:p>
          <a:p>
            <a:pPr algn="just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Two pointers are maintained:</a:t>
            </a:r>
          </a:p>
          <a:p>
            <a:pPr lvl="1" algn="just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 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front → points to the first element.</a:t>
            </a:r>
          </a:p>
          <a:p>
            <a:pPr lvl="1" algn="just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  rear → points to the last element.</a:t>
            </a:r>
          </a:p>
          <a:p>
            <a:pPr algn="just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queue is full when (rear + 1) % size == front.</a:t>
            </a:r>
          </a:p>
          <a:p>
            <a:pPr algn="just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queue is empty when front == -1.</a:t>
            </a: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AC660E0E-6D71-5DAD-D08B-8DB24A34E85C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F606BABC-8F9A-2C8E-6ECD-DACD9546D591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367513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757F5-E06B-0D76-7A4F-C848E18A2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5">
            <a:extLst>
              <a:ext uri="{FF2B5EF4-FFF2-40B4-BE49-F238E27FC236}">
                <a16:creationId xmlns:a16="http://schemas.microsoft.com/office/drawing/2014/main" id="{63DB27F0-C905-D415-A161-040C9733845E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D2052580-A359-3FA7-0DED-63B209651E19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2978A4D8-8182-DE36-6C53-E2BE9B878D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348"/>
          <a:stretch>
            <a:fillRect/>
          </a:stretch>
        </p:blipFill>
        <p:spPr>
          <a:xfrm>
            <a:off x="2387924" y="1865737"/>
            <a:ext cx="7067934" cy="47278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8F0A8D-2016-0095-26EE-734334DBC808}"/>
              </a:ext>
            </a:extLst>
          </p:cNvPr>
          <p:cNvSpPr txBox="1"/>
          <p:nvPr/>
        </p:nvSpPr>
        <p:spPr>
          <a:xfrm>
            <a:off x="5751121" y="1484460"/>
            <a:ext cx="3572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4.Insert 20,Rear=3, Front =1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92B6AF-8988-F5A4-024D-ABC95318627C}"/>
              </a:ext>
            </a:extLst>
          </p:cNvPr>
          <p:cNvSpPr txBox="1"/>
          <p:nvPr/>
        </p:nvSpPr>
        <p:spPr>
          <a:xfrm>
            <a:off x="2547607" y="1550441"/>
            <a:ext cx="904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1.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2255944-6D3C-3CAF-A1F0-84715ED1A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Visualization</a:t>
            </a:r>
            <a:endParaRPr lang="en-IN" sz="4000" b="1" dirty="0">
              <a:solidFill>
                <a:schemeClr val="lt1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277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46A72-E80A-7CAB-A636-9684D6179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CE1C9-F30B-C6CD-327B-213A84B65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Queue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F9165-EA19-F7BF-3BC6-7D5395E10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2368" y="1690688"/>
            <a:ext cx="10515600" cy="499160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1. Enqueue (Insert): 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Add an element at the rear.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  - Check if the queue is full.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  - Update rear = (rear + 1) % size.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  - Insert element at rear.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2. Dequeue (Delete):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Remove an element from the front.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  - Check if the queue is empty.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  - Update front = (front + 1) % size.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3. Peek: 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Retrieve the front element without removing it.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4. Display: 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Print elements from front to rear circularly.</a:t>
            </a: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F0664A73-C9FF-8178-D21A-B9A48692679D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C0D78CE9-0753-A4C2-16B6-DF46E141A090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913292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752BC-8E9F-1AA5-9762-AF17531F3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5">
            <a:extLst>
              <a:ext uri="{FF2B5EF4-FFF2-40B4-BE49-F238E27FC236}">
                <a16:creationId xmlns:a16="http://schemas.microsoft.com/office/drawing/2014/main" id="{5892CA57-85F9-9353-A7BE-46C248F4C86E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C7CD7245-D151-8889-B0D2-143BCB0AF44B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6AC2000F-0F19-F15A-A684-379DBDD90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Conditions for Queue State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A990ED-6A0D-9C3E-3242-18860A281458}"/>
              </a:ext>
            </a:extLst>
          </p:cNvPr>
          <p:cNvSpPr txBox="1"/>
          <p:nvPr/>
        </p:nvSpPr>
        <p:spPr>
          <a:xfrm>
            <a:off x="838200" y="1905506"/>
            <a:ext cx="83058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IN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• Queue Full Condition:</a:t>
            </a:r>
          </a:p>
          <a:p>
            <a:pPr marL="0" indent="0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 (rear + 1) % size == front</a:t>
            </a:r>
          </a:p>
          <a:p>
            <a:pPr marL="0" indent="0"/>
            <a:endParaRPr lang="en-IN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0" indent="0"/>
            <a:r>
              <a:rPr lang="en-IN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• Queue Empty Condition:</a:t>
            </a:r>
          </a:p>
          <a:p>
            <a:pPr marL="0" indent="0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 front == -1</a:t>
            </a:r>
          </a:p>
          <a:p>
            <a:pPr marL="0" indent="0"/>
            <a:endParaRPr lang="en-IN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0" indent="0"/>
            <a:r>
              <a:rPr lang="en-IN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• Reset Condition after last Dequeue:</a:t>
            </a:r>
          </a:p>
          <a:p>
            <a:pPr marL="0" indent="0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 If front == rear, then set front = rear = -1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712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45099-55B5-9236-0CD8-EAEA771EB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61973-4D1E-24A1-EB17-7A4FE6DD3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Algorithm/Logic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BFA45CE6-B22F-B916-C3D4-B5DA637CCD17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79DC9D26-5CD5-6E05-B3C2-FD9DAF5BFF0C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4DC4CC7-A41E-51F4-DDD9-43FA30502B82}"/>
              </a:ext>
            </a:extLst>
          </p:cNvPr>
          <p:cNvSpPr txBox="1"/>
          <p:nvPr/>
        </p:nvSpPr>
        <p:spPr>
          <a:xfrm>
            <a:off x="838199" y="1863350"/>
            <a:ext cx="1051559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953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ENQUEUE(x):</a:t>
            </a:r>
          </a:p>
          <a:p>
            <a:pPr marL="0" indent="0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1. If (rear + 1) % size == front → Overflow</a:t>
            </a:r>
          </a:p>
          <a:p>
            <a:pPr marL="0" indent="0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2. Else if front == -1 → front = rear = 0</a:t>
            </a:r>
          </a:p>
          <a:p>
            <a:pPr marL="0" indent="0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3. Else → rear = (rear + 1) % size</a:t>
            </a:r>
          </a:p>
          <a:p>
            <a:pPr marL="0" indent="0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4. queue[rear] = x</a:t>
            </a:r>
          </a:p>
          <a:p>
            <a:endParaRPr lang="en-IN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4953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DEQUEUE():</a:t>
            </a:r>
          </a:p>
          <a:p>
            <a:pPr marL="0" indent="0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1. If front == -1 → Underflow</a:t>
            </a:r>
          </a:p>
          <a:p>
            <a:pPr marL="0" indent="0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2. x = queue[front]</a:t>
            </a:r>
          </a:p>
          <a:p>
            <a:pPr marL="0" indent="0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3. If front == rear → front = rear = -1</a:t>
            </a:r>
          </a:p>
          <a:p>
            <a:pPr marL="0" indent="0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4. Else → front = (front + 1) % size</a:t>
            </a:r>
          </a:p>
        </p:txBody>
      </p:sp>
    </p:spTree>
    <p:extLst>
      <p:ext uri="{BB962C8B-B14F-4D97-AF65-F5344CB8AC3E}">
        <p14:creationId xmlns:p14="http://schemas.microsoft.com/office/powerpoint/2010/main" val="3978748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E2055-085D-EC52-5881-F3503E703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BB54B-1AF2-4EDC-BBF6-336F8F6F9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Algorithm/Logic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5688BDF0-137C-99D6-F18C-EB79AE62F21A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00CC6A64-C9B2-AED3-9C8D-DC5F8FCF76AA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F5B1171-1E3B-7525-0794-86D1F9E8F180}"/>
              </a:ext>
            </a:extLst>
          </p:cNvPr>
          <p:cNvSpPr txBox="1"/>
          <p:nvPr/>
        </p:nvSpPr>
        <p:spPr>
          <a:xfrm>
            <a:off x="659732" y="1951672"/>
            <a:ext cx="10872535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953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Front(x):</a:t>
            </a:r>
          </a:p>
          <a:p>
            <a:pPr marL="495300" indent="-342900">
              <a:buFont typeface="Wingdings" panose="05000000000000000000" pitchFamily="2" charset="2"/>
              <a:buChar char="q"/>
            </a:pPr>
            <a:endParaRPr lang="en-IN" sz="2400" b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  1. 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If front != -1, then queue[front] is the front item.</a:t>
            </a:r>
          </a:p>
          <a:p>
            <a:pPr marL="152400"/>
            <a:endParaRPr lang="en-IN" sz="2400" b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4953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Rear():</a:t>
            </a:r>
          </a:p>
          <a:p>
            <a:pPr marL="495300" indent="-342900">
              <a:buFont typeface="Wingdings" panose="05000000000000000000" pitchFamily="2" charset="2"/>
              <a:buChar char="q"/>
            </a:pPr>
            <a:endParaRPr lang="en-IN" sz="2400" b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152400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1. 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If rear != -1, then queue[rear] is the rear item.</a:t>
            </a:r>
          </a:p>
          <a:p>
            <a:br>
              <a:rPr lang="en-IN" dirty="0"/>
            </a:br>
            <a:endParaRPr lang="en-IN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5265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52AC7-C2D5-C03B-35AD-6A95EF2C9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F91BD-B079-BE15-6F3A-152F26E25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Code Implementation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303219BA-DB1F-C905-2DBC-E1E73FC08264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9F8CC54D-F78F-1D30-AC5B-ACFBA73B2591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322FC936-324E-E64F-43BE-10E9F2C1C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907" y="1448663"/>
            <a:ext cx="8230749" cy="525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369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9E83E-79CC-2B23-6E9E-CE3B9C0B8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A19B45F-D69E-E99F-8E31-A1DD09D13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704" y="516083"/>
            <a:ext cx="9078592" cy="5963482"/>
          </a:xfrm>
          <a:prstGeom prst="rect">
            <a:avLst/>
          </a:prstGeom>
        </p:spPr>
      </p:pic>
      <p:grpSp>
        <p:nvGrpSpPr>
          <p:cNvPr id="4" name="Group 25">
            <a:extLst>
              <a:ext uri="{FF2B5EF4-FFF2-40B4-BE49-F238E27FC236}">
                <a16:creationId xmlns:a16="http://schemas.microsoft.com/office/drawing/2014/main" id="{09F705A1-90DE-35D0-BB1D-C815FA16573D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309F90AC-6F23-DA7B-CF2C-0C902C61253E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487597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/>
          <a:p>
            <a:pPr algn="l">
              <a:lnSpc>
                <a:spcPct val="90000"/>
              </a:lnSpc>
              <a:buSzPts val="4000"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Output :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9991483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95AF01-F001-E012-4271-64090A2F6879}"/>
              </a:ext>
            </a:extLst>
          </p:cNvPr>
          <p:cNvSpPr/>
          <p:nvPr/>
        </p:nvSpPr>
        <p:spPr>
          <a:xfrm>
            <a:off x="1720646" y="2005782"/>
            <a:ext cx="8111613" cy="315615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791DF5-972B-1D27-EE5A-022B406632E1}"/>
              </a:ext>
            </a:extLst>
          </p:cNvPr>
          <p:cNvSpPr txBox="1"/>
          <p:nvPr/>
        </p:nvSpPr>
        <p:spPr>
          <a:xfrm>
            <a:off x="1848466" y="2202427"/>
            <a:ext cx="7747819" cy="1131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Front Element: 10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Rear Element: 40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00864-9EDE-78C7-0F9E-B71EB8518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38AF3-4E5D-AF38-B55F-B9BBCED80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</a:rPr>
              <a:t>Output</a:t>
            </a:r>
            <a:endParaRPr lang="en-IN" sz="4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E56FFAE0-CE47-9DD9-533B-A6051A99BFE1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DDE19BF5-049B-07F1-4D03-4365CC905390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34ED60A-3A02-E7EA-F5A5-150D3A1975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8"/>
          <a:stretch>
            <a:fillRect/>
          </a:stretch>
        </p:blipFill>
        <p:spPr>
          <a:xfrm>
            <a:off x="2086898" y="1877960"/>
            <a:ext cx="5425061" cy="2106683"/>
          </a:xfrm>
        </p:spPr>
      </p:pic>
    </p:spTree>
    <p:extLst>
      <p:ext uri="{BB962C8B-B14F-4D97-AF65-F5344CB8AC3E}">
        <p14:creationId xmlns:p14="http://schemas.microsoft.com/office/powerpoint/2010/main" val="570035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80AAD-7D52-28B3-9987-C87A48C0E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2C46F-6A00-51C1-03B6-49572A16B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Time &amp; Space Complexity</a:t>
            </a: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8E5BE82E-2F29-9429-C647-CB30979A4AE0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67BD99B5-A27B-06DE-27E6-255235594140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8A63617-FB1D-724E-1D12-4EC907451B6F}"/>
              </a:ext>
            </a:extLst>
          </p:cNvPr>
          <p:cNvSpPr txBox="1"/>
          <p:nvPr/>
        </p:nvSpPr>
        <p:spPr>
          <a:xfrm>
            <a:off x="838199" y="2278847"/>
            <a:ext cx="1108832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•   Enqueue Operation: O(1)</a:t>
            </a:r>
          </a:p>
          <a:p>
            <a:pPr marL="0" indent="0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•   Dequeue Operation: O(1)</a:t>
            </a:r>
          </a:p>
          <a:p>
            <a:pPr marL="0" indent="0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•   Peek Operation: O(1)</a:t>
            </a:r>
          </a:p>
          <a:p>
            <a:pPr marL="0" indent="0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•   Display Operation: O(n)</a:t>
            </a:r>
          </a:p>
          <a:p>
            <a:pPr marL="0" indent="0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•   Space Complexity: O(n)</a:t>
            </a:r>
          </a:p>
          <a:p>
            <a:endParaRPr lang="en-IN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152400" indent="0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Circular Queue provides efficient memory use and constant-time operations.</a:t>
            </a:r>
          </a:p>
        </p:txBody>
      </p:sp>
    </p:spTree>
    <p:extLst>
      <p:ext uri="{BB962C8B-B14F-4D97-AF65-F5344CB8AC3E}">
        <p14:creationId xmlns:p14="http://schemas.microsoft.com/office/powerpoint/2010/main" val="27716344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7EBDF-253F-78C8-D890-3CFBDEE60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9C22A-C2A2-B9F0-246E-A803474B6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EFBDB-B41D-B3AE-59C3-01392EC45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Implemented a Circular Queue of capacity k supporting operations: enqueue, dequeue, front, and rear.</a:t>
            </a:r>
          </a:p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Used modular arithmetic to connect the last index back to the first, avoiding wasted space.</a:t>
            </a:r>
          </a:p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Handled overflow (queue full) and underflow (queue empty) conditions effectively.</a:t>
            </a:r>
          </a:p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Demonstrated the difference between linear queue and circular queue, emphasizing better memory utilization.</a:t>
            </a:r>
          </a:p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Strengthened understanding of queue data structure, front/rear pointers, and FIFO principle in data handling.</a:t>
            </a: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16B28764-8938-10CE-9C36-04CD2296B6A2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38D7B45D-6BD4-B2C5-936E-61EA0AD229AD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3791052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52432-6567-F6B8-58C5-D8227FFFD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505A7-E21D-9F7F-BB89-B8827944B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Practice Questions:</a:t>
            </a: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4D1A9CE8-F7D1-6FDC-CCFE-04EDCAC4835B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E2920209-269F-7DB9-0ED2-0218F5B605F2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F070439-AD01-1733-DE02-E348989F387D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981375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tkinson Hyperlegible"/>
              <a:buNone/>
              <a:defRPr sz="1200" b="0" i="0" u="none" strike="noStrike" cap="non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tkinson Hyperlegible"/>
              <a:buNone/>
              <a:defRPr sz="1200" b="0" i="0" u="none" strike="noStrike" cap="non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tkinson Hyperlegible"/>
              <a:buNone/>
              <a:defRPr sz="1200" b="0" i="0" u="none" strike="noStrike" cap="non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tkinson Hyperlegible"/>
              <a:buNone/>
              <a:defRPr sz="1200" b="0" i="0" u="none" strike="noStrike" cap="non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tkinson Hyperlegible"/>
              <a:buNone/>
              <a:defRPr sz="1200" b="0" i="0" u="none" strike="noStrike" cap="non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tkinson Hyperlegible"/>
              <a:buNone/>
              <a:defRPr sz="1200" b="0" i="0" u="none" strike="noStrike" cap="non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tkinson Hyperlegible"/>
              <a:buNone/>
              <a:defRPr sz="1200" b="0" i="0" u="none" strike="noStrike" cap="non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tkinson Hyperlegible"/>
              <a:buNone/>
              <a:defRPr sz="1200" b="0" i="0" u="none" strike="noStrike" cap="non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tkinson Hyperlegible"/>
              <a:buNone/>
              <a:defRPr sz="1200" b="0" i="0" u="none" strike="noStrike" cap="non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9pPr>
          </a:lstStyle>
          <a:p>
            <a:pPr marL="0" indent="0"/>
            <a:r>
              <a:rPr lang="en-IN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1.Design Circular Deque </a:t>
            </a:r>
            <a:r>
              <a:rPr lang="en-IN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-- LeetCode#641</a:t>
            </a:r>
          </a:p>
          <a:p>
            <a:pPr marL="0" indent="0"/>
            <a:r>
              <a:rPr lang="en-IN" sz="28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https://leetcode.com/problems/design-circular-deque/</a:t>
            </a:r>
            <a:endParaRPr lang="en-IN" sz="28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/>
            <a:endParaRPr lang="en-I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/>
            <a:r>
              <a:rPr lang="en-IN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2.Find the Winner of the Circular Game</a:t>
            </a:r>
            <a:r>
              <a:rPr lang="en-IN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-- LeetCode#</a:t>
            </a:r>
            <a:r>
              <a:rPr lang="en-IN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1823</a:t>
            </a:r>
            <a:endParaRPr lang="en-IN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0" indent="0"/>
            <a:r>
              <a:rPr lang="en-IN" sz="28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https://leetcode.com/problems/find-the-winner-of-the-circular-game/</a:t>
            </a:r>
            <a:endParaRPr lang="en-IN" sz="28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7944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28A94-A648-E376-259E-F66FA43DA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D5232-2903-D341-34C9-5C74DB9A1B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6822"/>
            <a:ext cx="9144000" cy="2387600"/>
          </a:xfrm>
        </p:spPr>
        <p:txBody>
          <a:bodyPr>
            <a:normAutofit/>
          </a:bodyPr>
          <a:lstStyle/>
          <a:p>
            <a:r>
              <a:rPr lang="en-US" sz="7000" b="1" dirty="0">
                <a:latin typeface="Cambria" panose="02040503050406030204" pitchFamily="18" charset="0"/>
                <a:ea typeface="Cambria" panose="02040503050406030204" pitchFamily="18" charset="0"/>
              </a:rPr>
              <a:t>Thanks</a:t>
            </a:r>
            <a:endParaRPr lang="en-IN" sz="7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4100F48C-2E5C-EB14-4264-B3580D048FEB}"/>
              </a:ext>
            </a:extLst>
          </p:cNvPr>
          <p:cNvSpPr/>
          <p:nvPr/>
        </p:nvSpPr>
        <p:spPr>
          <a:xfrm>
            <a:off x="3070741" y="1514622"/>
            <a:ext cx="6050518" cy="1517789"/>
          </a:xfrm>
          <a:custGeom>
            <a:avLst/>
            <a:gdLst/>
            <a:ahLst/>
            <a:cxnLst/>
            <a:rect l="l" t="t" r="r" b="b"/>
            <a:pathLst>
              <a:path w="6050518" h="1517789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38" b="-5648"/>
            </a:stretch>
          </a:blipFill>
        </p:spPr>
      </p:sp>
    </p:spTree>
    <p:extLst>
      <p:ext uri="{BB962C8B-B14F-4D97-AF65-F5344CB8AC3E}">
        <p14:creationId xmlns:p14="http://schemas.microsoft.com/office/powerpoint/2010/main" val="1864681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788</Words>
  <Application>Microsoft Office PowerPoint</Application>
  <PresentationFormat>Widescreen</PresentationFormat>
  <Paragraphs>100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</vt:lpstr>
      <vt:lpstr>Wingdings</vt:lpstr>
      <vt:lpstr>Office Theme</vt:lpstr>
      <vt:lpstr>Practical 4</vt:lpstr>
      <vt:lpstr>PowerPoint Presentation</vt:lpstr>
      <vt:lpstr>Problem Statement: </vt:lpstr>
      <vt:lpstr>Introduction to the Problem</vt:lpstr>
      <vt:lpstr>Concept and Background</vt:lpstr>
      <vt:lpstr>Visualization</vt:lpstr>
      <vt:lpstr>Queue Operations</vt:lpstr>
      <vt:lpstr>Conditions for Queue State</vt:lpstr>
      <vt:lpstr>Algorithm/Logic</vt:lpstr>
      <vt:lpstr>Algorithm/Logic</vt:lpstr>
      <vt:lpstr>Code Implementation</vt:lpstr>
      <vt:lpstr>PowerPoint Presentation</vt:lpstr>
      <vt:lpstr>Output :</vt:lpstr>
      <vt:lpstr>Output</vt:lpstr>
      <vt:lpstr>Time &amp; Space Complexity</vt:lpstr>
      <vt:lpstr>Summary</vt:lpstr>
      <vt:lpstr>Practice Questions: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Prakash K. P.</dc:creator>
  <cp:lastModifiedBy>Prakash K. P.</cp:lastModifiedBy>
  <cp:revision>11</cp:revision>
  <dcterms:created xsi:type="dcterms:W3CDTF">2025-10-28T09:21:51Z</dcterms:created>
  <dcterms:modified xsi:type="dcterms:W3CDTF">2025-11-02T09:23:43Z</dcterms:modified>
</cp:coreProperties>
</file>