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756E08-BD88-4A73-98F3-E46998253BC9}">
  <a:tblStyle styleId="{91756E08-BD88-4A73-98F3-E46998253B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7CB3BE1-0888-494B-B4FE-F0DFA8910E0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E4CCD019-73ED-96AA-FB3E-F71314EB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CDDF64A1-7818-E906-36FF-839C4D9B4F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038CCE82-9EEE-3B6A-6648-BC2865ED0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5622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19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Two Sum using HashMap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7" b="-5647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14"/>
          <p:cNvGraphicFramePr/>
          <p:nvPr/>
        </p:nvGraphicFramePr>
        <p:xfrm>
          <a:off x="3309539" y="1265839"/>
          <a:ext cx="5342850" cy="441960"/>
        </p:xfrm>
        <a:graphic>
          <a:graphicData uri="http://schemas.openxmlformats.org/drawingml/2006/table">
            <a:tbl>
              <a:tblPr>
                <a:noFill/>
                <a:tableStyleId>{91756E08-BD88-4A73-98F3-E46998253BC9}</a:tableStyleId>
              </a:tblPr>
              <a:tblGrid>
                <a:gridCol w="534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lang="en-IN" sz="24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2" name="Google Shape;92;p1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graphicFrame>
        <p:nvGraphicFramePr>
          <p:cNvPr id="93" name="Google Shape;93;p14"/>
          <p:cNvGraphicFramePr/>
          <p:nvPr/>
        </p:nvGraphicFramePr>
        <p:xfrm>
          <a:off x="1461074" y="2746276"/>
          <a:ext cx="9059450" cy="701040"/>
        </p:xfrm>
        <a:graphic>
          <a:graphicData uri="http://schemas.openxmlformats.org/drawingml/2006/table">
            <a:tbl>
              <a:tblPr>
                <a:noFill/>
                <a:tableStyleId>{91756E08-BD88-4A73-98F3-E46998253BC9}</a:tableStyleId>
              </a:tblPr>
              <a:tblGrid>
                <a:gridCol w="286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Two Sum using HashMap</a:t>
                      </a:r>
                      <a:endParaRPr sz="1800" b="1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4" name="Google Shape;94;p14"/>
          <p:cNvGraphicFramePr/>
          <p:nvPr/>
        </p:nvGraphicFramePr>
        <p:xfrm>
          <a:off x="1471065" y="3595291"/>
          <a:ext cx="9039450" cy="1752600"/>
        </p:xfrm>
        <a:graphic>
          <a:graphicData uri="http://schemas.openxmlformats.org/drawingml/2006/table">
            <a:tbl>
              <a:tblPr>
                <a:noFill/>
                <a:tableStyleId>{91756E08-BD88-4A73-98F3-E46998253BC9}</a:tableStyleId>
              </a:tblPr>
              <a:tblGrid>
                <a:gridCol w="903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b="1" i="0" u="none" strike="noStrike" cap="non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use a HashMap for fast element retrieval from an array.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two elements whose sum equals the given target.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return the indices of the matched pair.</a:t>
                      </a:r>
                      <a:endParaRPr sz="180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optimize the solution from O(n²) to O(n) using hashing.</a:t>
                      </a:r>
                      <a:endParaRPr sz="180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76200" marR="76200" marT="38100" marB="38100" anchor="ctr">
                    <a:lnL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7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5" name="Google Shape;95;p14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lang="en-IN" sz="4000" b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Write a program to find two numbers in an array whose sum equals a given target value.</a:t>
            </a: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18F548-8046-9C63-763C-CB0A271F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EDC80D9D-BD5D-BCC6-7B6A-AB864EB56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DA14112E-F77D-F229-A55D-1BB383419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Why HashMap?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HashMap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stores elements as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(key, value)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pairs.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can store each number’s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complement (target – num)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while traversing the array.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Lookup in HashMap is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O(1)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→ efficient solution.</a:t>
            </a:r>
          </a:p>
          <a:p>
            <a:pPr marL="114300" indent="0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Applications: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Pair matching problems.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Detecting complement elements in arrays.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Financial or resource allocation checks (sum validation).</a:t>
            </a:r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A4A14CEF-2438-D40B-5A49-70914FCE6608}"/>
              </a:ext>
            </a:extLst>
          </p:cNvPr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45849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dirty="0">
                <a:latin typeface="Cambria"/>
                <a:ea typeface="Cambria"/>
                <a:cs typeface="Cambria"/>
                <a:sym typeface="Cambria"/>
              </a:rPr>
              <a:t>Brute Force:</a:t>
            </a:r>
            <a:endParaRPr dirty="0"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Check every pair using 2 loops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 Complexity: O(n²) ❌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b="1" dirty="0">
                <a:latin typeface="Cambria"/>
                <a:ea typeface="Cambria"/>
                <a:cs typeface="Cambria"/>
                <a:sym typeface="Cambria"/>
              </a:rPr>
              <a:t>Optimized Approach:</a:t>
            </a:r>
            <a:endParaRPr dirty="0"/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Use a HashMap to store values and their indices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Check if target – </a:t>
            </a:r>
            <a:r>
              <a:rPr lang="en-IN" dirty="0" err="1">
                <a:latin typeface="Cambria"/>
                <a:ea typeface="Cambria"/>
                <a:cs typeface="Cambria"/>
                <a:sym typeface="Cambria"/>
              </a:rPr>
              <a:t>currentValue</a:t>
            </a: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 exists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685800" lvl="1" indent="-2286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Time Complexity: O(n) ✅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1. Create a HashMap &lt;Integer, Integer&gt;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2.  Loop through array elements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3. For each element: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complement = target – current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If complement exists in HashMap → return both indices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4. Else insert element and index into HashMap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5. If no pair found → Print "No Match Found"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123" name="Google Shape;123;p18"/>
          <p:cNvSpPr txBox="1"/>
          <p:nvPr/>
        </p:nvSpPr>
        <p:spPr>
          <a:xfrm>
            <a:off x="887895" y="2047461"/>
            <a:ext cx="100053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Array = [2, 7, 11, 15], Target = 9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87DE56-2F99-90C0-E5EA-6DE897B89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477597"/>
              </p:ext>
            </p:extLst>
          </p:nvPr>
        </p:nvGraphicFramePr>
        <p:xfrm>
          <a:off x="1023785" y="3426542"/>
          <a:ext cx="10144430" cy="1737360"/>
        </p:xfrm>
        <a:graphic>
          <a:graphicData uri="http://schemas.openxmlformats.org/drawingml/2006/table">
            <a:tbl>
              <a:tblPr>
                <a:tableStyleId>{97CB3BE1-0888-494B-B4FE-F0DFA8910E00}</a:tableStyleId>
              </a:tblPr>
              <a:tblGrid>
                <a:gridCol w="1326125">
                  <a:extLst>
                    <a:ext uri="{9D8B030D-6E8A-4147-A177-3AD203B41FA5}">
                      <a16:colId xmlns:a16="http://schemas.microsoft.com/office/drawing/2014/main" val="2495668831"/>
                    </a:ext>
                  </a:extLst>
                </a:gridCol>
                <a:gridCol w="1897625">
                  <a:extLst>
                    <a:ext uri="{9D8B030D-6E8A-4147-A177-3AD203B41FA5}">
                      <a16:colId xmlns:a16="http://schemas.microsoft.com/office/drawing/2014/main" val="514345973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1029200737"/>
                    </a:ext>
                  </a:extLst>
                </a:gridCol>
                <a:gridCol w="2414064">
                  <a:extLst>
                    <a:ext uri="{9D8B030D-6E8A-4147-A177-3AD203B41FA5}">
                      <a16:colId xmlns:a16="http://schemas.microsoft.com/office/drawing/2014/main" val="1685742463"/>
                    </a:ext>
                  </a:extLst>
                </a:gridCol>
                <a:gridCol w="2028886">
                  <a:extLst>
                    <a:ext uri="{9D8B030D-6E8A-4147-A177-3AD203B41FA5}">
                      <a16:colId xmlns:a16="http://schemas.microsoft.com/office/drawing/2014/main" val="33391009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Current 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Complement (target - num)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Present in Map?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Map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60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{2=0}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07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✅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{2=0, 7=1}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580052"/>
                  </a:ext>
                </a:extLst>
              </a:tr>
            </a:tbl>
          </a:graphicData>
        </a:graphic>
      </p:graphicFrame>
      <p:sp>
        <p:nvSpPr>
          <p:cNvPr id="3" name="Google Shape;123;p18">
            <a:extLst>
              <a:ext uri="{FF2B5EF4-FFF2-40B4-BE49-F238E27FC236}">
                <a16:creationId xmlns:a16="http://schemas.microsoft.com/office/drawing/2014/main" id="{FFBBF1D0-3B78-95A0-CF39-B860D9396962}"/>
              </a:ext>
            </a:extLst>
          </p:cNvPr>
          <p:cNvSpPr txBox="1"/>
          <p:nvPr/>
        </p:nvSpPr>
        <p:spPr>
          <a:xfrm>
            <a:off x="912476" y="5562502"/>
            <a:ext cx="1000539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Pair found → Indices [0, 1] → Values (2, 7)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E2799-BBB6-15AE-E353-ACDF5267AE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59"/>
          <a:stretch>
            <a:fillRect/>
          </a:stretch>
        </p:blipFill>
        <p:spPr>
          <a:xfrm>
            <a:off x="1752172" y="1946787"/>
            <a:ext cx="8687655" cy="3814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35A931-647B-EE47-68E7-04CB27C46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770" y="2153265"/>
            <a:ext cx="9008744" cy="2551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22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4353D-4E2A-FD75-A235-7FE06D32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9574" y="1690688"/>
            <a:ext cx="4886632" cy="2166272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Array: [2, 7, 11, 15]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Target: 9</a:t>
            </a:r>
          </a:p>
          <a:p>
            <a:pPr marL="114300" indent="0">
              <a:buNone/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Indices: [0, 1]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6EA61-9887-7DB7-4302-C2B491D35509}"/>
              </a:ext>
            </a:extLst>
          </p:cNvPr>
          <p:cNvSpPr txBox="1"/>
          <p:nvPr/>
        </p:nvSpPr>
        <p:spPr>
          <a:xfrm>
            <a:off x="1189702" y="1783500"/>
            <a:ext cx="7737987" cy="113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Time Complexity: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O(n) — single pass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Space Complexity: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O(n) — HashMap storage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0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Efficient method to search pair adding up to target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Uses HashMap for instant lookup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Suitable for large inputs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One-pass solution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✅ Advantage: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Eliminates nested loops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Guaranteed faster performance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2286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📌 Use Cases: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E-Commerce cart matching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Financial security validation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9144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Data search operations</a:t>
            </a: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1. Two Sum 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 sz="2400" dirty="0" err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400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 #1</a:t>
            </a:r>
            <a:endParaRPr sz="2400" dirty="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🔗 https://leetcode.com/problems/two-sum/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sz="2400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Return indices using HashMap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lang="en-IN" sz="2400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Most frequent interview question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 b="1" dirty="0">
                <a:latin typeface="Cambria"/>
                <a:ea typeface="Cambria"/>
                <a:cs typeface="Cambria"/>
                <a:sym typeface="Cambria"/>
              </a:rPr>
              <a:t>2. Implement Queue using Stacks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 — </a:t>
            </a:r>
            <a:r>
              <a:rPr lang="en-IN" sz="2400" dirty="0" err="1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</a:t>
            </a:r>
            <a:r>
              <a:rPr lang="en-IN" sz="2400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 #232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🔗 https://leetcode.com/problems/implement-queue-using-stacks/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lang="en-IN" sz="2400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: Implement a queue using one or two stacks.</a:t>
            </a:r>
            <a:endParaRPr sz="24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lang="en-IN" sz="2400" b="1" dirty="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 dirty="0">
                <a:latin typeface="Cambria"/>
                <a:ea typeface="Cambria"/>
                <a:cs typeface="Cambria"/>
                <a:sym typeface="Cambria"/>
              </a:rPr>
              <a:t>Strengthens your stack understanding by reversing the logic.</a:t>
            </a:r>
            <a:endParaRPr sz="2400" dirty="0"/>
          </a:p>
        </p:txBody>
      </p:sp>
      <p:sp>
        <p:nvSpPr>
          <p:cNvPr id="193" name="Google Shape;193;p28"/>
          <p:cNvSpPr/>
          <p:nvPr/>
        </p:nvSpPr>
        <p:spPr>
          <a:xfrm>
            <a:off x="9991482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 b="1">
                <a:latin typeface="Cambria"/>
                <a:ea typeface="Cambria"/>
                <a:cs typeface="Cambria"/>
                <a:sym typeface="Cambria"/>
              </a:rPr>
              <a:t>Thanks</a:t>
            </a:r>
            <a:endParaRPr sz="7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29"/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 extrusionOk="0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4637" b="-5647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Office PowerPoint</Application>
  <PresentationFormat>Widescreen</PresentationFormat>
  <Paragraphs>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Practical 19</vt:lpstr>
      <vt:lpstr>PowerPoint Presentation</vt:lpstr>
      <vt:lpstr>Problem Statement: </vt:lpstr>
      <vt:lpstr>Concept</vt:lpstr>
      <vt:lpstr>Concept</vt:lpstr>
      <vt:lpstr>Algorithm/Logic</vt:lpstr>
      <vt:lpstr>Visualization</vt:lpstr>
      <vt:lpstr>Code Implementation</vt:lpstr>
      <vt:lpstr>PowerPoint Presentation</vt:lpstr>
      <vt:lpstr>Output</vt:lpstr>
      <vt:lpstr>Time &amp; Space Complexity</vt:lpstr>
      <vt:lpstr>Summary</vt:lpstr>
      <vt:lpstr>Summary</vt:lpstr>
      <vt:lpstr>Practice Questions:</vt:lpstr>
      <vt:lpstr>Practice Questions: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  <cp:lastModifiedBy>Prakash K. P.</cp:lastModifiedBy>
  <cp:revision>1</cp:revision>
  <dcterms:modified xsi:type="dcterms:W3CDTF">2025-11-12T05:23:47Z</dcterms:modified>
</cp:coreProperties>
</file>