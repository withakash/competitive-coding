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leetcode.com/problems/implement-trie-prefix-tree/" TargetMode="External"/><Relationship Id="rId3" Type="http://schemas.openxmlformats.org/officeDocument/2006/relationships/image" Target="../media/image2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leetcode.com/problems/implement-trie-ii-prefix-tree/" TargetMode="External"/><Relationship Id="rId3" Type="http://schemas.openxmlformats.org/officeDocument/2006/relationships/image" Target="../media/image2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xfrm>
            <a:off x="1524000" y="1758467"/>
            <a:ext cx="9144000" cy="2387601"/>
          </a:xfrm>
          <a:prstGeom prst="rect">
            <a:avLst/>
          </a:prstGeom>
        </p:spPr>
        <p:txBody>
          <a:bodyPr/>
          <a:lstStyle>
            <a:lvl1pPr>
              <a:defRPr sz="7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Practical 23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xfrm>
            <a:off x="1524000" y="4198386"/>
            <a:ext cx="9144000" cy="1655761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Cambria"/>
                <a:ea typeface="Cambria"/>
                <a:cs typeface="Cambria"/>
                <a:sym typeface="Cambria"/>
              </a:defRPr>
            </a:pPr>
            <a:r>
              <a:t>Implementation of 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he NO OF WORDS IN A TRIE.</a:t>
            </a:r>
          </a:p>
        </p:txBody>
      </p:sp>
      <p:sp>
        <p:nvSpPr>
          <p:cNvPr id="96" name="Freeform 5"/>
          <p:cNvSpPr/>
          <p:nvPr/>
        </p:nvSpPr>
        <p:spPr>
          <a:xfrm>
            <a:off x="2952753" y="1258983"/>
            <a:ext cx="6050520" cy="151778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" name="Content Placeholder 5"/>
          <p:cNvGraphicFramePr/>
          <p:nvPr/>
        </p:nvGraphicFramePr>
        <p:xfrm>
          <a:off x="3309539" y="1265839"/>
          <a:ext cx="5342848" cy="35814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5342848"/>
              </a:tblGrid>
              <a:tr h="3581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</a:p>
                  </a:txBody>
                  <a:tcPr marL="38100" marR="38100" marT="38100" marB="38100" anchor="ctr" anchorCtr="0" horzOverflow="overflow">
                    <a:lnL w="9776">
                      <a:solidFill>
                        <a:srgbClr val="000000"/>
                      </a:solidFill>
                    </a:lnL>
                    <a:lnR w="9776">
                      <a:solidFill>
                        <a:srgbClr val="000000"/>
                      </a:solidFill>
                    </a:lnR>
                    <a:lnT w="9776">
                      <a:solidFill>
                        <a:srgbClr val="000000"/>
                      </a:solidFill>
                    </a:lnT>
                    <a:lnB w="9776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9" name="Freeform 26"/>
          <p:cNvSpPr/>
          <p:nvPr/>
        </p:nvSpPr>
        <p:spPr>
          <a:xfrm>
            <a:off x="9991482" y="4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aphicFrame>
        <p:nvGraphicFramePr>
          <p:cNvPr id="100" name="Table 6"/>
          <p:cNvGraphicFramePr/>
          <p:nvPr/>
        </p:nvGraphicFramePr>
        <p:xfrm>
          <a:off x="1461073" y="2746275"/>
          <a:ext cx="9059444" cy="32004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865120"/>
                <a:gridCol w="6194322"/>
              </a:tblGrid>
              <a:tr h="16002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</a:p>
                  </a:txBody>
                  <a:tcPr marL="38100" marR="38100" marT="38100" marB="38100" anchor="ctr" anchorCtr="0" horzOverflow="overflow">
                    <a:lnL w="9776">
                      <a:solidFill>
                        <a:srgbClr val="000000"/>
                      </a:solidFill>
                    </a:lnL>
                    <a:lnR w="9776">
                      <a:solidFill>
                        <a:srgbClr val="000000"/>
                      </a:solidFill>
                    </a:lnR>
                    <a:lnT w="9776">
                      <a:solidFill>
                        <a:srgbClr val="000000"/>
                      </a:solidFill>
                    </a:lnT>
                    <a:lnB w="9776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</a:p>
                  </a:txBody>
                  <a:tcPr marL="38100" marR="38100" marT="38100" marB="38100" anchor="ctr" anchorCtr="0" horzOverflow="overflow">
                    <a:lnL w="9776">
                      <a:solidFill>
                        <a:srgbClr val="000000"/>
                      </a:solidFill>
                    </a:lnL>
                    <a:lnR w="9776">
                      <a:solidFill>
                        <a:srgbClr val="000000"/>
                      </a:solidFill>
                    </a:lnR>
                    <a:lnT w="9776">
                      <a:solidFill>
                        <a:srgbClr val="000000"/>
                      </a:solidFill>
                    </a:lnT>
                    <a:lnB w="9776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</a:p>
                  </a:txBody>
                  <a:tcPr marL="38100" marR="38100" marT="38100" marB="38100" anchor="ctr" anchorCtr="0" horzOverflow="overflow">
                    <a:lnL w="9776">
                      <a:solidFill>
                        <a:srgbClr val="000000"/>
                      </a:solidFill>
                    </a:lnL>
                    <a:lnR w="9776">
                      <a:solidFill>
                        <a:srgbClr val="000000"/>
                      </a:solidFill>
                    </a:lnR>
                    <a:lnT w="9776">
                      <a:solidFill>
                        <a:srgbClr val="000000"/>
                      </a:solidFill>
                    </a:lnT>
                    <a:lnB w="9776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chemeClr val="accen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Implementation of he NO OF WORDS IN A TRIE.</a:t>
                      </a:r>
                    </a:p>
                  </a:txBody>
                  <a:tcPr marL="38100" marR="38100" marT="38100" marB="38100" anchor="ctr" anchorCtr="0" horzOverflow="overflow">
                    <a:lnL w="9776">
                      <a:solidFill>
                        <a:srgbClr val="000000"/>
                      </a:solidFill>
                    </a:lnL>
                    <a:lnR w="9776">
                      <a:solidFill>
                        <a:srgbClr val="000000"/>
                      </a:solidFill>
                    </a:lnR>
                    <a:lnT w="9776">
                      <a:solidFill>
                        <a:srgbClr val="000000"/>
                      </a:solidFill>
                    </a:lnT>
                    <a:lnB w="9776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1" name="Table 7"/>
          <p:cNvGraphicFramePr/>
          <p:nvPr/>
        </p:nvGraphicFramePr>
        <p:xfrm>
          <a:off x="1471064" y="3595291"/>
          <a:ext cx="9039461" cy="12573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9039460"/>
              </a:tblGrid>
              <a:tr h="205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</a:p>
                  </a:txBody>
                  <a:tcPr marL="38100" marR="38100" marT="38100" marB="38100" anchor="ctr" anchorCtr="0" horzOverflow="overflow">
                    <a:lnL w="9776">
                      <a:solidFill>
                        <a:srgbClr val="000000"/>
                      </a:solidFill>
                    </a:lnL>
                    <a:lnR w="9776">
                      <a:solidFill>
                        <a:srgbClr val="000000"/>
                      </a:solidFill>
                    </a:lnR>
                    <a:lnT w="9776">
                      <a:solidFill>
                        <a:srgbClr val="000000"/>
                      </a:solidFill>
                    </a:lnT>
                    <a:lnB w="9776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build a Trie data structure for efficient word storage.</a:t>
                      </a:r>
                    </a:p>
                  </a:txBody>
                  <a:tcPr marL="38100" marR="38100" marT="38100" marB="38100" anchor="ctr" anchorCtr="0" horzOverflow="overflow">
                    <a:lnL w="9776">
                      <a:solidFill>
                        <a:srgbClr val="000000"/>
                      </a:solidFill>
                    </a:lnL>
                    <a:lnR w="9776">
                      <a:solidFill>
                        <a:srgbClr val="000000"/>
                      </a:solidFill>
                    </a:lnR>
                    <a:lnT w="9776">
                      <a:solidFill>
                        <a:srgbClr val="000000"/>
                      </a:solidFill>
                    </a:lnT>
                    <a:lnB w="9776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insert multiple words and mark the end of each word node.</a:t>
                      </a:r>
                    </a:p>
                  </a:txBody>
                  <a:tcPr marL="38100" marR="38100" marT="38100" marB="38100" anchor="ctr" anchorCtr="0" horzOverflow="overflow">
                    <a:lnL w="9776">
                      <a:solidFill>
                        <a:srgbClr val="000000"/>
                      </a:solidFill>
                    </a:lnL>
                    <a:lnR w="9776">
                      <a:solidFill>
                        <a:srgbClr val="000000"/>
                      </a:solidFill>
                    </a:lnR>
                    <a:lnT w="9776">
                      <a:solidFill>
                        <a:srgbClr val="000000"/>
                      </a:solidFill>
                    </a:lnT>
                    <a:lnB w="9776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traverse the Trie and count all nodes where isEndOfWord = true.</a:t>
                      </a:r>
                    </a:p>
                  </a:txBody>
                  <a:tcPr marL="38100" marR="38100" marT="38100" marB="38100" anchor="ctr" anchorCtr="0" horzOverflow="overflow">
                    <a:lnL w="9776">
                      <a:solidFill>
                        <a:srgbClr val="000000"/>
                      </a:solidFill>
                    </a:lnL>
                    <a:lnR w="9776">
                      <a:solidFill>
                        <a:srgbClr val="000000"/>
                      </a:solidFill>
                    </a:lnR>
                    <a:lnT w="9776">
                      <a:solidFill>
                        <a:srgbClr val="000000"/>
                      </a:solidFill>
                    </a:lnT>
                    <a:lnB w="9776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display the total number of distinct words stored in the Trie.</a:t>
                      </a:r>
                    </a:p>
                  </a:txBody>
                  <a:tcPr marL="38100" marR="38100" marT="38100" marB="38100" anchor="ctr" anchorCtr="0" horzOverflow="overflow">
                    <a:lnL w="9776">
                      <a:solidFill>
                        <a:srgbClr val="000000"/>
                      </a:solidFill>
                    </a:lnL>
                    <a:lnR w="9776">
                      <a:solidFill>
                        <a:srgbClr val="000000"/>
                      </a:solidFill>
                    </a:lnR>
                    <a:lnT w="9776">
                      <a:solidFill>
                        <a:srgbClr val="000000"/>
                      </a:solidFill>
                    </a:lnT>
                    <a:lnB w="9776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Problem Statement: </a:t>
            </a:r>
          </a:p>
        </p:txBody>
      </p:sp>
      <p:sp>
        <p:nvSpPr>
          <p:cNvPr id="104" name="Content Placeholder 2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marL="0" indent="0" algn="just">
              <a:buSzTx/>
              <a:buNone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Write a program to count the total number of words stored in a Trie data structure.</a:t>
            </a:r>
          </a:p>
          <a:p>
            <a:pPr marL="0" indent="0" algn="just">
              <a:buSzTx/>
              <a:buNone/>
              <a:defRPr sz="2400">
                <a:latin typeface="Cambria"/>
                <a:ea typeface="Cambria"/>
                <a:cs typeface="Cambria"/>
                <a:sym typeface="Cambria"/>
              </a:defRPr>
            </a:pPr>
          </a:p>
          <a:p>
            <a:pPr marL="0" indent="0" algn="just">
              <a:buSzTx/>
              <a:buNone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 1. Create Trie Node Structure</a:t>
            </a:r>
          </a:p>
          <a:p>
            <a:pPr marL="0" indent="0" algn="just">
              <a:buSzTx/>
              <a:buNone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 2. Insert Words into the Trie</a:t>
            </a:r>
          </a:p>
          <a:p>
            <a:pPr marL="0" indent="0" algn="just">
              <a:buSzTx/>
              <a:buNone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 3 . Define the Counting Function</a:t>
            </a:r>
          </a:p>
          <a:p>
            <a:pPr marL="0" indent="0" algn="just">
              <a:buSzTx/>
              <a:buNone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 4. Count Total Words</a:t>
            </a:r>
          </a:p>
          <a:p>
            <a:pPr marL="0" indent="0" algn="just">
              <a:buSzTx/>
              <a:buNone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 5. Return the total number of words</a:t>
            </a:r>
          </a:p>
        </p:txBody>
      </p:sp>
      <p:sp>
        <p:nvSpPr>
          <p:cNvPr id="105" name="Freeform 26"/>
          <p:cNvSpPr/>
          <p:nvPr/>
        </p:nvSpPr>
        <p:spPr>
          <a:xfrm>
            <a:off x="9991482" y="4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itle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Concept</a:t>
            </a:r>
          </a:p>
        </p:txBody>
      </p:sp>
      <p:sp>
        <p:nvSpPr>
          <p:cNvPr id="108" name="Content Placeholder 2"/>
          <p:cNvSpPr txBox="1"/>
          <p:nvPr>
            <p:ph type="body" idx="1"/>
          </p:nvPr>
        </p:nvSpPr>
        <p:spPr>
          <a:xfrm>
            <a:off x="838200" y="1690688"/>
            <a:ext cx="10515600" cy="4486276"/>
          </a:xfrm>
          <a:prstGeom prst="rect">
            <a:avLst/>
          </a:prstGeom>
        </p:spPr>
        <p:txBody>
          <a:bodyPr/>
          <a:lstStyle/>
          <a:p>
            <a:pPr marL="0" indent="0" defTabSz="896111">
              <a:spcBef>
                <a:spcPts val="900"/>
              </a:spcBef>
              <a:buSzTx/>
              <a:buNone/>
              <a:defRPr sz="2744">
                <a:latin typeface="Cambria"/>
                <a:ea typeface="Cambria"/>
                <a:cs typeface="Cambria"/>
                <a:sym typeface="Cambria"/>
              </a:defRPr>
            </a:pPr>
            <a:r>
              <a:t>What is a Trie?</a:t>
            </a:r>
          </a:p>
          <a:p>
            <a:pPr marL="224027" indent="-224027" defTabSz="896111">
              <a:spcBef>
                <a:spcPts val="900"/>
              </a:spcBef>
              <a:defRPr sz="2352">
                <a:latin typeface="Cambria"/>
                <a:ea typeface="Cambria"/>
                <a:cs typeface="Cambria"/>
                <a:sym typeface="Cambria"/>
              </a:defRPr>
            </a:pPr>
            <a:r>
              <a:t>A Trie (Prefix Tree) is a tree-like data structure used to store strings or words efficiently.</a:t>
            </a:r>
          </a:p>
          <a:p>
            <a:pPr marL="224027" indent="-224027" defTabSz="896111">
              <a:spcBef>
                <a:spcPts val="900"/>
              </a:spcBef>
              <a:defRPr sz="2352">
                <a:latin typeface="Cambria"/>
                <a:ea typeface="Cambria"/>
                <a:cs typeface="Cambria"/>
                <a:sym typeface="Cambria"/>
              </a:defRPr>
            </a:pPr>
            <a:r>
              <a:t>Each node represents a character, and paths from the root form words.</a:t>
            </a:r>
          </a:p>
          <a:p>
            <a:pPr marL="224027" indent="-224027" defTabSz="896111">
              <a:spcBef>
                <a:spcPts val="900"/>
              </a:spcBef>
              <a:defRPr sz="2352">
                <a:latin typeface="Cambria"/>
                <a:ea typeface="Cambria"/>
                <a:cs typeface="Cambria"/>
                <a:sym typeface="Cambria"/>
              </a:defRPr>
            </a:pPr>
            <a:r>
              <a:t>Each word ends at a node marked as endOfWord = true</a:t>
            </a:r>
          </a:p>
          <a:p>
            <a:pPr marL="0" indent="0" defTabSz="896111">
              <a:spcBef>
                <a:spcPts val="900"/>
              </a:spcBef>
              <a:buSzTx/>
              <a:buNone/>
              <a:defRPr sz="2352">
                <a:latin typeface="Cambria"/>
                <a:ea typeface="Cambria"/>
                <a:cs typeface="Cambria"/>
                <a:sym typeface="Cambria"/>
              </a:defRPr>
            </a:pPr>
            <a:br/>
            <a:r>
              <a:rPr sz="2744"/>
              <a:t>Key Operations</a:t>
            </a:r>
            <a:endParaRPr sz="2744"/>
          </a:p>
          <a:p>
            <a:pPr lvl="1" marL="672084" indent="-224027" defTabSz="896111">
              <a:lnSpc>
                <a:spcPct val="150000"/>
              </a:lnSpc>
              <a:spcBef>
                <a:spcPts val="400"/>
              </a:spcBef>
              <a:defRPr sz="2352">
                <a:latin typeface="Cambria"/>
                <a:ea typeface="Cambria"/>
                <a:cs typeface="Cambria"/>
                <a:sym typeface="Cambria"/>
              </a:defRPr>
            </a:pPr>
            <a:r>
              <a:t>Insert(word) – Add a word to the Trie.</a:t>
            </a:r>
          </a:p>
          <a:p>
            <a:pPr lvl="1" marL="672084" indent="-224027" defTabSz="896111">
              <a:lnSpc>
                <a:spcPct val="150000"/>
              </a:lnSpc>
              <a:spcBef>
                <a:spcPts val="400"/>
              </a:spcBef>
              <a:defRPr sz="2352">
                <a:latin typeface="Cambria"/>
                <a:ea typeface="Cambria"/>
                <a:cs typeface="Cambria"/>
                <a:sym typeface="Cambria"/>
              </a:defRPr>
            </a:pPr>
            <a:r>
              <a:t>Search(word) – Check if a word exists.</a:t>
            </a:r>
          </a:p>
          <a:p>
            <a:pPr lvl="1" marL="672084" indent="-224027" defTabSz="896111">
              <a:lnSpc>
                <a:spcPct val="150000"/>
              </a:lnSpc>
              <a:spcBef>
                <a:spcPts val="400"/>
              </a:spcBef>
              <a:defRPr sz="2352">
                <a:latin typeface="Cambria"/>
                <a:ea typeface="Cambria"/>
                <a:cs typeface="Cambria"/>
                <a:sym typeface="Cambria"/>
              </a:defRPr>
            </a:pPr>
            <a:r>
              <a:t>CountWords() – Traverse the Trie to count how many words are stored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.</a:t>
            </a:r>
          </a:p>
        </p:txBody>
      </p:sp>
      <p:sp>
        <p:nvSpPr>
          <p:cNvPr id="109" name="Freeform 26"/>
          <p:cNvSpPr/>
          <p:nvPr/>
        </p:nvSpPr>
        <p:spPr>
          <a:xfrm>
            <a:off x="9991482" y="4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Concept</a:t>
            </a:r>
          </a:p>
        </p:txBody>
      </p:sp>
      <p:sp>
        <p:nvSpPr>
          <p:cNvPr id="112" name="Content Placeholder 2"/>
          <p:cNvSpPr txBox="1"/>
          <p:nvPr>
            <p:ph type="body" idx="1"/>
          </p:nvPr>
        </p:nvSpPr>
        <p:spPr>
          <a:xfrm>
            <a:off x="838200" y="1690688"/>
            <a:ext cx="10515600" cy="4486276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>
                <a:latin typeface="Cambria"/>
                <a:ea typeface="Cambria"/>
                <a:cs typeface="Cambria"/>
                <a:sym typeface="Cambria"/>
              </a:defRPr>
            </a:pPr>
            <a:r>
              <a:t>Why Use Trie?</a:t>
            </a:r>
          </a:p>
          <a:p>
            <a:pPr>
              <a:lnSpc>
                <a:spcPct val="150000"/>
              </a:lnSpc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Provides fast prefix-based searching (O(L), where L = word length).</a:t>
            </a:r>
          </a:p>
          <a:p>
            <a:pPr>
              <a:lnSpc>
                <a:spcPct val="150000"/>
              </a:lnSpc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Useful for word auto-completion, spell checking, and dictionary applications.</a:t>
            </a:r>
            <a:br/>
          </a:p>
        </p:txBody>
      </p:sp>
      <p:sp>
        <p:nvSpPr>
          <p:cNvPr id="113" name="Freeform 26"/>
          <p:cNvSpPr/>
          <p:nvPr/>
        </p:nvSpPr>
        <p:spPr>
          <a:xfrm>
            <a:off x="9991482" y="4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ontent Placeholder 2"/>
          <p:cNvSpPr txBox="1"/>
          <p:nvPr>
            <p:ph type="body" idx="1"/>
          </p:nvPr>
        </p:nvSpPr>
        <p:spPr>
          <a:xfrm>
            <a:off x="838199" y="1494503"/>
            <a:ext cx="10655712" cy="4888939"/>
          </a:xfrm>
          <a:prstGeom prst="rect">
            <a:avLst/>
          </a:prstGeom>
        </p:spPr>
        <p:txBody>
          <a:bodyPr/>
          <a:lstStyle/>
          <a:p>
            <a:pPr marL="0" indent="0" defTabSz="896111">
              <a:spcBef>
                <a:spcPts val="900"/>
              </a:spcBef>
              <a:buSzTx/>
              <a:buNone/>
              <a:defRPr sz="2744">
                <a:latin typeface="Cambria"/>
                <a:ea typeface="Cambria"/>
                <a:cs typeface="Cambria"/>
                <a:sym typeface="Cambria"/>
              </a:defRPr>
            </a:pPr>
            <a:r>
              <a:t>1. Create Trie Node Structure</a:t>
            </a:r>
          </a:p>
          <a:p>
            <a:pPr marL="224027" indent="-224027" defTabSz="896111">
              <a:spcBef>
                <a:spcPts val="900"/>
              </a:spcBef>
              <a:defRPr sz="2352">
                <a:latin typeface="Cambria"/>
                <a:ea typeface="Cambria"/>
                <a:cs typeface="Cambria"/>
                <a:sym typeface="Cambria"/>
              </a:defRPr>
            </a:pPr>
            <a:r>
              <a:t>Each Trie node contains:</a:t>
            </a:r>
          </a:p>
          <a:p>
            <a:pPr lvl="1" marL="672084" indent="-224027" defTabSz="896111">
              <a:spcBef>
                <a:spcPts val="400"/>
              </a:spcBef>
              <a:defRPr sz="2352">
                <a:latin typeface="Cambria"/>
                <a:ea typeface="Cambria"/>
                <a:cs typeface="Cambria"/>
                <a:sym typeface="Cambria"/>
              </a:defRPr>
            </a:pPr>
            <a:r>
              <a:t>children[26] → to store references for each alphabet letter (a–z)</a:t>
            </a:r>
          </a:p>
          <a:p>
            <a:pPr lvl="1" marL="672084" indent="-224027" defTabSz="896111">
              <a:spcBef>
                <a:spcPts val="400"/>
              </a:spcBef>
              <a:defRPr sz="2352">
                <a:latin typeface="Cambria"/>
                <a:ea typeface="Cambria"/>
                <a:cs typeface="Cambria"/>
                <a:sym typeface="Cambria"/>
              </a:defRPr>
            </a:pPr>
            <a:r>
              <a:t>isEndOfWord → boolean flag to mark the end of a word</a:t>
            </a:r>
          </a:p>
          <a:p>
            <a:pPr marL="0" indent="0" defTabSz="896111">
              <a:spcBef>
                <a:spcPts val="900"/>
              </a:spcBef>
              <a:buSzTx/>
              <a:buNone/>
              <a:defRPr sz="2744">
                <a:latin typeface="Cambria"/>
                <a:ea typeface="Cambria"/>
                <a:cs typeface="Cambria"/>
                <a:sym typeface="Cambria"/>
              </a:defRPr>
            </a:pPr>
            <a:r>
              <a:t>2. Insert Words into the Trie</a:t>
            </a:r>
          </a:p>
          <a:p>
            <a:pPr marL="224027" indent="-224027" defTabSz="896111">
              <a:spcBef>
                <a:spcPts val="900"/>
              </a:spcBef>
              <a:defRPr sz="2352">
                <a:latin typeface="Cambria"/>
                <a:ea typeface="Cambria"/>
                <a:cs typeface="Cambria"/>
                <a:sym typeface="Cambria"/>
              </a:defRPr>
            </a:pPr>
            <a:r>
              <a:t>For each word in the list:</a:t>
            </a:r>
          </a:p>
          <a:p>
            <a:pPr lvl="1" marL="672084" indent="-224027" defTabSz="896111">
              <a:spcBef>
                <a:spcPts val="400"/>
              </a:spcBef>
              <a:defRPr sz="2352">
                <a:latin typeface="Cambria"/>
                <a:ea typeface="Cambria"/>
                <a:cs typeface="Cambria"/>
                <a:sym typeface="Cambria"/>
              </a:defRPr>
            </a:pPr>
            <a:r>
              <a:t>Start from the root node.</a:t>
            </a:r>
          </a:p>
          <a:p>
            <a:pPr lvl="1" marL="672084" indent="-224027" defTabSz="896111">
              <a:spcBef>
                <a:spcPts val="400"/>
              </a:spcBef>
              <a:defRPr sz="2352">
                <a:latin typeface="Cambria"/>
                <a:ea typeface="Cambria"/>
                <a:cs typeface="Cambria"/>
                <a:sym typeface="Cambria"/>
              </a:defRPr>
            </a:pPr>
            <a:r>
              <a:t>For each character in the word:</a:t>
            </a:r>
          </a:p>
          <a:p>
            <a:pPr lvl="2" marL="1120140" indent="-224027" defTabSz="896111">
              <a:spcBef>
                <a:spcPts val="400"/>
              </a:spcBef>
              <a:defRPr sz="2352">
                <a:latin typeface="Cambria"/>
                <a:ea typeface="Cambria"/>
                <a:cs typeface="Cambria"/>
                <a:sym typeface="Cambria"/>
              </a:defRPr>
            </a:pPr>
            <a:r>
              <a:t>Check if the child node for that character exists.</a:t>
            </a:r>
            <a:endParaRPr sz="1960"/>
          </a:p>
          <a:p>
            <a:pPr lvl="2" marL="1120140" indent="-224027" defTabSz="896111">
              <a:spcBef>
                <a:spcPts val="400"/>
              </a:spcBef>
              <a:defRPr sz="2352">
                <a:latin typeface="Cambria"/>
                <a:ea typeface="Cambria"/>
                <a:cs typeface="Cambria"/>
                <a:sym typeface="Cambria"/>
              </a:defRPr>
            </a:pPr>
            <a:r>
              <a:t>If not, create a new Trie node.</a:t>
            </a:r>
            <a:endParaRPr sz="1960"/>
          </a:p>
          <a:p>
            <a:pPr lvl="2" marL="1120140" indent="-224027" defTabSz="896111">
              <a:spcBef>
                <a:spcPts val="400"/>
              </a:spcBef>
              <a:defRPr sz="2352">
                <a:latin typeface="Cambria"/>
                <a:ea typeface="Cambria"/>
                <a:cs typeface="Cambria"/>
                <a:sym typeface="Cambria"/>
              </a:defRPr>
            </a:pPr>
            <a:r>
              <a:t>Move to the child node.</a:t>
            </a:r>
            <a:endParaRPr sz="1960"/>
          </a:p>
          <a:p>
            <a:pPr lvl="1" marL="672084" indent="-224027" defTabSz="896111">
              <a:spcBef>
                <a:spcPts val="400"/>
              </a:spcBef>
              <a:defRPr sz="2352">
                <a:latin typeface="Cambria"/>
                <a:ea typeface="Cambria"/>
                <a:cs typeface="Cambria"/>
                <a:sym typeface="Cambria"/>
              </a:defRPr>
            </a:pPr>
            <a:r>
              <a:t>After the last character, mark isEndOfWord = true.</a:t>
            </a:r>
          </a:p>
        </p:txBody>
      </p:sp>
      <p:sp>
        <p:nvSpPr>
          <p:cNvPr id="116" name="Freeform 26"/>
          <p:cNvSpPr/>
          <p:nvPr/>
        </p:nvSpPr>
        <p:spPr>
          <a:xfrm>
            <a:off x="9991482" y="4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Title 1"/>
          <p:cNvSpPr txBox="1"/>
          <p:nvPr/>
        </p:nvSpPr>
        <p:spPr>
          <a:xfrm>
            <a:off x="883919" y="365125"/>
            <a:ext cx="10424162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lnSpc>
                <a:spcPct val="90000"/>
              </a:lnSpc>
              <a:defRPr sz="4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Algorithm/Logic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Algorithm/Logic</a:t>
            </a:r>
          </a:p>
        </p:txBody>
      </p:sp>
      <p:sp>
        <p:nvSpPr>
          <p:cNvPr id="120" name="Content Placeholder 2"/>
          <p:cNvSpPr txBox="1"/>
          <p:nvPr>
            <p:ph type="body" idx="1"/>
          </p:nvPr>
        </p:nvSpPr>
        <p:spPr>
          <a:xfrm>
            <a:off x="838200" y="1560153"/>
            <a:ext cx="10515600" cy="435133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>
                <a:latin typeface="Cambria"/>
                <a:ea typeface="Cambria"/>
                <a:cs typeface="Cambria"/>
                <a:sym typeface="Cambria"/>
              </a:defRPr>
            </a:pPr>
            <a:r>
              <a:t>3. Define the Counting Function</a:t>
            </a:r>
          </a:p>
          <a:p>
            <a:pPr lvl="1" marL="685800" indent="-228600">
              <a:spcBef>
                <a:spcPts val="500"/>
              </a:spcBef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Create a recursive function countWords(node) that:</a:t>
            </a:r>
          </a:p>
          <a:p>
            <a:pPr lvl="2" marL="1143000" indent="-228600">
              <a:spcBef>
                <a:spcPts val="500"/>
              </a:spcBef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Initializes count = 0.</a:t>
            </a:r>
            <a:endParaRPr sz="2000"/>
          </a:p>
          <a:p>
            <a:pPr lvl="2" marL="1143000" indent="-228600">
              <a:spcBef>
                <a:spcPts val="500"/>
              </a:spcBef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If node.isEndOfWord == true, increment count.</a:t>
            </a:r>
            <a:endParaRPr sz="2000"/>
          </a:p>
          <a:p>
            <a:pPr lvl="2" marL="1143000" indent="-228600">
              <a:spcBef>
                <a:spcPts val="500"/>
              </a:spcBef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Recursively call countWords() for all non-null child nodes.</a:t>
            </a:r>
            <a:endParaRPr sz="2000"/>
          </a:p>
          <a:p>
            <a:pPr lvl="2" marL="1143000" indent="-228600">
              <a:spcBef>
                <a:spcPts val="500"/>
              </a:spcBef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Add up all returned counts and return the total.</a:t>
            </a:r>
            <a:br/>
            <a:endParaRPr sz="1800"/>
          </a:p>
          <a:p>
            <a:pPr marL="0" indent="0">
              <a:buSzTx/>
              <a:buNone/>
              <a:defRPr>
                <a:latin typeface="Cambria"/>
                <a:ea typeface="Cambria"/>
                <a:cs typeface="Cambria"/>
                <a:sym typeface="Cambria"/>
              </a:defRPr>
            </a:pPr>
            <a:r>
              <a:t>4. Count Total Words</a:t>
            </a:r>
          </a:p>
          <a:p>
            <a:pPr lvl="1" marL="685800" indent="-228600">
              <a:spcBef>
                <a:spcPts val="500"/>
              </a:spcBef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Call countWords(root) on the root node of the Trie.</a:t>
            </a:r>
          </a:p>
          <a:p>
            <a:pPr lvl="1" marL="685800" indent="-228600">
              <a:spcBef>
                <a:spcPts val="500"/>
              </a:spcBef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The function will return the total number of distinct words stored in the Trie.</a:t>
            </a:r>
          </a:p>
        </p:txBody>
      </p:sp>
      <p:sp>
        <p:nvSpPr>
          <p:cNvPr id="121" name="Freeform 26"/>
          <p:cNvSpPr/>
          <p:nvPr/>
        </p:nvSpPr>
        <p:spPr>
          <a:xfrm>
            <a:off x="9991482" y="4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Freeform 26"/>
          <p:cNvSpPr/>
          <p:nvPr/>
        </p:nvSpPr>
        <p:spPr>
          <a:xfrm>
            <a:off x="9991482" y="4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aphicFrame>
        <p:nvGraphicFramePr>
          <p:cNvPr id="124" name="Table 9"/>
          <p:cNvGraphicFramePr/>
          <p:nvPr/>
        </p:nvGraphicFramePr>
        <p:xfrm>
          <a:off x="987284" y="2904014"/>
          <a:ext cx="8155390" cy="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038847"/>
                <a:gridCol w="2038847"/>
                <a:gridCol w="2038847"/>
                <a:gridCol w="2038847"/>
              </a:tblGrid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/>
                        <a:t>Word Inserted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000"/>
                        <a:t>Trie Path Created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000"/>
                        <a:t>isEndOfWord Set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000"/>
                        <a:t>Total Words So Far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app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/>
                        <a:t>a → p → p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/>
                        <a:t>Yes (at last p)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apple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/>
                        <a:t>a → p → p → l → e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/>
                        <a:t>Yes (at e)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bat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/>
                        <a:t>b → a → t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/>
                        <a:t>Yes (at t)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ball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/>
                        <a:t>b → a → l → l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/>
                        <a:t>Yes (at last l)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4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</a:tbl>
          </a:graphicData>
        </a:graphic>
      </p:graphicFrame>
      <p:sp>
        <p:nvSpPr>
          <p:cNvPr id="125" name="TextBox 10"/>
          <p:cNvSpPr txBox="1"/>
          <p:nvPr/>
        </p:nvSpPr>
        <p:spPr>
          <a:xfrm>
            <a:off x="933614" y="2047461"/>
            <a:ext cx="9913954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/>
            </a:lvl1pPr>
          </a:lstStyle>
          <a:p>
            <a:pPr/>
            <a:r>
              <a:t>Let’s insert → app, apple, bat, ball</a:t>
            </a:r>
          </a:p>
        </p:txBody>
      </p:sp>
      <p:sp>
        <p:nvSpPr>
          <p:cNvPr id="126" name="Title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Visualization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Code Implementation</a:t>
            </a:r>
          </a:p>
        </p:txBody>
      </p:sp>
      <p:sp>
        <p:nvSpPr>
          <p:cNvPr id="129" name="Freeform 26"/>
          <p:cNvSpPr/>
          <p:nvPr/>
        </p:nvSpPr>
        <p:spPr>
          <a:xfrm>
            <a:off x="9991482" y="4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Content Placeholder 5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marL="0" indent="0" defTabSz="612648">
              <a:lnSpc>
                <a:spcPct val="72000"/>
              </a:lnSpc>
              <a:spcBef>
                <a:spcPts val="600"/>
              </a:spcBef>
              <a:buSzTx/>
              <a:buNone/>
              <a:defRPr sz="1608">
                <a:latin typeface="Cambria"/>
                <a:ea typeface="Cambria"/>
                <a:cs typeface="Cambria"/>
                <a:sym typeface="Cambria"/>
              </a:defRPr>
            </a:pPr>
            <a:r>
              <a:t>class TrieNode {</a:t>
            </a:r>
          </a:p>
          <a:p>
            <a:pPr marL="0" indent="0" defTabSz="612648">
              <a:lnSpc>
                <a:spcPct val="72000"/>
              </a:lnSpc>
              <a:spcBef>
                <a:spcPts val="600"/>
              </a:spcBef>
              <a:buSzTx/>
              <a:buNone/>
              <a:defRPr sz="1608">
                <a:latin typeface="Cambria"/>
                <a:ea typeface="Cambria"/>
                <a:cs typeface="Cambria"/>
                <a:sym typeface="Cambria"/>
              </a:defRPr>
            </a:pPr>
            <a:r>
              <a:t>    TrieNode[] children;</a:t>
            </a:r>
          </a:p>
          <a:p>
            <a:pPr marL="0" indent="0" defTabSz="612648">
              <a:lnSpc>
                <a:spcPct val="72000"/>
              </a:lnSpc>
              <a:spcBef>
                <a:spcPts val="600"/>
              </a:spcBef>
              <a:buSzTx/>
              <a:buNone/>
              <a:defRPr sz="1608">
                <a:latin typeface="Cambria"/>
                <a:ea typeface="Cambria"/>
                <a:cs typeface="Cambria"/>
                <a:sym typeface="Cambria"/>
              </a:defRPr>
            </a:pPr>
            <a:r>
              <a:t>    boolean isEndOfWord;</a:t>
            </a:r>
          </a:p>
          <a:p>
            <a:pPr marL="0" indent="0" defTabSz="612648">
              <a:lnSpc>
                <a:spcPct val="72000"/>
              </a:lnSpc>
              <a:spcBef>
                <a:spcPts val="600"/>
              </a:spcBef>
              <a:buSzTx/>
              <a:buNone/>
              <a:defRPr sz="1608">
                <a:latin typeface="Cambria"/>
                <a:ea typeface="Cambria"/>
                <a:cs typeface="Cambria"/>
                <a:sym typeface="Cambria"/>
              </a:defRPr>
            </a:pPr>
          </a:p>
          <a:p>
            <a:pPr marL="0" indent="0" defTabSz="612648">
              <a:lnSpc>
                <a:spcPct val="72000"/>
              </a:lnSpc>
              <a:spcBef>
                <a:spcPts val="600"/>
              </a:spcBef>
              <a:buSzTx/>
              <a:buNone/>
              <a:defRPr sz="1608">
                <a:latin typeface="Cambria"/>
                <a:ea typeface="Cambria"/>
                <a:cs typeface="Cambria"/>
                <a:sym typeface="Cambria"/>
              </a:defRPr>
            </a:pPr>
            <a:r>
              <a:t>    public TrieNode() {</a:t>
            </a:r>
          </a:p>
          <a:p>
            <a:pPr marL="0" indent="0" defTabSz="612648">
              <a:lnSpc>
                <a:spcPct val="72000"/>
              </a:lnSpc>
              <a:spcBef>
                <a:spcPts val="600"/>
              </a:spcBef>
              <a:buSzTx/>
              <a:buNone/>
              <a:defRPr sz="1608">
                <a:latin typeface="Cambria"/>
                <a:ea typeface="Cambria"/>
                <a:cs typeface="Cambria"/>
                <a:sym typeface="Cambria"/>
              </a:defRPr>
            </a:pPr>
            <a:r>
              <a:t>        children = new TrieNode[26];</a:t>
            </a:r>
          </a:p>
          <a:p>
            <a:pPr marL="0" indent="0" defTabSz="612648">
              <a:lnSpc>
                <a:spcPct val="72000"/>
              </a:lnSpc>
              <a:spcBef>
                <a:spcPts val="600"/>
              </a:spcBef>
              <a:buSzTx/>
              <a:buNone/>
              <a:defRPr sz="1608">
                <a:latin typeface="Cambria"/>
                <a:ea typeface="Cambria"/>
                <a:cs typeface="Cambria"/>
                <a:sym typeface="Cambria"/>
              </a:defRPr>
            </a:pPr>
            <a:r>
              <a:t>        isEndOfWord = false;</a:t>
            </a:r>
          </a:p>
          <a:p>
            <a:pPr marL="0" indent="0" defTabSz="612648">
              <a:lnSpc>
                <a:spcPct val="72000"/>
              </a:lnSpc>
              <a:spcBef>
                <a:spcPts val="600"/>
              </a:spcBef>
              <a:buSzTx/>
              <a:buNone/>
              <a:defRPr sz="1608">
                <a:latin typeface="Cambria"/>
                <a:ea typeface="Cambria"/>
                <a:cs typeface="Cambria"/>
                <a:sym typeface="Cambria"/>
              </a:defRPr>
            </a:pPr>
            <a:r>
              <a:t>    }</a:t>
            </a:r>
          </a:p>
          <a:p>
            <a:pPr marL="0" indent="0" defTabSz="612648">
              <a:lnSpc>
                <a:spcPct val="72000"/>
              </a:lnSpc>
              <a:spcBef>
                <a:spcPts val="600"/>
              </a:spcBef>
              <a:buSzTx/>
              <a:buNone/>
              <a:defRPr sz="1608">
                <a:latin typeface="Cambria"/>
                <a:ea typeface="Cambria"/>
                <a:cs typeface="Cambria"/>
                <a:sym typeface="Cambria"/>
              </a:defRPr>
            </a:pPr>
            <a:r>
              <a:t>}</a:t>
            </a:r>
          </a:p>
          <a:p>
            <a:pPr marL="0" indent="0" defTabSz="612648">
              <a:lnSpc>
                <a:spcPct val="72000"/>
              </a:lnSpc>
              <a:spcBef>
                <a:spcPts val="600"/>
              </a:spcBef>
              <a:buSzTx/>
              <a:buNone/>
              <a:defRPr sz="1608">
                <a:latin typeface="Cambria"/>
                <a:ea typeface="Cambria"/>
                <a:cs typeface="Cambria"/>
                <a:sym typeface="Cambria"/>
              </a:defRPr>
            </a:pPr>
          </a:p>
          <a:p>
            <a:pPr marL="0" indent="0" defTabSz="612648">
              <a:lnSpc>
                <a:spcPct val="72000"/>
              </a:lnSpc>
              <a:spcBef>
                <a:spcPts val="600"/>
              </a:spcBef>
              <a:buSzTx/>
              <a:buNone/>
              <a:defRPr sz="1608">
                <a:latin typeface="Cambria"/>
                <a:ea typeface="Cambria"/>
                <a:cs typeface="Cambria"/>
                <a:sym typeface="Cambria"/>
              </a:defRPr>
            </a:pPr>
            <a:r>
              <a:t>class Trie {</a:t>
            </a:r>
          </a:p>
          <a:p>
            <a:pPr marL="0" indent="0" defTabSz="612648">
              <a:lnSpc>
                <a:spcPct val="72000"/>
              </a:lnSpc>
              <a:spcBef>
                <a:spcPts val="600"/>
              </a:spcBef>
              <a:buSzTx/>
              <a:buNone/>
              <a:defRPr sz="1608">
                <a:latin typeface="Cambria"/>
                <a:ea typeface="Cambria"/>
                <a:cs typeface="Cambria"/>
                <a:sym typeface="Cambria"/>
              </a:defRPr>
            </a:pPr>
            <a:r>
              <a:t>    private TrieNode root;</a:t>
            </a:r>
          </a:p>
          <a:p>
            <a:pPr marL="0" indent="0" defTabSz="612648">
              <a:lnSpc>
                <a:spcPct val="72000"/>
              </a:lnSpc>
              <a:spcBef>
                <a:spcPts val="600"/>
              </a:spcBef>
              <a:buSzTx/>
              <a:buNone/>
              <a:defRPr sz="1608">
                <a:latin typeface="Cambria"/>
                <a:ea typeface="Cambria"/>
                <a:cs typeface="Cambria"/>
                <a:sym typeface="Cambria"/>
              </a:defRPr>
            </a:pPr>
          </a:p>
          <a:p>
            <a:pPr marL="0" indent="0" defTabSz="612648">
              <a:lnSpc>
                <a:spcPct val="72000"/>
              </a:lnSpc>
              <a:spcBef>
                <a:spcPts val="600"/>
              </a:spcBef>
              <a:buSzTx/>
              <a:buNone/>
              <a:defRPr sz="1608">
                <a:latin typeface="Cambria"/>
                <a:ea typeface="Cambria"/>
                <a:cs typeface="Cambria"/>
                <a:sym typeface="Cambria"/>
              </a:defRPr>
            </a:pPr>
            <a:r>
              <a:t>    public Trie() {</a:t>
            </a:r>
          </a:p>
          <a:p>
            <a:pPr marL="0" indent="0" defTabSz="612648">
              <a:lnSpc>
                <a:spcPct val="72000"/>
              </a:lnSpc>
              <a:spcBef>
                <a:spcPts val="600"/>
              </a:spcBef>
              <a:buSzTx/>
              <a:buNone/>
              <a:defRPr sz="1608">
                <a:latin typeface="Cambria"/>
                <a:ea typeface="Cambria"/>
                <a:cs typeface="Cambria"/>
                <a:sym typeface="Cambria"/>
              </a:defRPr>
            </a:pPr>
            <a:r>
              <a:t>        root = new TrieNode();</a:t>
            </a:r>
          </a:p>
          <a:p>
            <a:pPr marL="0" indent="0" defTabSz="612648">
              <a:lnSpc>
                <a:spcPct val="72000"/>
              </a:lnSpc>
              <a:spcBef>
                <a:spcPts val="600"/>
              </a:spcBef>
              <a:buSzTx/>
              <a:buNone/>
              <a:defRPr sz="1608">
                <a:latin typeface="Cambria"/>
                <a:ea typeface="Cambria"/>
                <a:cs typeface="Cambria"/>
                <a:sym typeface="Cambria"/>
              </a:defRPr>
            </a:pPr>
            <a:r>
              <a:t>    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Freeform 26"/>
          <p:cNvSpPr/>
          <p:nvPr/>
        </p:nvSpPr>
        <p:spPr>
          <a:xfrm>
            <a:off x="9991482" y="4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Content Placeholder 2"/>
          <p:cNvSpPr txBox="1"/>
          <p:nvPr>
            <p:ph type="body" idx="1"/>
          </p:nvPr>
        </p:nvSpPr>
        <p:spPr>
          <a:xfrm>
            <a:off x="717754" y="530941"/>
            <a:ext cx="10636047" cy="5646023"/>
          </a:xfrm>
          <a:prstGeom prst="rect">
            <a:avLst/>
          </a:prstGeom>
        </p:spPr>
        <p:txBody>
          <a:bodyPr/>
          <a:lstStyle/>
          <a:p>
            <a:pPr marL="0" indent="0" defTabSz="768095">
              <a:spcBef>
                <a:spcPts val="800"/>
              </a:spcBef>
              <a:buSzTx/>
              <a:buNone/>
              <a:defRPr sz="2016">
                <a:latin typeface="Cambria"/>
                <a:ea typeface="Cambria"/>
                <a:cs typeface="Cambria"/>
                <a:sym typeface="Cambria"/>
              </a:defRPr>
            </a:pPr>
            <a:r>
              <a:t>public void insert(String word) {</a:t>
            </a:r>
          </a:p>
          <a:p>
            <a:pPr marL="0" indent="0" defTabSz="768095">
              <a:spcBef>
                <a:spcPts val="800"/>
              </a:spcBef>
              <a:buSzTx/>
              <a:buNone/>
              <a:defRPr sz="2016">
                <a:latin typeface="Cambria"/>
                <a:ea typeface="Cambria"/>
                <a:cs typeface="Cambria"/>
                <a:sym typeface="Cambria"/>
              </a:defRPr>
            </a:pPr>
            <a:r>
              <a:t>        TrieNode node = root;</a:t>
            </a:r>
          </a:p>
          <a:p>
            <a:pPr marL="0" indent="0" defTabSz="768095">
              <a:spcBef>
                <a:spcPts val="800"/>
              </a:spcBef>
              <a:buSzTx/>
              <a:buNone/>
              <a:defRPr sz="2016">
                <a:latin typeface="Cambria"/>
                <a:ea typeface="Cambria"/>
                <a:cs typeface="Cambria"/>
                <a:sym typeface="Cambria"/>
              </a:defRPr>
            </a:pPr>
            <a:r>
              <a:t>        for (char ch : word.toCharArray()) {</a:t>
            </a:r>
          </a:p>
          <a:p>
            <a:pPr marL="0" indent="0" defTabSz="768095">
              <a:spcBef>
                <a:spcPts val="800"/>
              </a:spcBef>
              <a:buSzTx/>
              <a:buNone/>
              <a:defRPr sz="2016">
                <a:latin typeface="Cambria"/>
                <a:ea typeface="Cambria"/>
                <a:cs typeface="Cambria"/>
                <a:sym typeface="Cambria"/>
              </a:defRPr>
            </a:pPr>
            <a:r>
              <a:t>            int index = ch - 'a';</a:t>
            </a:r>
          </a:p>
          <a:p>
            <a:pPr marL="0" indent="0" defTabSz="768095">
              <a:spcBef>
                <a:spcPts val="800"/>
              </a:spcBef>
              <a:buSzTx/>
              <a:buNone/>
              <a:defRPr sz="2016">
                <a:latin typeface="Cambria"/>
                <a:ea typeface="Cambria"/>
                <a:cs typeface="Cambria"/>
                <a:sym typeface="Cambria"/>
              </a:defRPr>
            </a:pPr>
            <a:r>
              <a:t>            if (node.children[index] == null)</a:t>
            </a:r>
          </a:p>
          <a:p>
            <a:pPr marL="0" indent="0" defTabSz="768095">
              <a:spcBef>
                <a:spcPts val="800"/>
              </a:spcBef>
              <a:buSzTx/>
              <a:buNone/>
              <a:defRPr sz="2016">
                <a:latin typeface="Cambria"/>
                <a:ea typeface="Cambria"/>
                <a:cs typeface="Cambria"/>
                <a:sym typeface="Cambria"/>
              </a:defRPr>
            </a:pPr>
            <a:r>
              <a:t>                node.children[index] = new TrieNode();</a:t>
            </a:r>
          </a:p>
          <a:p>
            <a:pPr marL="0" indent="0" defTabSz="768095">
              <a:spcBef>
                <a:spcPts val="800"/>
              </a:spcBef>
              <a:buSzTx/>
              <a:buNone/>
              <a:defRPr sz="2016">
                <a:latin typeface="Cambria"/>
                <a:ea typeface="Cambria"/>
                <a:cs typeface="Cambria"/>
                <a:sym typeface="Cambria"/>
              </a:defRPr>
            </a:pPr>
            <a:r>
              <a:t>            node = node.children[index];</a:t>
            </a:r>
          </a:p>
          <a:p>
            <a:pPr marL="0" indent="0" defTabSz="768095">
              <a:spcBef>
                <a:spcPts val="800"/>
              </a:spcBef>
              <a:buSzTx/>
              <a:buNone/>
              <a:defRPr sz="2016">
                <a:latin typeface="Cambria"/>
                <a:ea typeface="Cambria"/>
                <a:cs typeface="Cambria"/>
                <a:sym typeface="Cambria"/>
              </a:defRPr>
            </a:pPr>
            <a:r>
              <a:t>        }</a:t>
            </a:r>
          </a:p>
          <a:p>
            <a:pPr marL="0" indent="0" defTabSz="768095">
              <a:spcBef>
                <a:spcPts val="800"/>
              </a:spcBef>
              <a:buSzTx/>
              <a:buNone/>
              <a:defRPr sz="2016">
                <a:latin typeface="Cambria"/>
                <a:ea typeface="Cambria"/>
                <a:cs typeface="Cambria"/>
                <a:sym typeface="Cambria"/>
              </a:defRPr>
            </a:pPr>
            <a:r>
              <a:t>        node.isEndOfWord = true;</a:t>
            </a:r>
          </a:p>
          <a:p>
            <a:pPr marL="0" indent="0" defTabSz="768095">
              <a:spcBef>
                <a:spcPts val="800"/>
              </a:spcBef>
              <a:buSzTx/>
              <a:buNone/>
              <a:defRPr sz="2016">
                <a:latin typeface="Cambria"/>
                <a:ea typeface="Cambria"/>
                <a:cs typeface="Cambria"/>
                <a:sym typeface="Cambria"/>
              </a:defRPr>
            </a:pPr>
            <a:r>
              <a:t>    }</a:t>
            </a:r>
          </a:p>
          <a:p>
            <a:pPr marL="0" indent="0" defTabSz="768095">
              <a:spcBef>
                <a:spcPts val="800"/>
              </a:spcBef>
              <a:buSzTx/>
              <a:buNone/>
              <a:defRPr sz="2016">
                <a:latin typeface="Cambria"/>
                <a:ea typeface="Cambria"/>
                <a:cs typeface="Cambria"/>
                <a:sym typeface="Cambria"/>
              </a:defRPr>
            </a:pPr>
          </a:p>
          <a:p>
            <a:pPr marL="0" indent="0" defTabSz="768095">
              <a:spcBef>
                <a:spcPts val="800"/>
              </a:spcBef>
              <a:buSzTx/>
              <a:buNone/>
              <a:defRPr sz="2016">
                <a:latin typeface="Cambria"/>
                <a:ea typeface="Cambria"/>
                <a:cs typeface="Cambria"/>
                <a:sym typeface="Cambria"/>
              </a:defRPr>
            </a:pPr>
            <a:r>
              <a:t>    // Count total words stored in the Trie</a:t>
            </a:r>
          </a:p>
          <a:p>
            <a:pPr marL="0" indent="0" defTabSz="768095">
              <a:spcBef>
                <a:spcPts val="800"/>
              </a:spcBef>
              <a:buSzTx/>
              <a:buNone/>
              <a:defRPr sz="2016">
                <a:latin typeface="Cambria"/>
                <a:ea typeface="Cambria"/>
                <a:cs typeface="Cambria"/>
                <a:sym typeface="Cambria"/>
              </a:defRPr>
            </a:pPr>
            <a:r>
              <a:t>    public int countWords() {</a:t>
            </a:r>
          </a:p>
          <a:p>
            <a:pPr marL="0" indent="0" defTabSz="768095">
              <a:spcBef>
                <a:spcPts val="800"/>
              </a:spcBef>
              <a:buSzTx/>
              <a:buNone/>
              <a:defRPr sz="2016">
                <a:latin typeface="Cambria"/>
                <a:ea typeface="Cambria"/>
                <a:cs typeface="Cambria"/>
                <a:sym typeface="Cambria"/>
              </a:defRPr>
            </a:pPr>
            <a:r>
              <a:t>        return countWordsUtil(root);</a:t>
            </a:r>
          </a:p>
          <a:p>
            <a:pPr marL="0" indent="0" defTabSz="768095">
              <a:spcBef>
                <a:spcPts val="800"/>
              </a:spcBef>
              <a:buSzTx/>
              <a:buNone/>
              <a:defRPr sz="2016">
                <a:latin typeface="Cambria"/>
                <a:ea typeface="Cambria"/>
                <a:cs typeface="Cambria"/>
                <a:sym typeface="Cambria"/>
              </a:defRPr>
            </a:pPr>
            <a:r>
              <a:t>    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Freeform 26"/>
          <p:cNvSpPr/>
          <p:nvPr/>
        </p:nvSpPr>
        <p:spPr>
          <a:xfrm>
            <a:off x="9991482" y="4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TextBox 1"/>
          <p:cNvSpPr txBox="1"/>
          <p:nvPr/>
        </p:nvSpPr>
        <p:spPr>
          <a:xfrm>
            <a:off x="812636" y="481780"/>
            <a:ext cx="6904940" cy="5069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private int countWordsUtil(TrieNode node) {</a:t>
            </a:r>
          </a:p>
          <a:p>
            <a:pPr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        if (node == null)</a:t>
            </a:r>
          </a:p>
          <a:p>
            <a:pPr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            return 0;</a:t>
            </a:r>
          </a:p>
          <a:p>
            <a:pPr>
              <a:defRPr sz="2400">
                <a:latin typeface="Cambria"/>
                <a:ea typeface="Cambria"/>
                <a:cs typeface="Cambria"/>
                <a:sym typeface="Cambria"/>
              </a:defRPr>
            </a:pPr>
          </a:p>
          <a:p>
            <a:pPr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        int count = 0;</a:t>
            </a:r>
          </a:p>
          <a:p>
            <a:pPr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        if (node.isEndOfWord)</a:t>
            </a:r>
          </a:p>
          <a:p>
            <a:pPr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            count++;</a:t>
            </a:r>
          </a:p>
          <a:p>
            <a:pPr>
              <a:defRPr sz="2400">
                <a:latin typeface="Cambria"/>
                <a:ea typeface="Cambria"/>
                <a:cs typeface="Cambria"/>
                <a:sym typeface="Cambria"/>
              </a:defRPr>
            </a:pPr>
          </a:p>
          <a:p>
            <a:pPr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        for (int i = 0; i &lt; 26; i++)</a:t>
            </a:r>
          </a:p>
          <a:p>
            <a:pPr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            count += countWordsUtil(node.children[i]);</a:t>
            </a:r>
          </a:p>
          <a:p>
            <a:pPr>
              <a:defRPr sz="2400">
                <a:latin typeface="Cambria"/>
                <a:ea typeface="Cambria"/>
                <a:cs typeface="Cambria"/>
                <a:sym typeface="Cambria"/>
              </a:defRPr>
            </a:pPr>
          </a:p>
          <a:p>
            <a:pPr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        return count;</a:t>
            </a:r>
          </a:p>
          <a:p>
            <a:pPr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    }</a:t>
            </a:r>
          </a:p>
          <a:p>
            <a:pPr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Freeform 26"/>
          <p:cNvSpPr/>
          <p:nvPr/>
        </p:nvSpPr>
        <p:spPr>
          <a:xfrm>
            <a:off x="9991482" y="4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TextBox 1"/>
          <p:cNvSpPr txBox="1"/>
          <p:nvPr/>
        </p:nvSpPr>
        <p:spPr>
          <a:xfrm>
            <a:off x="724144" y="609600"/>
            <a:ext cx="6395293" cy="435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public class Main {</a:t>
            </a:r>
          </a:p>
          <a:p>
            <a:pPr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    public static void main(String[] args) {</a:t>
            </a:r>
          </a:p>
          <a:p>
            <a:pPr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        Trie trie = new Trie();</a:t>
            </a:r>
          </a:p>
          <a:p>
            <a:pPr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        trie.insert("apple");</a:t>
            </a:r>
          </a:p>
          <a:p>
            <a:pPr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        trie.insert("app");</a:t>
            </a:r>
          </a:p>
          <a:p>
            <a:pPr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        trie.insert("bat");</a:t>
            </a:r>
          </a:p>
          <a:p>
            <a:pPr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        trie.insert("ball");</a:t>
            </a:r>
          </a:p>
          <a:p>
            <a:pPr>
              <a:defRPr sz="2400">
                <a:latin typeface="Cambria"/>
                <a:ea typeface="Cambria"/>
                <a:cs typeface="Cambria"/>
                <a:sym typeface="Cambria"/>
              </a:defRPr>
            </a:pPr>
          </a:p>
          <a:p>
            <a:pPr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        System.out.println("Number of words in Trie: " + trie.countWords());</a:t>
            </a:r>
          </a:p>
          <a:p>
            <a:pPr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    }</a:t>
            </a:r>
          </a:p>
          <a:p>
            <a:pPr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itle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Output</a:t>
            </a:r>
          </a:p>
        </p:txBody>
      </p:sp>
      <p:sp>
        <p:nvSpPr>
          <p:cNvPr id="142" name="Freeform 26"/>
          <p:cNvSpPr/>
          <p:nvPr/>
        </p:nvSpPr>
        <p:spPr>
          <a:xfrm>
            <a:off x="9991482" y="4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43" name="Content Placeholder 7" descr="Content Placeholder 7"/>
          <p:cNvPicPr>
            <a:picLocks noChangeAspect="1"/>
          </p:cNvPicPr>
          <p:nvPr/>
        </p:nvPicPr>
        <p:blipFill>
          <a:blip r:embed="rId3">
            <a:extLst/>
          </a:blip>
          <a:srcRect l="0" t="0" r="0" b="62610"/>
          <a:stretch>
            <a:fillRect/>
          </a:stretch>
        </p:blipFill>
        <p:spPr>
          <a:xfrm>
            <a:off x="1592495" y="2055809"/>
            <a:ext cx="8065876" cy="9340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Freeform 26"/>
          <p:cNvSpPr/>
          <p:nvPr/>
        </p:nvSpPr>
        <p:spPr>
          <a:xfrm>
            <a:off x="9991482" y="4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aphicFrame>
        <p:nvGraphicFramePr>
          <p:cNvPr id="146" name="Table 9"/>
          <p:cNvGraphicFramePr/>
          <p:nvPr/>
        </p:nvGraphicFramePr>
        <p:xfrm>
          <a:off x="987284" y="2904014"/>
          <a:ext cx="8155390" cy="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038847"/>
                <a:gridCol w="2038847"/>
                <a:gridCol w="2038847"/>
                <a:gridCol w="2038847"/>
              </a:tblGrid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000"/>
                        <a:t>Word Inserted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000"/>
                        <a:t>Path Created in Trie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000"/>
                        <a:t>Path Created in Trie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000"/>
                        <a:t>Total Words So Far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cat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/>
                        <a:t>c → a → t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/>
                        <a:t> Yes (at ‘t’)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can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/>
                        <a:t>c → a → n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/>
                        <a:t> Yes (at ‘n’)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dog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/>
                        <a:t>d → o → g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/>
                        <a:t> Yes (at ‘g’)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dot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/>
                        <a:t>d → o → t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/>
                        <a:t> Yes (at ‘t’)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4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door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/>
                        <a:t>d → o → o → r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/>
                        <a:t> Yes (at ‘r’)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</a:tbl>
          </a:graphicData>
        </a:graphic>
      </p:graphicFrame>
      <p:sp>
        <p:nvSpPr>
          <p:cNvPr id="147" name="TextBox 10"/>
          <p:cNvSpPr txBox="1"/>
          <p:nvPr/>
        </p:nvSpPr>
        <p:spPr>
          <a:xfrm>
            <a:off x="933614" y="2047461"/>
            <a:ext cx="9913954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Let’s insert -&gt; cat, can , dog, dot, door</a:t>
            </a:r>
          </a:p>
        </p:txBody>
      </p:sp>
      <p:sp>
        <p:nvSpPr>
          <p:cNvPr id="148" name="Title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Example walkthrough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itle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Time &amp; Space Complexity</a:t>
            </a:r>
          </a:p>
        </p:txBody>
      </p:sp>
      <p:graphicFrame>
        <p:nvGraphicFramePr>
          <p:cNvPr id="151" name="Content Placeholder 5"/>
          <p:cNvGraphicFramePr/>
          <p:nvPr/>
        </p:nvGraphicFramePr>
        <p:xfrm>
          <a:off x="1043608" y="2232128"/>
          <a:ext cx="9476908" cy="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921001"/>
                <a:gridCol w="1739348"/>
                <a:gridCol w="2345770"/>
                <a:gridCol w="3470787"/>
              </a:tblGrid>
              <a:tr h="508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Operation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Time Complexity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Space Complexity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Description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Insertion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O(L)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O(L) (for new nodes)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Insert one word of length L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Counting Words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latin typeface="Cambria"/>
                          <a:ea typeface="Cambria"/>
                          <a:cs typeface="Cambria"/>
                          <a:sym typeface="Cambria"/>
                        </a:defRPr>
                      </a:pPr>
                      <a:r>
                        <a:t>O(N)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O(h) (recursion stack, h = height of Trie)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Traverse all nodes to count words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Search (optional)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O(L)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O(1)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Check if a word exists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Total Space Used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 * alphabet size)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For all nodes in the Trie (26 pointers per node)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</a:tbl>
          </a:graphicData>
        </a:graphic>
      </p:graphicFrame>
      <p:sp>
        <p:nvSpPr>
          <p:cNvPr id="152" name="Freeform 26"/>
          <p:cNvSpPr/>
          <p:nvPr/>
        </p:nvSpPr>
        <p:spPr>
          <a:xfrm>
            <a:off x="9991482" y="4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itle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Summary</a:t>
            </a:r>
          </a:p>
        </p:txBody>
      </p:sp>
      <p:sp>
        <p:nvSpPr>
          <p:cNvPr id="155" name="Content Placeholder 2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A Trie (prefix tree) is a tree-based data structure used to store and search strings efficiently.</a:t>
            </a:r>
            <a:br/>
            <a:r>
              <a:t>Each node represents a character, and paths from root to terminal nodes form words.</a:t>
            </a:r>
            <a:br/>
            <a:r>
              <a:t>To count words, we traverse the Trie — each node that marks the end of a word increases the count.</a:t>
            </a:r>
            <a:br/>
            <a:r>
              <a:t>The algorithm uses:</a:t>
            </a:r>
          </a:p>
          <a:p>
            <a:pPr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insert() – adds words letter by letter.</a:t>
            </a:r>
          </a:p>
          <a:p>
            <a:pPr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countWords() – recursively or iteratively counts nodes marked as end-of-word.</a:t>
            </a:r>
            <a:br/>
            <a:r>
              <a:t>This provides fast insertion and word counting in O(n) time, where n is the total number of characters.</a:t>
            </a:r>
          </a:p>
        </p:txBody>
      </p:sp>
      <p:sp>
        <p:nvSpPr>
          <p:cNvPr id="156" name="Freeform 26"/>
          <p:cNvSpPr/>
          <p:nvPr/>
        </p:nvSpPr>
        <p:spPr>
          <a:xfrm>
            <a:off x="9991482" y="4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itle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Summary</a:t>
            </a:r>
          </a:p>
        </p:txBody>
      </p:sp>
      <p:sp>
        <p:nvSpPr>
          <p:cNvPr id="159" name="Content Placeholder 2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algn="just"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This approach keeps all operations efficient (O(n) time, O(k) space).</a:t>
            </a:r>
            <a:br/>
          </a:p>
          <a:p>
            <a:pPr algn="just"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Advantage: Quick word insertion and counting without repeated string comparisons.</a:t>
            </a:r>
            <a:br/>
            <a:r>
              <a:t>Use Case: Ideal for dictionary-based applications like autocomplete or spell check.</a:t>
            </a:r>
          </a:p>
        </p:txBody>
      </p:sp>
      <p:sp>
        <p:nvSpPr>
          <p:cNvPr id="160" name="Freeform 26"/>
          <p:cNvSpPr/>
          <p:nvPr/>
        </p:nvSpPr>
        <p:spPr>
          <a:xfrm>
            <a:off x="9991482" y="4"/>
            <a:ext cx="2145712" cy="9959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itle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Practice Questions:</a:t>
            </a:r>
          </a:p>
        </p:txBody>
      </p:sp>
      <p:sp>
        <p:nvSpPr>
          <p:cNvPr id="163" name="Content Placeholder 2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marL="0" indent="0" algn="just" defTabSz="896111">
              <a:spcBef>
                <a:spcPts val="900"/>
              </a:spcBef>
              <a:buSzTx/>
              <a:buNone/>
              <a:defRPr sz="2744">
                <a:latin typeface="Cambria"/>
                <a:ea typeface="Cambria"/>
                <a:cs typeface="Cambria"/>
                <a:sym typeface="Cambria"/>
              </a:defRPr>
            </a:pPr>
            <a:r>
              <a:t>1. Implement Trie (prefix Tree)— </a:t>
            </a:r>
            <a:r>
              <a:rPr>
                <a:solidFill>
                  <a:srgbClr val="196391"/>
                </a:solidFill>
              </a:rPr>
              <a:t>LeetCode #208</a:t>
            </a:r>
            <a:endParaRPr>
              <a:solidFill>
                <a:srgbClr val="196391"/>
              </a:solidFill>
            </a:endParaRPr>
          </a:p>
          <a:p>
            <a:pPr marL="0" indent="0" algn="just" defTabSz="896111">
              <a:spcBef>
                <a:spcPts val="900"/>
              </a:spcBef>
              <a:buSzTx/>
              <a:buNone/>
              <a:defRPr sz="2352">
                <a:latin typeface="Cambria"/>
                <a:ea typeface="Cambria"/>
                <a:cs typeface="Cambria"/>
                <a:sym typeface="Cambria"/>
              </a:defRPr>
            </a:pPr>
          </a:p>
          <a:p>
            <a:pPr marL="0" indent="0" algn="just" defTabSz="896111">
              <a:spcBef>
                <a:spcPts val="900"/>
              </a:spcBef>
              <a:buSzTx/>
              <a:buNone/>
              <a:defRPr sz="2352">
                <a:latin typeface="Cambria"/>
                <a:ea typeface="Cambria"/>
                <a:cs typeface="Cambria"/>
                <a:sym typeface="Cambria"/>
              </a:defRPr>
            </a:pPr>
            <a:r>
              <a:t>🔗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https://leetcode.com/problems/implement-trie-prefix-tree/</a:t>
            </a:r>
          </a:p>
          <a:p>
            <a:pPr marL="0" indent="0" algn="just" defTabSz="896111">
              <a:spcBef>
                <a:spcPts val="900"/>
              </a:spcBef>
              <a:buSzTx/>
              <a:buNone/>
              <a:defRPr sz="2352">
                <a:latin typeface="Cambria"/>
                <a:ea typeface="Cambria"/>
                <a:cs typeface="Cambria"/>
                <a:sym typeface="Cambria"/>
              </a:defRPr>
            </a:pPr>
          </a:p>
          <a:p>
            <a:pPr marL="0" indent="0" algn="just" defTabSz="896111">
              <a:spcBef>
                <a:spcPts val="900"/>
              </a:spcBef>
              <a:buSzTx/>
              <a:buNone/>
              <a:defRPr sz="2352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Concept: </a:t>
            </a:r>
            <a:r>
              <a:rPr>
                <a:solidFill>
                  <a:srgbClr val="000000"/>
                </a:solidFill>
              </a:rPr>
              <a:t>Implement a Trie data structure that efficiently stores and counts words.</a:t>
            </a:r>
            <a:endParaRPr>
              <a:solidFill>
                <a:srgbClr val="000000"/>
              </a:solidFill>
            </a:endParaRPr>
          </a:p>
          <a:p>
            <a:pPr marL="0" indent="0" algn="just" defTabSz="896111">
              <a:spcBef>
                <a:spcPts val="900"/>
              </a:spcBef>
              <a:buSzTx/>
              <a:buNone/>
              <a:defRPr sz="2352">
                <a:latin typeface="Cambria"/>
                <a:ea typeface="Cambria"/>
                <a:cs typeface="Cambria"/>
                <a:sym typeface="Cambria"/>
              </a:defRPr>
            </a:pPr>
          </a:p>
          <a:p>
            <a:pPr marL="0" indent="0" defTabSz="896111">
              <a:spcBef>
                <a:spcPts val="900"/>
              </a:spcBef>
              <a:buSzTx/>
              <a:buNone/>
              <a:defRPr sz="2352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Why Practice: </a:t>
            </a:r>
            <a:r>
              <a:rPr>
                <a:solidFill>
                  <a:srgbClr val="000000"/>
                </a:solidFill>
              </a:rPr>
              <a:t>This problem strengthens understanding of tree traversal and string storage optimization.</a:t>
            </a:r>
            <a:br>
              <a:rPr>
                <a:solidFill>
                  <a:srgbClr val="000000"/>
                </a:solidFill>
              </a:rPr>
            </a:br>
            <a:r>
              <a:rPr>
                <a:solidFill>
                  <a:srgbClr val="000000"/>
                </a:solidFill>
              </a:rPr>
              <a:t>It’s also useful for applications like autocomplete, dictionary word count, and spell checking.</a:t>
            </a:r>
          </a:p>
        </p:txBody>
      </p:sp>
      <p:sp>
        <p:nvSpPr>
          <p:cNvPr id="164" name="Freeform 26"/>
          <p:cNvSpPr/>
          <p:nvPr/>
        </p:nvSpPr>
        <p:spPr>
          <a:xfrm>
            <a:off x="9991482" y="4"/>
            <a:ext cx="2145712" cy="995947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itle 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Practice Questions:</a:t>
            </a:r>
          </a:p>
        </p:txBody>
      </p:sp>
      <p:sp>
        <p:nvSpPr>
          <p:cNvPr id="167" name="Content Placeholder 2"/>
          <p:cNvSpPr txBox="1"/>
          <p:nvPr>
            <p:ph type="body" idx="1"/>
          </p:nvPr>
        </p:nvSpPr>
        <p:spPr>
          <a:xfrm>
            <a:off x="838200" y="1435510"/>
            <a:ext cx="10515600" cy="4741453"/>
          </a:xfrm>
          <a:prstGeom prst="rect">
            <a:avLst/>
          </a:prstGeom>
        </p:spPr>
        <p:txBody>
          <a:bodyPr/>
          <a:lstStyle/>
          <a:p>
            <a:pPr marL="0" indent="0" algn="just">
              <a:buSzTx/>
              <a:buNone/>
              <a:defRPr>
                <a:latin typeface="Cambria"/>
                <a:ea typeface="Cambria"/>
                <a:cs typeface="Cambria"/>
                <a:sym typeface="Cambria"/>
              </a:defRPr>
            </a:pPr>
          </a:p>
          <a:p>
            <a:pPr marL="0" indent="0" algn="just">
              <a:buSzTx/>
              <a:buNone/>
              <a:defRPr>
                <a:latin typeface="Cambria"/>
                <a:ea typeface="Cambria"/>
                <a:cs typeface="Cambria"/>
                <a:sym typeface="Cambria"/>
              </a:defRPr>
            </a:pPr>
            <a:r>
              <a:t>2. Implement Trie – ii – prefix tree— </a:t>
            </a:r>
            <a:r>
              <a:rPr>
                <a:solidFill>
                  <a:srgbClr val="196391"/>
                </a:solidFill>
              </a:rPr>
              <a:t>LeetCode #1804</a:t>
            </a:r>
            <a:endParaRPr>
              <a:solidFill>
                <a:srgbClr val="196391"/>
              </a:solidFill>
            </a:endParaRPr>
          </a:p>
          <a:p>
            <a:pPr marL="0" indent="0" algn="just">
              <a:buSzTx/>
              <a:buNone/>
              <a:defRPr sz="2400">
                <a:latin typeface="Cambria"/>
                <a:ea typeface="Cambria"/>
                <a:cs typeface="Cambria"/>
                <a:sym typeface="Cambria"/>
              </a:defRPr>
            </a:pPr>
          </a:p>
          <a:p>
            <a:pPr marL="0" indent="0" algn="just">
              <a:buSzTx/>
              <a:buNone/>
              <a:defRPr sz="2400">
                <a:latin typeface="Cambria"/>
                <a:ea typeface="Cambria"/>
                <a:cs typeface="Cambria"/>
                <a:sym typeface="Cambria"/>
              </a:defRPr>
            </a:pPr>
            <a:r>
              <a:t>🔗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https://leetcode.com/problems/implement-trie-ii-prefix-tree/</a:t>
            </a:r>
          </a:p>
          <a:p>
            <a:pPr marL="0" indent="0" algn="just">
              <a:buSzTx/>
              <a:buNone/>
              <a:defRPr sz="2400">
                <a:latin typeface="Cambria"/>
                <a:ea typeface="Cambria"/>
                <a:cs typeface="Cambria"/>
                <a:sym typeface="Cambria"/>
              </a:defRPr>
            </a:pPr>
          </a:p>
          <a:p>
            <a:pPr marL="0" indent="0" algn="just">
              <a:buSzTx/>
              <a:buNone/>
              <a:defRPr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Concept</a:t>
            </a:r>
            <a:r>
              <a:rPr>
                <a:solidFill>
                  <a:srgbClr val="000000"/>
                </a:solidFill>
              </a:rPr>
              <a:t>: </a:t>
            </a:r>
            <a:r>
              <a:rPr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rPr>
              <a:t>Count exact words and prefixes using Trie nodes with word and prefix counters.</a:t>
            </a:r>
            <a:endParaRPr>
              <a:solidFill>
                <a:srgbClr val="000000"/>
              </a:solidFill>
              <a:latin typeface="+mn-lt"/>
              <a:ea typeface="+mn-ea"/>
              <a:cs typeface="+mn-cs"/>
              <a:sym typeface="Calibri"/>
            </a:endParaRPr>
          </a:p>
          <a:p>
            <a:pPr marL="0" indent="0" algn="just">
              <a:buSzTx/>
              <a:buNone/>
              <a:defRPr sz="2400">
                <a:latin typeface="Cambria"/>
                <a:ea typeface="Cambria"/>
                <a:cs typeface="Cambria"/>
                <a:sym typeface="Cambria"/>
              </a:defRPr>
            </a:pPr>
          </a:p>
          <a:p>
            <a:pPr marL="0" indent="0" algn="just">
              <a:buSzTx/>
              <a:buNone/>
              <a:defRPr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Why Practice: </a:t>
            </a:r>
            <a:r>
              <a:rPr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rPr>
              <a:t>Strengthens understanding of efficient word storage, prefix counting, and Trie traversal.</a:t>
            </a:r>
          </a:p>
        </p:txBody>
      </p:sp>
      <p:sp>
        <p:nvSpPr>
          <p:cNvPr id="168" name="Freeform 26"/>
          <p:cNvSpPr/>
          <p:nvPr/>
        </p:nvSpPr>
        <p:spPr>
          <a:xfrm>
            <a:off x="9991482" y="4"/>
            <a:ext cx="2145712" cy="995947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itle 1"/>
          <p:cNvSpPr txBox="1"/>
          <p:nvPr>
            <p:ph type="ctrTitle"/>
          </p:nvPr>
        </p:nvSpPr>
        <p:spPr>
          <a:xfrm>
            <a:off x="1524000" y="2026822"/>
            <a:ext cx="9144000" cy="2387601"/>
          </a:xfrm>
          <a:prstGeom prst="rect">
            <a:avLst/>
          </a:prstGeom>
        </p:spPr>
        <p:txBody>
          <a:bodyPr/>
          <a:lstStyle>
            <a:lvl1pPr>
              <a:defRPr sz="70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Thanks</a:t>
            </a:r>
          </a:p>
        </p:txBody>
      </p:sp>
      <p:sp>
        <p:nvSpPr>
          <p:cNvPr id="171" name="Freeform 5"/>
          <p:cNvSpPr/>
          <p:nvPr/>
        </p:nvSpPr>
        <p:spPr>
          <a:xfrm>
            <a:off x="3070740" y="1514621"/>
            <a:ext cx="6050520" cy="151778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