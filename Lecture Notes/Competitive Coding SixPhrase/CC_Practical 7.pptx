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58" r:id="rId3"/>
    <p:sldId id="257" r:id="rId4"/>
    <p:sldId id="260" r:id="rId5"/>
    <p:sldId id="261" r:id="rId6"/>
    <p:sldId id="276" r:id="rId7"/>
    <p:sldId id="282" r:id="rId8"/>
    <p:sldId id="264" r:id="rId9"/>
    <p:sldId id="265" r:id="rId10"/>
    <p:sldId id="274" r:id="rId11"/>
    <p:sldId id="280" r:id="rId12"/>
    <p:sldId id="267" r:id="rId13"/>
    <p:sldId id="269" r:id="rId14"/>
    <p:sldId id="277" r:id="rId15"/>
    <p:sldId id="270" r:id="rId16"/>
    <p:sldId id="283" r:id="rId17"/>
    <p:sldId id="284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391"/>
    <a:srgbClr val="235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F1EF-F650-419B-9E1F-98FD9F1274D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2367-DD8D-4691-8B03-8EE5B5EEA4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7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EF7C-9A4D-88E2-C4CC-C39582306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5AD664-159A-4DD6-933B-34FF44C61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061C8-DB36-80F8-49FD-4740859A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1AB32-1842-334F-F9B1-E3ACD9DF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70B78-EE29-9CE8-B923-351F6D5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4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09FB-F866-B864-CE15-0ED311C0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2372-0DE1-85A0-FEE3-D10FEB858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82CCF-7F29-DB12-A62F-8716481D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E48AF-008B-BAEB-1931-9475AEE3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ECE98-40D4-77D2-4D20-22CE258A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26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85CC-501D-7868-14B2-9E03058B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FDFFB-ADAD-1778-A89D-7CCB0CF88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C0220-365B-BA84-8E1E-1861FEBA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99F35-C3CC-5755-D418-351796B2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7F2DD-CFBF-34A6-D4BB-61E3C2B0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5EF6-B198-A5D1-279B-4FCBC8EF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9412F-3104-C664-F481-A8D77EEC7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9965E-5C0B-02DB-7237-83148FB84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E994B-DF7B-4643-5641-BBB9B132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34EB-903D-872E-B4D9-5C5C6F89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8F85C-E3FF-EAE7-390A-0A114D60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74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8937-13B6-E840-481C-E4BE9A33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CB719-DEA0-F595-54CF-6CDF6A2AD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65EE9-78F8-2BE5-FA84-A3F91DD99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30E4F-BC82-3014-AB63-B299F0028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5E42D-A645-C6F5-BAB7-D365632FA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89159D-5AF9-67ED-B063-2CA20F7B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F52C7-F6CC-8492-9EE6-EC7DE410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A36F7-667D-F80A-1A39-3832B259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9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F300-92C8-B0AD-0E41-AC6E16DD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C5C80-A6C1-8C63-878D-B68B0916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5CAAD-2C01-4F9B-BB69-5A4A33A0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1C1E0-FBFA-A136-3478-A7ABE380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35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9CEB0-3FAE-4CAA-DB67-B2878765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CFD7F-BD5F-DEE0-330C-C6A302BE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76547-319F-884F-01E1-A8E5CA23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66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6630-3931-20E0-16B1-16AFB9E5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26464-64E2-06D5-238E-F4E4F1D2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04F8F-2406-C0D9-FE0C-EA76951AA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00067-E7D6-564C-D95D-945BD7D2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D7ECA-7702-259D-1165-9B6591E2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6E639-CADB-9226-037E-57FCDF90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79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F1E7-C4F9-DE92-600D-3A06F8D9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D27332-527C-CDEB-5E3C-5191FFB04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2BCBB-0226-1CD1-C81D-90C98F4D0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2B915-8EE2-B94F-E7A5-026E5959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7E5A9-BD8E-B08B-71DC-494FF25D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5D131-048C-A75A-CCA8-DFD386DE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33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C6D1-68B5-79F9-D1FB-89DD00AF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FEF47-628B-21E6-C192-9A1ADBD94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211DA-AD34-022F-EAEF-1058B50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7F97D-B4CD-6E69-0786-4B37F7E7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42247-F626-966C-9028-131DEA24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24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3C7B4-D871-D125-2855-66783341C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ADC94-8DFB-0D2C-5672-176050FF7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D5E8E-091F-6512-F9F4-D688AF85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7BC39-7793-E5B8-7F4B-033C6C99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470A5-8874-1B25-BB76-ADD786BD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16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C89AB-27E6-CD37-E425-3A632A70A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D8411-6495-DE2A-7B3B-C978FEB1F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BA7FD-0373-8009-BAC6-A9B68C889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8C219-0A60-87C9-05EF-17A1D87BA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3A1BB-065A-0AC1-9560-DDFBC7C70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7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etcode.com/problems/merge-two-sorted-list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etcode.com/problems/merge-k-sorted-list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etcode.com/problems/sort-list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DF42-3AAB-5ABA-6664-039D820DF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dirty="0">
                <a:latin typeface="Cambria" panose="02040503050406030204" pitchFamily="18" charset="0"/>
                <a:ea typeface="Cambria" panose="02040503050406030204" pitchFamily="18" charset="0"/>
              </a:rPr>
              <a:t>Practical 7</a:t>
            </a:r>
            <a:endParaRPr lang="en-IN" sz="7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6CF19-098F-1A24-E2AA-764F50764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Write a Program to Merge Two Sorted Linked Lists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1EB037CC-2254-F3F2-3E31-37AF8D72886B}"/>
              </a:ext>
            </a:extLst>
          </p:cNvPr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  <p:extLst>
      <p:ext uri="{BB962C8B-B14F-4D97-AF65-F5344CB8AC3E}">
        <p14:creationId xmlns:p14="http://schemas.microsoft.com/office/powerpoint/2010/main" val="26483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E5B0-6D5B-AA51-D14A-1F693035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6630BDC-437F-2F05-F866-95DD52B258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547025"/>
              </p:ext>
            </p:extLst>
          </p:nvPr>
        </p:nvGraphicFramePr>
        <p:xfrm>
          <a:off x="3309539" y="1265839"/>
          <a:ext cx="5342848" cy="441960"/>
        </p:xfrm>
        <a:graphic>
          <a:graphicData uri="http://schemas.openxmlformats.org/drawingml/2006/table">
            <a:tbl>
              <a:tblPr/>
              <a:tblGrid>
                <a:gridCol w="5342848">
                  <a:extLst>
                    <a:ext uri="{9D8B030D-6E8A-4147-A177-3AD203B41FA5}">
                      <a16:colId xmlns:a16="http://schemas.microsoft.com/office/drawing/2014/main" val="2198981689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Plan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059474"/>
                  </a:ext>
                </a:extLst>
              </a:tr>
            </a:tbl>
          </a:graphicData>
        </a:graphic>
      </p:graphicFrame>
      <p:grpSp>
        <p:nvGrpSpPr>
          <p:cNvPr id="4" name="Group 25">
            <a:extLst>
              <a:ext uri="{FF2B5EF4-FFF2-40B4-BE49-F238E27FC236}">
                <a16:creationId xmlns:a16="http://schemas.microsoft.com/office/drawing/2014/main" id="{B3E43877-1080-6E4B-6AE0-E2492EFDFEB1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1593851C-D4FF-08B5-09C5-7485B1DE2FD4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C201C7-4C87-CD1D-B3D7-4E286AF41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33529"/>
              </p:ext>
            </p:extLst>
          </p:nvPr>
        </p:nvGraphicFramePr>
        <p:xfrm>
          <a:off x="1553497" y="2251588"/>
          <a:ext cx="8967018" cy="995946"/>
        </p:xfrm>
        <a:graphic>
          <a:graphicData uri="http://schemas.openxmlformats.org/drawingml/2006/table">
            <a:tbl>
              <a:tblPr/>
              <a:tblGrid>
                <a:gridCol w="2835890">
                  <a:extLst>
                    <a:ext uri="{9D8B030D-6E8A-4147-A177-3AD203B41FA5}">
                      <a16:colId xmlns:a16="http://schemas.microsoft.com/office/drawing/2014/main" val="332542170"/>
                    </a:ext>
                  </a:extLst>
                </a:gridCol>
                <a:gridCol w="6131128">
                  <a:extLst>
                    <a:ext uri="{9D8B030D-6E8A-4147-A177-3AD203B41FA5}">
                      <a16:colId xmlns:a16="http://schemas.microsoft.com/office/drawing/2014/main" val="4288960800"/>
                    </a:ext>
                  </a:extLst>
                </a:gridCol>
              </a:tblGrid>
              <a:tr h="3579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Subject/Course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Competitive Coding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96359"/>
                  </a:ext>
                </a:extLst>
              </a:tr>
              <a:tr h="6380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Title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Write a Program to Merge Two Sorted Linked Lists</a:t>
                      </a:r>
                      <a:endParaRPr lang="en-US" dirty="0">
                        <a:solidFill>
                          <a:schemeClr val="accent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rtl="0" fontAlgn="ctr">
                        <a:buNone/>
                      </a:pP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5822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94AD06-F5C6-E858-BB39-C46F901F6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369473"/>
              </p:ext>
            </p:extLst>
          </p:nvPr>
        </p:nvGraphicFramePr>
        <p:xfrm>
          <a:off x="1553496" y="3429000"/>
          <a:ext cx="8967017" cy="2575560"/>
        </p:xfrm>
        <a:graphic>
          <a:graphicData uri="http://schemas.openxmlformats.org/drawingml/2006/table">
            <a:tbl>
              <a:tblPr/>
              <a:tblGrid>
                <a:gridCol w="8967017">
                  <a:extLst>
                    <a:ext uri="{9D8B030D-6E8A-4147-A177-3AD203B41FA5}">
                      <a16:colId xmlns:a16="http://schemas.microsoft.com/office/drawing/2014/main" val="287047718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Objectives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06314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merge two sorted linked lists into a single sorted list using pointer manipulation and efficient traversal.</a:t>
                      </a:r>
                      <a:endParaRPr lang="en-US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42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handle merging conditions when one or both linked lists become empty during the merge process.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9789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construct two sorted linked lists for merging and initialize pointers to traverse them.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32461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efficiently merge two sorted linked lists into a single sorted list in O(m + n) time using pointer comparison.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145128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09664DAA-772B-E4EF-0181-CDE1F5DB4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54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5516-FB3F-631C-A9D1-2F54F912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Problem Statement: 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61C21-8B3F-3FCC-C6DF-5B758D0E3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Write a program to merge two sorted linked lists into one sorted linked list.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program should maintain the sorted order after merging and efficiently traverse both lists.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Create two sorted linked lists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Initialize pointers for both lists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Compare and attach smaller node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Repeat until one list ends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Attach remaining nodes to merged list</a:t>
            </a:r>
          </a:p>
          <a:p>
            <a:pPr marL="0" indent="0" algn="just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9FDD4DAE-07CF-B93D-23EE-35585D2FA412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E84C1E60-1DB4-D19B-1A72-44495D4AF39F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1973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71CBB-E23A-2BEC-F54D-26A7CE847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3C17-EF57-1327-531A-B31C43893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BA18-316C-FA4D-932C-1955346FD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Linked List is a linear data structure where elements (nodes) are connected using pointers.</a:t>
            </a:r>
          </a:p>
          <a:p>
            <a:pPr marL="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Each node consists of: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data: stores the element value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next: pointer to the next node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When two linked lists are sorted, we can merge them efficiently by comparing their nodes one by one and arranging them in increasing order — similar to the merge step in Merge Sort.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0231122B-7886-9834-4897-B3DA540B74F3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04504AB9-0C30-167A-A60C-7DFAB5296614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8439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ED1EC-6695-3D52-17CD-60F1CAB8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2FF2-6FD6-747B-B02A-A950CEDC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F0F38-2FA4-DA47-3CAE-BA5233399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Initialize:</a:t>
            </a:r>
          </a:p>
          <a:p>
            <a:pPr lvl="1">
              <a:lnSpc>
                <a:spcPct val="110000"/>
              </a:lnSpc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Create two sorted linked lists — list1 and list2.</a:t>
            </a:r>
          </a:p>
          <a:p>
            <a:pPr lvl="1">
              <a:lnSpc>
                <a:spcPct val="110000"/>
              </a:lnSpc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Create a new pointer result (head of merged list).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buAutoNum type="arabicPeriod" startAt="2"/>
            </a:pPr>
            <a:r>
              <a:rPr lang="en-US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Compare Nodes: </a:t>
            </a:r>
          </a:p>
          <a:p>
            <a:pPr marL="457200" lvl="1" indent="0">
              <a:buNone/>
            </a:pP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If both list1 and list2 are not empty:</a:t>
            </a:r>
          </a:p>
          <a:p>
            <a:pPr lvl="1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If list1-&gt;data &lt;= list2-&gt;data,</a:t>
            </a:r>
          </a:p>
          <a:p>
            <a:pPr lvl="2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Set result = list1</a:t>
            </a:r>
          </a:p>
          <a:p>
            <a:pPr lvl="2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Move list1 = list1-&gt;next</a:t>
            </a:r>
          </a:p>
          <a:p>
            <a:pPr lvl="1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Else</a:t>
            </a:r>
          </a:p>
          <a:p>
            <a:pPr lvl="2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Set result = list2</a:t>
            </a:r>
          </a:p>
          <a:p>
            <a:pPr lvl="2"/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Move list2 = list2-&gt;next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6CA385B6-C2A8-DB08-BCF2-71686C41A94C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F7F04C97-35E2-E246-0C3E-7C8A0DA9235A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985966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45099-55B5-9236-0CD8-EAEA771E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1973-4D1E-24A1-EB17-7A4FE6DD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3234F-16B4-61DF-3A20-B7A9E5D6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Repeat Comparison: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Continue comparing nodes and linking the smaller node to the merged list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until one of the lists becomes empty.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Append Remaining Nodes: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any nodes are left in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list1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or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list2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attach them directly to the end of the merged list.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 Return Result: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Return the head pointer of the merged sorted linked list.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BFA45CE6-B22F-B916-C3D4-B5DA637CCD17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79DC9D26-5CD5-6E05-B3C2-FD9DAF5BFF0C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97874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23636-799E-FF9C-0590-B900D011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4A20-25BD-42F9-088B-C15E685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408" y="157317"/>
            <a:ext cx="10386392" cy="83863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0713F-8BD0-F342-1105-190389555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412" y="1153263"/>
            <a:ext cx="10557387" cy="1344131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Example: </a:t>
            </a:r>
          </a:p>
          <a:p>
            <a:pPr marL="2286000" lvl="5" indent="0" algn="just"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List 1: 2 → 5 → 8</a:t>
            </a:r>
          </a:p>
          <a:p>
            <a:pPr marL="2286000" lvl="5" indent="0" algn="just"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List 2: </a:t>
            </a:r>
            <a:r>
              <a:rPr lang="en-IN" sz="2400" dirty="0"/>
              <a:t>1 → 3 → 7 → 9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FA059DC9-B46B-7E0D-C21D-6C338D6941D3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DE315B47-1E61-5891-C9A6-7603ADE363DB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83C46D-A9B8-51BD-0A21-507503CA8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412138"/>
              </p:ext>
            </p:extLst>
          </p:nvPr>
        </p:nvGraphicFramePr>
        <p:xfrm>
          <a:off x="1071715" y="2403003"/>
          <a:ext cx="9940413" cy="42366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8330">
                  <a:extLst>
                    <a:ext uri="{9D8B030D-6E8A-4147-A177-3AD203B41FA5}">
                      <a16:colId xmlns:a16="http://schemas.microsoft.com/office/drawing/2014/main" val="3821634710"/>
                    </a:ext>
                  </a:extLst>
                </a:gridCol>
                <a:gridCol w="1277555">
                  <a:extLst>
                    <a:ext uri="{9D8B030D-6E8A-4147-A177-3AD203B41FA5}">
                      <a16:colId xmlns:a16="http://schemas.microsoft.com/office/drawing/2014/main" val="772438288"/>
                    </a:ext>
                  </a:extLst>
                </a:gridCol>
                <a:gridCol w="1681316">
                  <a:extLst>
                    <a:ext uri="{9D8B030D-6E8A-4147-A177-3AD203B41FA5}">
                      <a16:colId xmlns:a16="http://schemas.microsoft.com/office/drawing/2014/main" val="2372802171"/>
                    </a:ext>
                  </a:extLst>
                </a:gridCol>
                <a:gridCol w="1740310">
                  <a:extLst>
                    <a:ext uri="{9D8B030D-6E8A-4147-A177-3AD203B41FA5}">
                      <a16:colId xmlns:a16="http://schemas.microsoft.com/office/drawing/2014/main" val="1495201766"/>
                    </a:ext>
                  </a:extLst>
                </a:gridCol>
                <a:gridCol w="1700980">
                  <a:extLst>
                    <a:ext uri="{9D8B030D-6E8A-4147-A177-3AD203B41FA5}">
                      <a16:colId xmlns:a16="http://schemas.microsoft.com/office/drawing/2014/main" val="3223369885"/>
                    </a:ext>
                  </a:extLst>
                </a:gridCol>
                <a:gridCol w="2231922">
                  <a:extLst>
                    <a:ext uri="{9D8B030D-6E8A-4147-A177-3AD203B41FA5}">
                      <a16:colId xmlns:a16="http://schemas.microsoft.com/office/drawing/2014/main" val="2022972818"/>
                    </a:ext>
                  </a:extLst>
                </a:gridCol>
              </a:tblGrid>
              <a:tr h="609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List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Node Added to Merged List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Merged List (</a:t>
                      </a:r>
                      <a:br>
                        <a:rPr lang="en-IN" b="1" dirty="0"/>
                      </a:br>
                      <a:r>
                        <a:rPr lang="en-IN" b="1" dirty="0"/>
                        <a:t>current state)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367710"/>
                  </a:ext>
                </a:extLst>
              </a:tr>
              <a:tr h="609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 → 5 →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3 → 7 →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2&gt;1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818806"/>
                  </a:ext>
                </a:extLst>
              </a:tr>
              <a:tr h="348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 → 5 →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3 → 7 →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2&lt;3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164134"/>
                  </a:ext>
                </a:extLst>
              </a:tr>
              <a:tr h="348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 →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 → 7 →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5&gt;3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 →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836058"/>
                  </a:ext>
                </a:extLst>
              </a:tr>
              <a:tr h="348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 →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 →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5&lt;7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 → 3 →5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009034"/>
                  </a:ext>
                </a:extLst>
              </a:tr>
              <a:tr h="609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 →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8&gt;7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 → 3 → 5 →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475432"/>
                  </a:ext>
                </a:extLst>
              </a:tr>
              <a:tr h="609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8&lt;9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 → 3 → 5 → 7 →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6442619"/>
                  </a:ext>
                </a:extLst>
              </a:tr>
              <a:tr h="609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Only one node 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 → 3 → 5 → 7 → 8 →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45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268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2AC7-C2D5-C03B-35AD-6A95EF2C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91BD-B079-BE15-6F3A-152F26E2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303219BA-DB1F-C905-2DBC-E1E73FC08264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9F8CC54D-F78F-1D30-AC5B-ACFBA73B2591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24DFD72-5C9E-EB8F-E16E-408401669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121" y="1482026"/>
            <a:ext cx="7973538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6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10BD-B35E-94E8-5663-50815139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:a16="http://schemas.microsoft.com/office/drawing/2014/main" id="{D95692B6-5191-E00C-ACAA-7C9663EBCE49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E72CA855-6ABE-C5DA-0EBF-4AEA5D66ADCE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18AFA70-DD43-9AA0-21CD-A7B26DCDF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162" y="1290338"/>
            <a:ext cx="8368197" cy="455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91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algn="l">
              <a:lnSpc>
                <a:spcPct val="90000"/>
              </a:lnSpc>
              <a:buSzPts val="4000"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9991483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5AF01-F001-E012-4271-64090A2F6879}"/>
              </a:ext>
            </a:extLst>
          </p:cNvPr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91DF5-972B-1D27-EE5A-022B406632E1}"/>
              </a:ext>
            </a:extLst>
          </p:cNvPr>
          <p:cNvSpPr txBox="1"/>
          <p:nvPr/>
        </p:nvSpPr>
        <p:spPr>
          <a:xfrm>
            <a:off x="1848466" y="2202427"/>
            <a:ext cx="7747819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Merged Sorted List: 1 2 3 4 5 6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E8CB-CE9E-6A64-3E4A-A09870EE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C5A2A-97A7-48EC-B50B-418237FC8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412" y="1153263"/>
            <a:ext cx="10557387" cy="50237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Example: </a:t>
            </a:r>
          </a:p>
          <a:p>
            <a:pPr marL="1828800" lvl="4" indent="0" algn="just"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List 1: 1 → 3 → 5 → 7  </a:t>
            </a:r>
          </a:p>
          <a:p>
            <a:pPr marL="1828800" lvl="4" indent="0" algn="just"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List 2: 2 → 4 → 6 → 8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2704658A-5189-FE74-E89E-307FE4ACECAD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221CD6F9-6770-4084-F8C6-7AF906F9D34D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3DC252-5F51-9E5F-7B00-93FA6248B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440103"/>
              </p:ext>
            </p:extLst>
          </p:nvPr>
        </p:nvGraphicFramePr>
        <p:xfrm>
          <a:off x="967408" y="2950995"/>
          <a:ext cx="9756915" cy="338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4179">
                  <a:extLst>
                    <a:ext uri="{9D8B030D-6E8A-4147-A177-3AD203B41FA5}">
                      <a16:colId xmlns:a16="http://schemas.microsoft.com/office/drawing/2014/main" val="3821634710"/>
                    </a:ext>
                  </a:extLst>
                </a:gridCol>
                <a:gridCol w="1584047">
                  <a:extLst>
                    <a:ext uri="{9D8B030D-6E8A-4147-A177-3AD203B41FA5}">
                      <a16:colId xmlns:a16="http://schemas.microsoft.com/office/drawing/2014/main" val="772438288"/>
                    </a:ext>
                  </a:extLst>
                </a:gridCol>
                <a:gridCol w="1575736">
                  <a:extLst>
                    <a:ext uri="{9D8B030D-6E8A-4147-A177-3AD203B41FA5}">
                      <a16:colId xmlns:a16="http://schemas.microsoft.com/office/drawing/2014/main" val="2372802171"/>
                    </a:ext>
                  </a:extLst>
                </a:gridCol>
                <a:gridCol w="1658235">
                  <a:extLst>
                    <a:ext uri="{9D8B030D-6E8A-4147-A177-3AD203B41FA5}">
                      <a16:colId xmlns:a16="http://schemas.microsoft.com/office/drawing/2014/main" val="1495201766"/>
                    </a:ext>
                  </a:extLst>
                </a:gridCol>
                <a:gridCol w="1658235">
                  <a:extLst>
                    <a:ext uri="{9D8B030D-6E8A-4147-A177-3AD203B41FA5}">
                      <a16:colId xmlns:a16="http://schemas.microsoft.com/office/drawing/2014/main" val="3223369885"/>
                    </a:ext>
                  </a:extLst>
                </a:gridCol>
                <a:gridCol w="1996483">
                  <a:extLst>
                    <a:ext uri="{9D8B030D-6E8A-4147-A177-3AD203B41FA5}">
                      <a16:colId xmlns:a16="http://schemas.microsoft.com/office/drawing/2014/main" val="2022972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List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Node Added to Merged List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Merged List (</a:t>
                      </a:r>
                      <a:br>
                        <a:rPr lang="en-IN" b="1" dirty="0"/>
                      </a:br>
                      <a:r>
                        <a:rPr lang="en-IN" b="1" dirty="0"/>
                        <a:t>current state)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36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3 →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 → 4 →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1&lt;2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818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3 →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4 →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3&gt;2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8164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3 →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4 →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3&lt;4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 →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836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5&gt;4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 → 3 → 4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009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5&lt;6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 → 3 → 4 → 5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475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Only 6 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→ 2 → 3 → 4 → 5 →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6442619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7D38E1D0-9E69-B901-FE5D-6CE7DF4D5B2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Example Walkthrough</a:t>
            </a:r>
          </a:p>
        </p:txBody>
      </p:sp>
    </p:spTree>
    <p:extLst>
      <p:ext uri="{BB962C8B-B14F-4D97-AF65-F5344CB8AC3E}">
        <p14:creationId xmlns:p14="http://schemas.microsoft.com/office/powerpoint/2010/main" val="3113560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0AAD-7D52-28B3-9987-C87A48C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C46F-6A00-51C1-03B6-49572A16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Time &amp; Space Complexity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8201889-2AEF-1665-2C2D-579C5496C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954197"/>
              </p:ext>
            </p:extLst>
          </p:nvPr>
        </p:nvGraphicFramePr>
        <p:xfrm>
          <a:off x="1043609" y="2232128"/>
          <a:ext cx="9929191" cy="3931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81739">
                  <a:extLst>
                    <a:ext uri="{9D8B030D-6E8A-4147-A177-3AD203B41FA5}">
                      <a16:colId xmlns:a16="http://schemas.microsoft.com/office/drawing/2014/main" val="550509386"/>
                    </a:ext>
                  </a:extLst>
                </a:gridCol>
                <a:gridCol w="1739348">
                  <a:extLst>
                    <a:ext uri="{9D8B030D-6E8A-4147-A177-3AD203B41FA5}">
                      <a16:colId xmlns:a16="http://schemas.microsoft.com/office/drawing/2014/main" val="3080709575"/>
                    </a:ext>
                  </a:extLst>
                </a:gridCol>
                <a:gridCol w="1888434">
                  <a:extLst>
                    <a:ext uri="{9D8B030D-6E8A-4147-A177-3AD203B41FA5}">
                      <a16:colId xmlns:a16="http://schemas.microsoft.com/office/drawing/2014/main" val="769219263"/>
                    </a:ext>
                  </a:extLst>
                </a:gridCol>
                <a:gridCol w="3319670">
                  <a:extLst>
                    <a:ext uri="{9D8B030D-6E8A-4147-A177-3AD203B41FA5}">
                      <a16:colId xmlns:a16="http://schemas.microsoft.com/office/drawing/2014/main" val="2005432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Space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Why?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216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Merge Two Sorted Linked Lists (Iterative)</a:t>
                      </a:r>
                      <a:endParaRPr lang="en-IN" sz="2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O(</a:t>
                      </a:r>
                      <a:r>
                        <a:rPr lang="en-IN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m+n</a:t>
                      </a:r>
                      <a:r>
                        <a:rPr lang="en-IN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Each node from both lists is compared and merged once.</a:t>
                      </a:r>
                      <a:endParaRPr lang="en-IN" sz="2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359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Merge Two Sorted Linked Lists (Recursive)</a:t>
                      </a:r>
                      <a:endParaRPr lang="en-IN" sz="2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O(</a:t>
                      </a:r>
                      <a:r>
                        <a:rPr lang="en-IN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m+n</a:t>
                      </a:r>
                      <a:r>
                        <a:rPr lang="en-IN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O(</a:t>
                      </a:r>
                      <a:r>
                        <a:rPr lang="en-IN" sz="2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m+n</a:t>
                      </a:r>
                      <a:r>
                        <a:rPr lang="en-IN" sz="2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</a:p>
                    <a:p>
                      <a:pPr algn="ctr">
                        <a:buNone/>
                      </a:pPr>
                      <a:endParaRPr lang="en-IN" sz="2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Recursive calls are made for each node until both lists are merged.</a:t>
                      </a:r>
                      <a:endParaRPr lang="en-IN" sz="2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749219"/>
                  </a:ext>
                </a:extLst>
              </a:tr>
            </a:tbl>
          </a:graphicData>
        </a:graphic>
      </p:graphicFrame>
      <p:grpSp>
        <p:nvGrpSpPr>
          <p:cNvPr id="4" name="Group 25">
            <a:extLst>
              <a:ext uri="{FF2B5EF4-FFF2-40B4-BE49-F238E27FC236}">
                <a16:creationId xmlns:a16="http://schemas.microsoft.com/office/drawing/2014/main" id="{8E5BE82E-2F29-9429-C647-CB30979A4AE0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67BD99B5-A27B-06DE-27E6-25523559414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771634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97BD-9FB6-41C6-30A1-D3C2BC77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53A5A-3BCD-6710-70D4-90212BCA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0C6DD-F7E5-78D0-C864-E35DCF55B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Merging two sorted linked lists efficiently combines both lists into a single sorted list using pointer comparison.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At each step, the smaller node is linked to the result list, ensuring order is maintained.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operation runs in O(m + n) time and is fundamental in algorithms like Merge Sort, demonstrating efficient linked list manipulation.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14A6E9B5-1CFC-504A-2188-F9373268C03C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5ADE9C5B-E567-2E88-CFA1-3D267E9688EA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44505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EBDF-253F-78C8-D890-3CFBDEE6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C22A-C2A2-B9F0-246E-A803474B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FBDB-B41D-B3AE-59C3-01392EC45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uses pointer manipulation to compare nodes from both lists and attaches the smaller one to the new list, continuing until all nodes are merged.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method avoids using extra space and maintains the sorted order efficiently.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algorithm runs in linear time O(m + n), making it optimal for large datasets.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is widely used in merge sort, data merging applications, and linked list-based systems to maintain ordered data dynamically.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16B28764-8938-10CE-9C36-04CD2296B6A2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38D7B45D-6BD4-B2C5-936E-61EA0AD229AD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37910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52432-6567-F6B8-58C5-D8227FF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05A7-E21D-9F7F-BB89-B8827944B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D82DD-AA93-1185-60B7-4D79F669B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Merge Two Sorted Lists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#21</a:t>
            </a:r>
          </a:p>
          <a:p>
            <a:pPr marL="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https://leetcode.com/problems/merge-two-sorted-lists/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Recursively or iteratively merge two sorted linked lists.</a:t>
            </a:r>
          </a:p>
          <a:p>
            <a:pPr marL="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Directly matches the concept taught in this practical.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4D1A9CE8-F7D1-6FDC-CCFE-04EDCAC4835B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E2920209-269F-7DB9-0ED2-0218F5B605F2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143794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C3BE3-1C99-03B3-3A4C-F50F8E3C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0150-7B54-26C4-209C-90D3EE2D4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0526B-DA98-69CC-DDB9-9E6679BE7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Merge k Sorted Lists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#23</a:t>
            </a:r>
          </a:p>
          <a:p>
            <a:pPr marL="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https://leetcode.com/problems/merge-k-sorted-lists/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Merge multiple sorted lists using a priority queue.</a:t>
            </a:r>
          </a:p>
          <a:p>
            <a:pPr marL="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Extends the same concept to handle multiple linked lists efficiently.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E8C04281-ABC8-8B6F-57DE-3D64BCD4C87B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179F65FA-6ED6-F260-B151-4DB183A17F8A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43232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698E5-90FE-4D2C-27EA-807F6E814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0E6F-F05F-E998-F51F-6AF92291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75968-90C2-EECB-9B06-BA846B940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Sort List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#148</a:t>
            </a:r>
          </a:p>
          <a:p>
            <a:pPr marL="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https://leetcode.com/problems/sort-list/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Apply merge sort algorithm on a linked list.</a:t>
            </a:r>
          </a:p>
          <a:p>
            <a:pPr marL="0" indent="0"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Builds upon merging logic to perform complete list sorting.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F69D9022-21F3-4A2B-4F45-9FE4EB581578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9CD21D91-FE59-F2A5-CFBB-B0170226AE32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728402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8A94-A648-E376-259E-F66FA43D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5232-2903-D341-34C9-5C74DB9A1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b="1" dirty="0">
                <a:latin typeface="Cambria" panose="02040503050406030204" pitchFamily="18" charset="0"/>
                <a:ea typeface="Cambria" panose="02040503050406030204" pitchFamily="18" charset="0"/>
              </a:rPr>
              <a:t>Thanks</a:t>
            </a:r>
            <a:endParaRPr lang="en-IN" sz="7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4100F48C-2E5C-EB14-4264-B3580D048FEB}"/>
              </a:ext>
            </a:extLst>
          </p:cNvPr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  <p:extLst>
      <p:ext uri="{BB962C8B-B14F-4D97-AF65-F5344CB8AC3E}">
        <p14:creationId xmlns:p14="http://schemas.microsoft.com/office/powerpoint/2010/main" val="186468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1061</Words>
  <Application>Microsoft Office PowerPoint</Application>
  <PresentationFormat>Widescreen</PresentationFormat>
  <Paragraphs>184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Office Theme</vt:lpstr>
      <vt:lpstr>Practical 7</vt:lpstr>
      <vt:lpstr>PowerPoint Presentation</vt:lpstr>
      <vt:lpstr>Problem Statement: </vt:lpstr>
      <vt:lpstr>Concept</vt:lpstr>
      <vt:lpstr>Algorithm/Logic</vt:lpstr>
      <vt:lpstr>Algorithm/Logic</vt:lpstr>
      <vt:lpstr>Visualization</vt:lpstr>
      <vt:lpstr>Code Implementation</vt:lpstr>
      <vt:lpstr>PowerPoint Presentation</vt:lpstr>
      <vt:lpstr>Output :</vt:lpstr>
      <vt:lpstr>PowerPoint Presentation</vt:lpstr>
      <vt:lpstr>Time &amp; Space Complexity</vt:lpstr>
      <vt:lpstr>Summary</vt:lpstr>
      <vt:lpstr>Summary</vt:lpstr>
      <vt:lpstr>Practice Questions:</vt:lpstr>
      <vt:lpstr>Practice Questions:</vt:lpstr>
      <vt:lpstr>Practice Questions: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K. P.</dc:creator>
  <cp:lastModifiedBy>Prakash K. P.</cp:lastModifiedBy>
  <cp:revision>5</cp:revision>
  <dcterms:created xsi:type="dcterms:W3CDTF">2025-10-28T09:21:51Z</dcterms:created>
  <dcterms:modified xsi:type="dcterms:W3CDTF">2025-11-02T10:24:31Z</dcterms:modified>
</cp:coreProperties>
</file>