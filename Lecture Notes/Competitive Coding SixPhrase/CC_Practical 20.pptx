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76" r:id="rId12"/>
    <p:sldId id="267" r:id="rId13"/>
    <p:sldId id="269" r:id="rId14"/>
    <p:sldId id="270" r:id="rId15"/>
    <p:sldId id="271" r:id="rId16"/>
    <p:sldId id="272" r:id="rId17"/>
    <p:sldId id="277" r:id="rId18"/>
    <p:sldId id="278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E29107-73DF-46A0-9A5E-3EF18267407D}">
  <a:tblStyle styleId="{6BE29107-73DF-46A0-9A5E-3EF1826740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6386A1-B303-444F-ADC3-A631262ACA0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e70309145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9e70309145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7030914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9e7030914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A3110741-FD2A-BB7F-EB24-431195F83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>
            <a:extLst>
              <a:ext uri="{FF2B5EF4-FFF2-40B4-BE49-F238E27FC236}">
                <a16:creationId xmlns:a16="http://schemas.microsoft.com/office/drawing/2014/main" id="{E11A4766-05BC-FFC0-45D8-93149BA1E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0:notes">
            <a:extLst>
              <a:ext uri="{FF2B5EF4-FFF2-40B4-BE49-F238E27FC236}">
                <a16:creationId xmlns:a16="http://schemas.microsoft.com/office/drawing/2014/main" id="{F57A4958-7670-98CC-B305-F67A63E3D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1912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38A902E3-DFCE-7963-99C3-DBCD9662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>
            <a:extLst>
              <a:ext uri="{FF2B5EF4-FFF2-40B4-BE49-F238E27FC236}">
                <a16:creationId xmlns:a16="http://schemas.microsoft.com/office/drawing/2014/main" id="{782D3CAF-D765-8431-CE61-E5A725705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7:notes">
            <a:extLst>
              <a:ext uri="{FF2B5EF4-FFF2-40B4-BE49-F238E27FC236}">
                <a16:creationId xmlns:a16="http://schemas.microsoft.com/office/drawing/2014/main" id="{AB239D6C-89EF-CD0B-9FEF-06B4B4CF3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558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7E5AF846-2810-FF99-EB38-CE825A84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>
            <a:extLst>
              <a:ext uri="{FF2B5EF4-FFF2-40B4-BE49-F238E27FC236}">
                <a16:creationId xmlns:a16="http://schemas.microsoft.com/office/drawing/2014/main" id="{5483FE3F-4B6F-5601-85FA-346676378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7:notes">
            <a:extLst>
              <a:ext uri="{FF2B5EF4-FFF2-40B4-BE49-F238E27FC236}">
                <a16:creationId xmlns:a16="http://schemas.microsoft.com/office/drawing/2014/main" id="{D2180C03-B263-C100-EDE6-F2457FD7C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6582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implement-trie-prefix-tre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add-and-search-word-data-structure-design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place-word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20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Write a Program to Implement Search, insert, and Remove in Trie.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7" b="-5647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14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{6BE29107-73DF-46A0-9A5E-3EF18267407D}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1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graphicFrame>
        <p:nvGraphicFramePr>
          <p:cNvPr id="93" name="Google Shape;93;p14"/>
          <p:cNvGraphicFramePr/>
          <p:nvPr/>
        </p:nvGraphicFramePr>
        <p:xfrm>
          <a:off x="1461074" y="2271951"/>
          <a:ext cx="9059450" cy="975360"/>
        </p:xfrm>
        <a:graphic>
          <a:graphicData uri="http://schemas.openxmlformats.org/drawingml/2006/table">
            <a:tbl>
              <a:tblPr>
                <a:noFill/>
                <a:tableStyleId>{6BE29107-73DF-46A0-9A5E-3EF18267407D}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Write a Program to Implement Search, insert, and Remove in Trie.</a:t>
                      </a:r>
                      <a:endParaRPr sz="1800" b="1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14"/>
          <p:cNvGraphicFramePr/>
          <p:nvPr/>
        </p:nvGraphicFramePr>
        <p:xfrm>
          <a:off x="1471065" y="3595291"/>
          <a:ext cx="9039450" cy="2103120"/>
        </p:xfrm>
        <a:graphic>
          <a:graphicData uri="http://schemas.openxmlformats.org/drawingml/2006/table">
            <a:tbl>
              <a:tblPr>
                <a:noFill/>
                <a:tableStyleId>{6BE29107-73DF-46A0-9A5E-3EF18267407D}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understand the concept and structure of Trie (Prefix Tree).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the basic Insert, Search, and Remove operations in a Trie.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efficiently store and retrieve strings with common prefixes.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handle deletion carefully so shared prefixes among words are not lost.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analyze the time and space complexity of Trie operations.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5" name="Google Shape;95;p14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implement a Trie (prefix tree) that supports: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insert(String key) — insert a word into the trie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search(String key) — return true if the exact word exists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remove(String key) — delete a word from the trie (if it exists)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667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lang="en-IN" b="1">
                <a:latin typeface="Cambria"/>
                <a:ea typeface="Cambria"/>
                <a:cs typeface="Cambria"/>
                <a:sym typeface="Cambria"/>
              </a:rPr>
              <a:t>Trie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is a tree-like data structure used to store a dynamic set of strings where keys are usually strings.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685800" lvl="1" indent="-2667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Fast prefix-based operations: insert, search, and delete in time proportional to the length of the word </a:t>
            </a:r>
            <a:r>
              <a:rPr lang="en-IN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O(L)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where </a:t>
            </a:r>
            <a:r>
              <a:rPr lang="en-IN">
                <a:solidFill>
                  <a:srgbClr val="188038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is word length.</a:t>
            </a:r>
            <a:br>
              <a:rPr lang="en-IN">
                <a:latin typeface="Cambria"/>
                <a:ea typeface="Cambria"/>
                <a:cs typeface="Cambria"/>
                <a:sym typeface="Cambria"/>
              </a:rPr>
            </a:b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685800" lvl="1" indent="-2667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Useful for auto-complete, spell-checkers, dictionary implementations, and IP routing (prefix matching).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685800" lvl="0" indent="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40018" lvl="0" indent="0" algn="just">
              <a:buSzPct val="64285"/>
              <a:buNone/>
            </a:pPr>
            <a:r>
              <a:rPr lang="en-IN" b="1" dirty="0">
                <a:latin typeface="Cambria"/>
                <a:ea typeface="Cambria"/>
                <a:cs typeface="Cambria"/>
                <a:sym typeface="Cambria"/>
              </a:rPr>
              <a:t>Insert</a:t>
            </a:r>
            <a:endParaRPr lang="en-IN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182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Start at root.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182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For each character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ch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in the word: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182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compute index (e.g.,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ch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- 'a').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182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if children[index] is null, create new node.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182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move to children[index].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7182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Cambria"/>
              <a:buAutoNum type="arabicPeriod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After last char, mark </a:t>
            </a:r>
            <a:r>
              <a:rPr lang="en-IN" sz="2400" dirty="0" err="1">
                <a:latin typeface="Cambria"/>
                <a:ea typeface="Cambria"/>
                <a:cs typeface="Cambria"/>
                <a:sym typeface="Cambria"/>
              </a:rPr>
              <a:t>isEndOfWord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= true.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Time: O(L) per insertion. Space: O(L) new nodes in worst case.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lvl="0" indent="0" algn="just">
              <a:buNone/>
            </a:pPr>
            <a:r>
              <a:rPr lang="en-IN" sz="3300" b="1" dirty="0">
                <a:latin typeface="Cambria"/>
                <a:ea typeface="Cambria"/>
                <a:cs typeface="Cambria"/>
                <a:sym typeface="Cambria"/>
              </a:rPr>
              <a:t>Search</a:t>
            </a:r>
            <a:endParaRPr lang="en-IN" sz="33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Start at root.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For each character </a:t>
            </a:r>
            <a:r>
              <a:rPr lang="en-IN" dirty="0" err="1">
                <a:latin typeface="Cambria"/>
                <a:ea typeface="Cambria"/>
                <a:cs typeface="Cambria"/>
                <a:sym typeface="Cambria"/>
              </a:rPr>
              <a:t>ch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 in the word: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follow children[index].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if at any step child is null → return false.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After last char, return </a:t>
            </a:r>
            <a:r>
              <a:rPr lang="en-IN" dirty="0" err="1">
                <a:latin typeface="Cambria"/>
                <a:ea typeface="Cambria"/>
                <a:cs typeface="Cambria"/>
                <a:sym typeface="Cambria"/>
              </a:rPr>
              <a:t>node.isEndOfWord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Time: O(L) per search.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 dirty="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just">
              <a:buSzPct val="100000"/>
              <a:buNone/>
            </a:pPr>
            <a:r>
              <a:rPr lang="en-IN" sz="3300" b="1" dirty="0">
                <a:latin typeface="Cambria"/>
                <a:ea typeface="Cambria"/>
                <a:cs typeface="Cambria"/>
                <a:sym typeface="Cambria"/>
              </a:rPr>
              <a:t>Delete</a:t>
            </a:r>
            <a:endParaRPr lang="en-IN" sz="3300"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Deleting a word requires careful handling to avoid removing nodes used by other words.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Use recursive helper that: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Traverses characters to the end.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Unmarks </a:t>
            </a:r>
            <a:r>
              <a:rPr lang="en-IN" dirty="0" err="1">
                <a:latin typeface="Cambria"/>
                <a:ea typeface="Cambria"/>
                <a:cs typeface="Cambria"/>
                <a:sym typeface="Cambria"/>
              </a:rPr>
              <a:t>isEndOfWord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 at end.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On unwind, delete a child node if: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It has no children, and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 err="1">
                <a:latin typeface="Cambria"/>
                <a:ea typeface="Cambria"/>
                <a:cs typeface="Cambria"/>
                <a:sym typeface="Cambria"/>
              </a:rPr>
              <a:t>isEndOfWord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 is false.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Return </a:t>
            </a:r>
            <a:r>
              <a:rPr lang="en-IN" dirty="0" err="1">
                <a:latin typeface="Cambria"/>
                <a:ea typeface="Cambria"/>
                <a:cs typeface="Cambria"/>
                <a:sym typeface="Cambria"/>
              </a:rPr>
              <a:t>boolean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 to parent indicating whether child can be removed.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Time: O(L) per deletion.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9991482" y="4"/>
            <a:ext cx="2144801" cy="995524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81C83-F33A-1AA9-8299-161490EA8B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41650" y="1690688"/>
            <a:ext cx="7172217" cy="4710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69007-4332-4721-1369-093B8FCEF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810" y="1393910"/>
            <a:ext cx="8782379" cy="40701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51BDB-05CC-E191-45D9-80775A056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83" y="1361587"/>
            <a:ext cx="8793562" cy="40727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AB49643A-446F-3488-644A-E41C3420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>
            <a:extLst>
              <a:ext uri="{FF2B5EF4-FFF2-40B4-BE49-F238E27FC236}">
                <a16:creationId xmlns:a16="http://schemas.microsoft.com/office/drawing/2014/main" id="{140409BD-27D4-229F-D4A3-BB275D8D8259}"/>
              </a:ext>
            </a:extLst>
          </p:cNvPr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B87BA-14BC-FA70-D762-482ACFE0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955" y="1218891"/>
            <a:ext cx="9364382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54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B70E8-B8D5-2DA9-ADA7-D5E19BEA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2032" y="1776463"/>
            <a:ext cx="6142703" cy="3513291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buNone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Search 'car': true</a:t>
            </a:r>
          </a:p>
          <a:p>
            <a:pPr marL="114300" indent="0">
              <a:buNone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Search 'cap': false</a:t>
            </a:r>
          </a:p>
          <a:p>
            <a:pPr marL="114300" indent="0">
              <a:buNone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After deleting 'car', search 'car': false</a:t>
            </a:r>
          </a:p>
          <a:p>
            <a:pPr marL="114300" indent="0">
              <a:buNone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Search 'cat': true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C7C11-B717-C219-D425-A0085552F470}"/>
              </a:ext>
            </a:extLst>
          </p:cNvPr>
          <p:cNvSpPr txBox="1"/>
          <p:nvPr/>
        </p:nvSpPr>
        <p:spPr>
          <a:xfrm>
            <a:off x="1170039" y="2127628"/>
            <a:ext cx="7865806" cy="113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Time Complexity: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O(L) per operation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Space Complexity: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O(26 × L) (for children references)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Efficient method to search pair adding up to target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Uses HashMap for instant lookup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Suitable for large inputs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One-pass solution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✅ Advantage: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Eliminates nested loops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Guaranteed faster performance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📌 Use Cases: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E-Commerce cart matching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Financial security validation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Data search operations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ts val="2800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1️⃣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Implement Trie (Prefix Tree)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#208</a:t>
            </a:r>
          </a:p>
          <a:p>
            <a:pPr marL="0" lvl="0" indent="0">
              <a:buSzPts val="28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https://leetcode.com/problems/implement-trie-prefix-tree/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>
              <a:buSzPts val="28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Build a Trie supporting insert(), search(), and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startsWith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() operations.</a:t>
            </a:r>
          </a:p>
          <a:p>
            <a:pPr marL="0" lvl="0" indent="0">
              <a:buSzPts val="28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Directly matches this practical — helps master the basic structure and traversal logic of Trie.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931FC2D3-DB1B-F784-28FE-B984D05D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>
            <a:extLst>
              <a:ext uri="{FF2B5EF4-FFF2-40B4-BE49-F238E27FC236}">
                <a16:creationId xmlns:a16="http://schemas.microsoft.com/office/drawing/2014/main" id="{8E73CF8F-E6BE-34F6-0DB3-0C3F11DE7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06" name="Google Shape;206;p30">
            <a:extLst>
              <a:ext uri="{FF2B5EF4-FFF2-40B4-BE49-F238E27FC236}">
                <a16:creationId xmlns:a16="http://schemas.microsoft.com/office/drawing/2014/main" id="{3195083A-B3B8-93F9-6217-3467075FEE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ct val="100000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2️⃣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Add and Search Word – Data Structure Design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#211</a:t>
            </a:r>
          </a:p>
          <a:p>
            <a:pPr marL="0" lvl="0" indent="0">
              <a:buSzPct val="1000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https://leetcode.com/problems/add-and-search-word-data-structure-design/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>
              <a:buSzPct val="1000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Extend Trie to support wildcard searches using recursion (. can match any letter).</a:t>
            </a:r>
          </a:p>
          <a:p>
            <a:pPr marL="0" lvl="0" indent="0">
              <a:buSzPct val="1000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Strengthens understanding of Trie traversal and recursive pattern searching.</a:t>
            </a:r>
          </a:p>
        </p:txBody>
      </p:sp>
      <p:sp>
        <p:nvSpPr>
          <p:cNvPr id="207" name="Google Shape;207;p30">
            <a:extLst>
              <a:ext uri="{FF2B5EF4-FFF2-40B4-BE49-F238E27FC236}">
                <a16:creationId xmlns:a16="http://schemas.microsoft.com/office/drawing/2014/main" id="{13EDA4BC-9A36-BC76-C48E-CC372970F208}"/>
              </a:ext>
            </a:extLst>
          </p:cNvPr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89420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CAB2B9C1-2C55-8F5E-BEE2-7DB2048F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>
            <a:extLst>
              <a:ext uri="{FF2B5EF4-FFF2-40B4-BE49-F238E27FC236}">
                <a16:creationId xmlns:a16="http://schemas.microsoft.com/office/drawing/2014/main" id="{54B138CA-42B2-1CDC-737D-00EBE6E71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206" name="Google Shape;206;p30">
            <a:extLst>
              <a:ext uri="{FF2B5EF4-FFF2-40B4-BE49-F238E27FC236}">
                <a16:creationId xmlns:a16="http://schemas.microsoft.com/office/drawing/2014/main" id="{B602D991-B939-39AD-F896-C0F544C752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ct val="100000"/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3️⃣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Replace Words —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#648</a:t>
            </a:r>
          </a:p>
          <a:p>
            <a:pPr marL="0" lvl="0" indent="0">
              <a:buSzPct val="1000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https://leetcode.com/problems/replace-words/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>
              <a:buSzPct val="1000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Concept: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Use Trie to replace words in a sentence with the shortest root from a given dictionary.</a:t>
            </a:r>
          </a:p>
          <a:p>
            <a:pPr marL="0" lvl="0" indent="0">
              <a:buSzPct val="100000"/>
              <a:buNone/>
            </a:pP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Practice: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Demonstrates how Trie can be applied in real-world tasks like text simplification and dictionary lookups.</a:t>
            </a:r>
          </a:p>
        </p:txBody>
      </p:sp>
      <p:sp>
        <p:nvSpPr>
          <p:cNvPr id="207" name="Google Shape;207;p30">
            <a:extLst>
              <a:ext uri="{FF2B5EF4-FFF2-40B4-BE49-F238E27FC236}">
                <a16:creationId xmlns:a16="http://schemas.microsoft.com/office/drawing/2014/main" id="{7C2A2E4A-AF0B-76E9-1159-BC641DEAED9B}"/>
              </a:ext>
            </a:extLst>
          </p:cNvPr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20658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7" b="-5647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708</Words>
  <Application>Microsoft Office PowerPoint</Application>
  <PresentationFormat>Widescreen</PresentationFormat>
  <Paragraphs>98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Practical 20</vt:lpstr>
      <vt:lpstr>PowerPoint Presentation</vt:lpstr>
      <vt:lpstr>Problem Statement: </vt:lpstr>
      <vt:lpstr>Concept</vt:lpstr>
      <vt:lpstr>Algorithm/Logic</vt:lpstr>
      <vt:lpstr>Algorithm/Logic</vt:lpstr>
      <vt:lpstr>Algorithm/Logic</vt:lpstr>
      <vt:lpstr>Code Implementation</vt:lpstr>
      <vt:lpstr>PowerPoint Presentation</vt:lpstr>
      <vt:lpstr>PowerPoint Presentation</vt:lpstr>
      <vt:lpstr>PowerPoint Presentation</vt:lpstr>
      <vt:lpstr>Output</vt:lpstr>
      <vt:lpstr>Time &amp; Space Complexity</vt:lpstr>
      <vt:lpstr>Summary</vt:lpstr>
      <vt:lpstr>Summary</vt:lpstr>
      <vt:lpstr>Practice Questions: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2</cp:revision>
  <dcterms:modified xsi:type="dcterms:W3CDTF">2025-11-12T05:52:20Z</dcterms:modified>
</cp:coreProperties>
</file>