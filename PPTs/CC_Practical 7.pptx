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UTNCALd4mRJePJ1615WgJBZj7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FBD824-1944-4274-B5C5-2F36AA3D2B24}">
  <a:tblStyle styleId="{20FBD824-1944-4274-B5C5-2F36AA3D2B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BFAE04D-CC51-4F1B-BCA2-EEB42571CF2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9bdca36b2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9bdca36b2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99bdca36b2_0_18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99bdca36b2_0_18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g399bdca36b2_0_1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9bdca36b2_0_1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99bdca36b2_0_1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9bdca36b2_0_1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9bdca36b2_0_1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399bdca36b2_0_1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9bdca36b2_0_1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99bdca36b2_0_1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9bdca36b2_0_19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9bdca36b2_0_19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99bdca36b2_0_1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99bdca36b2_0_1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9bdca36b2_0_1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9bdca36b2_0_20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9bdca36b2_0_20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99bdca36b2_0_20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99bdca36b2_0_2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9bdca36b2_0_2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99bdca36b2_0_2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9bdca36b2_0_20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99bdca36b2_0_20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99bdca36b2_0_20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g399bdca36b2_0_20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99bdca36b2_0_20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g399bdca36b2_0_2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99bdca36b2_0_2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99bdca36b2_0_2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9bdca36b2_0_2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99bdca36b2_0_2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99bdca36b2_0_2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9bdca36b2_0_2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9bdca36b2_0_2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9bdca36b2_0_2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99bdca36b2_0_2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9bdca36b2_0_2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99bdca36b2_0_22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g399bdca36b2_0_22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g399bdca36b2_0_2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99bdca36b2_0_2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99bdca36b2_0_2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9bdca36b2_0_23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99bdca36b2_0_23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399bdca36b2_0_23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g399bdca36b2_0_2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99bdca36b2_0_2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99bdca36b2_0_2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9bdca36b2_0_2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99bdca36b2_0_24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99bdca36b2_0_2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99bdca36b2_0_2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99bdca36b2_0_2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9bdca36b2_0_24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99bdca36b2_0_24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99bdca36b2_0_2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99bdca36b2_0_2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99bdca36b2_0_2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9bdca36b2_0_1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99bdca36b2_0_1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99bdca36b2_0_17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99bdca36b2_0_17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99bdca36b2_0_1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merge-two-sorted-lists/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merge-k-sorted-lists/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sort-list/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g399bdca36b2_0_16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64" name="Google Shape;164;g399bdca36b2_0_1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399bdca36b2_0_16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g399bdca36b2_0_168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99bdca36b2_0_168"/>
          <p:cNvSpPr txBox="1"/>
          <p:nvPr/>
        </p:nvSpPr>
        <p:spPr>
          <a:xfrm>
            <a:off x="457000" y="2201727"/>
            <a:ext cx="10932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mbria"/>
              <a:buNone/>
            </a:pPr>
            <a:r>
              <a:rPr b="1" i="0" lang="en-IN" sz="4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a Program to Merge Two Sorted Linked Lists</a:t>
            </a:r>
            <a:endParaRPr b="1" i="0" sz="43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g399bdca36b2_0_168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3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{20FBD824-1944-4274-B5C5-2F36AA3D2B24}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2"/>
          <p:cNvGraphicFramePr/>
          <p:nvPr/>
        </p:nvGraphicFramePr>
        <p:xfrm>
          <a:off x="1553497" y="2251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{20FBD824-1944-4274-B5C5-2F36AA3D2B24}</a:tableStyleId>
              </a:tblPr>
              <a:tblGrid>
                <a:gridCol w="2835900"/>
                <a:gridCol w="6131125"/>
              </a:tblGrid>
              <a:tr h="35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Merge Two Sorted Linked Lists</a:t>
                      </a:r>
                      <a:endParaRPr sz="1800" u="none" cap="none" strike="noStrike">
                        <a:solidFill>
                          <a:schemeClr val="accen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2"/>
          <p:cNvGraphicFramePr/>
          <p:nvPr/>
        </p:nvGraphicFramePr>
        <p:xfrm>
          <a:off x="1553496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{20FBD824-1944-4274-B5C5-2F36AA3D2B24}</a:tableStyleId>
              </a:tblPr>
              <a:tblGrid>
                <a:gridCol w="8967025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merge two sorted linked lists into a single sorted list using pointer manipulation and efficient traversal.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merging conditions when one or both linked lists become empty during the merge process.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construct two sorted linked lists for merging and initialize pointers to traverse them.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0"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merge two sorted linked lists into a single sorted list in O(m + n) time using pointer comparison.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78" name="Google Shape;17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>
            <p:ph type="title"/>
          </p:nvPr>
        </p:nvSpPr>
        <p:spPr>
          <a:xfrm>
            <a:off x="838200" y="11108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85" name="Google Shape;185;p3"/>
          <p:cNvSpPr txBox="1"/>
          <p:nvPr>
            <p:ph idx="1" type="body"/>
          </p:nvPr>
        </p:nvSpPr>
        <p:spPr>
          <a:xfrm>
            <a:off x="838200" y="257134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merge two sorted linked lists into one sorted linked list.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program should maintain the sorted order after merging and efficiently traverse both lists.</a:t>
            </a:r>
            <a:endParaRPr/>
          </a:p>
          <a:p>
            <a:pPr indent="-3048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Create two sorted linked lists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Initialize pointers for both lists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Compare and attach smaller node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Repeat until one list ends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Attach remaining nodes to merged list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86" name="Google Shape;186;p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7" name="Google Shape;18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>
            <p:ph type="title"/>
          </p:nvPr>
        </p:nvSpPr>
        <p:spPr>
          <a:xfrm>
            <a:off x="838200" y="1030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p4"/>
          <p:cNvSpPr txBox="1"/>
          <p:nvPr>
            <p:ph idx="1" type="body"/>
          </p:nvPr>
        </p:nvSpPr>
        <p:spPr>
          <a:xfrm>
            <a:off x="838200" y="2356513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 Linked List is a linear data structure where elements (nodes) are connected using pointers.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Each node consists of: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data: stores the element value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next: pointer to the next node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When two linked lists are sorted, we can merge them efficiently by comparing their nodes one by one and arranging them in increasing order — similar to the merge step in Merge Sort.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95" name="Google Shape;195;p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6" name="Google Shape;19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838200" y="2265070"/>
            <a:ext cx="105156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-216216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Create two sorted linked lists — list1 and list2.</a:t>
            </a:r>
            <a:endParaRPr/>
          </a:p>
          <a:p>
            <a:pPr indent="-216216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Create a new pointer result (head of merged list).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50101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AutoNum type="arabicPeriod" startAt="2"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Compare Nodes: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 sz="16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If both list1 and list2 are not empty:</a:t>
            </a:r>
            <a:endParaRPr/>
          </a:p>
          <a:p>
            <a:pPr indent="-216216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If list1-&gt;data &lt;= list2-&gt;data,</a:t>
            </a:r>
            <a:endParaRPr/>
          </a:p>
          <a:p>
            <a:pPr indent="-21621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Set result = list1</a:t>
            </a:r>
            <a:endParaRPr/>
          </a:p>
          <a:p>
            <a:pPr indent="-21621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Move list1 = list1-&gt;next</a:t>
            </a:r>
            <a:endParaRPr/>
          </a:p>
          <a:p>
            <a:pPr indent="-216216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Else</a:t>
            </a:r>
            <a:endParaRPr/>
          </a:p>
          <a:p>
            <a:pPr indent="-21621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Set result = list2</a:t>
            </a:r>
            <a:endParaRPr/>
          </a:p>
          <a:p>
            <a:pPr indent="-21621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Cambria"/>
                <a:ea typeface="Cambria"/>
                <a:cs typeface="Cambria"/>
                <a:sym typeface="Cambria"/>
              </a:rPr>
              <a:t>Move list2 = list2-&gt;next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4" name="Google Shape;204;p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05" name="Google Shape;2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type="title"/>
          </p:nvPr>
        </p:nvSpPr>
        <p:spPr>
          <a:xfrm>
            <a:off x="838200" y="113748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838200" y="259798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3. Repeat Comparison: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Continue comparing nodes and linking the smaller node to the merged list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until one of the lists becomes empty.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Append Remaining Nodes: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any nodes are left in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list1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list2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attach them directly to the end of the merged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600"/>
              <a:buNone/>
            </a:pPr>
            <a:r>
              <a:rPr b="1" lang="en-IN" sz="26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Return Result: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head pointer of the merged sorted linked list.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13" name="Google Shape;213;p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14" name="Google Shape;214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>
            <p:ph type="title"/>
          </p:nvPr>
        </p:nvSpPr>
        <p:spPr>
          <a:xfrm>
            <a:off x="213033" y="1000531"/>
            <a:ext cx="10386300" cy="8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1" name="Google Shape;221;p7"/>
          <p:cNvSpPr txBox="1"/>
          <p:nvPr>
            <p:ph idx="1" type="body"/>
          </p:nvPr>
        </p:nvSpPr>
        <p:spPr>
          <a:xfrm>
            <a:off x="5943412" y="1430477"/>
            <a:ext cx="10557300" cy="13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Example: </a:t>
            </a:r>
            <a:endParaRPr/>
          </a:p>
          <a:p>
            <a:pPr indent="0" lvl="5" marL="2286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1: 2 → 5 → 8</a:t>
            </a:r>
            <a:endParaRPr/>
          </a:p>
          <a:p>
            <a:pPr indent="0" lvl="5" marL="2286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2: </a:t>
            </a:r>
            <a:r>
              <a:rPr lang="en-IN" sz="2400"/>
              <a:t>1 → 3 → 7 → 9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22" name="Google Shape;222;p7"/>
          <p:cNvGraphicFramePr/>
          <p:nvPr/>
        </p:nvGraphicFramePr>
        <p:xfrm>
          <a:off x="1071715" y="2616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{CBFAE04D-CC51-4F1B-BCA2-EEB42571CF27}</a:tableStyleId>
              </a:tblPr>
              <a:tblGrid>
                <a:gridCol w="1308325"/>
                <a:gridCol w="1277550"/>
                <a:gridCol w="1681325"/>
                <a:gridCol w="1740300"/>
                <a:gridCol w="1700975"/>
                <a:gridCol w="2231925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comparison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Node Added to Merged List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Merged List (</a:t>
                      </a:r>
                      <a:br>
                        <a:rPr b="1" lang="en-IN" sz="1800" u="none" cap="none" strike="noStrike"/>
                      </a:br>
                      <a:r>
                        <a:rPr b="1" lang="en-IN" sz="1800" u="none" cap="none" strike="noStrike"/>
                        <a:t>current state)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5 → 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3 → 7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2&gt;1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5 → 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7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2&lt;3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 → 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 → 7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5&gt;3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4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 → 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5&lt;7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8&gt;7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8&lt;9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 → 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Only one node left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5 → 7 → 8 → 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pSp>
        <p:nvGrpSpPr>
          <p:cNvPr id="223" name="Google Shape;223;p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24" name="Google Shape;22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 txBox="1"/>
          <p:nvPr>
            <p:ph type="title"/>
          </p:nvPr>
        </p:nvSpPr>
        <p:spPr>
          <a:xfrm>
            <a:off x="838200" y="698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121" y="1814939"/>
            <a:ext cx="7973538" cy="5010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33" name="Google Shape;23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162" y="1569985"/>
            <a:ext cx="8368198" cy="45598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41" name="Google Shape;241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 txBox="1"/>
          <p:nvPr>
            <p:ph type="title"/>
          </p:nvPr>
        </p:nvSpPr>
        <p:spPr>
          <a:xfrm>
            <a:off x="838200" y="161687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720646" y="3257533"/>
            <a:ext cx="8111700" cy="31563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1848466" y="3454178"/>
            <a:ext cx="77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Merged Sorted List: 1 2 3 4 5 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1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51" name="Google Shape;25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1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idx="1" type="body"/>
          </p:nvPr>
        </p:nvSpPr>
        <p:spPr>
          <a:xfrm>
            <a:off x="796412" y="1645974"/>
            <a:ext cx="10557300" cy="5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Example: </a:t>
            </a:r>
            <a:endParaRPr/>
          </a:p>
          <a:p>
            <a:pPr indent="0" lvl="4" marL="1828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1: 1 → 3 → 5 → 7  </a:t>
            </a:r>
            <a:endParaRPr/>
          </a:p>
          <a:p>
            <a:pPr indent="0" lvl="4" marL="1828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List 2: 2 → 4 → 6 → 8</a:t>
            </a:r>
            <a:endParaRPr/>
          </a:p>
        </p:txBody>
      </p:sp>
      <p:graphicFrame>
        <p:nvGraphicFramePr>
          <p:cNvPr id="258" name="Google Shape;258;p11"/>
          <p:cNvGraphicFramePr/>
          <p:nvPr/>
        </p:nvGraphicFramePr>
        <p:xfrm>
          <a:off x="967408" y="3443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{CBFAE04D-CC51-4F1B-BCA2-EEB42571CF27}</a:tableStyleId>
              </a:tblPr>
              <a:tblGrid>
                <a:gridCol w="1284175"/>
                <a:gridCol w="1584050"/>
                <a:gridCol w="1575725"/>
                <a:gridCol w="1658225"/>
                <a:gridCol w="1658225"/>
                <a:gridCol w="19964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List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comparison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Node Added to Merged List</a:t>
                      </a:r>
                      <a:endParaRPr b="1"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IN" sz="1800" u="none" cap="none" strike="noStrike"/>
                        <a:t>Merged List (</a:t>
                      </a:r>
                      <a:br>
                        <a:rPr b="1" lang="en-IN" sz="1800" u="none" cap="none" strike="noStrike"/>
                      </a:br>
                      <a:r>
                        <a:rPr b="1" lang="en-IN" sz="1800" u="none" cap="none" strike="noStrike"/>
                        <a:t>current state)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3 → 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 → 4 → 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1&lt;2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4 → 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3&gt;2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3 → 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 4 → 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3&lt;4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5&gt;4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5&lt;6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→ 5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--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Only 6 left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1 → 2 → 3 → 4 → 5 → 6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9" name="Google Shape;259;p11"/>
          <p:cNvSpPr txBox="1"/>
          <p:nvPr/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1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61" name="Google Shape;26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11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/>
          <p:nvPr>
            <p:ph type="title"/>
          </p:nvPr>
        </p:nvSpPr>
        <p:spPr>
          <a:xfrm>
            <a:off x="838200" y="97768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268" name="Google Shape;268;p12"/>
          <p:cNvGraphicFramePr/>
          <p:nvPr/>
        </p:nvGraphicFramePr>
        <p:xfrm>
          <a:off x="1043609" y="2844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{CBFAE04D-CC51-4F1B-BCA2-EEB42571CF27}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Merge Two Sorted Linked Lists (Iterative)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from both lists is compared and merged once.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Merge Two Sorted Linked Lists (Recursive)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O(m+n)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Recursive calls are made for each node until both lists are merged.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pSp>
        <p:nvGrpSpPr>
          <p:cNvPr id="269" name="Google Shape;269;p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70" name="Google Shape;27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838200" y="12173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>
            <a:off x="838200" y="267788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Merging two sorted linked lists efficiently combines both lists into a single sorted list using pointer comparison.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At each step, the smaller node is linked to the result list, ensuring order is maintained.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operation runs in O(m + n) time and is fundamental in algorithms like Merge Sort, demonstrating efficient linked list manipulation.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79" name="Google Shape;27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838200" y="12306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838200" y="269119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uses pointer manipulation to compare nodes from both lists and attaches the smaller one to the new list, continuing until all nodes are merged.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method avoids using extra space and maintains the sorted order efficiently.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 algorithm runs in linear time O(m + n), making it optimal for large datasets.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is widely used in merge sort, data merging applications, and linked list-based systems to maintain ordered data dynamically.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87" name="Google Shape;287;p1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88" name="Google Shape;28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1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838200" y="155029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838200" y="301079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Merge Two Sorted Lists — LeetCode #21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https://leetcode.com/problems/merge-two-sorted-lists/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Recursively or iteratively merge two sorted linked lists.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Directly matches the concept taught in this practical.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96" name="Google Shape;296;p1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97" name="Google Shape;29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1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838200" y="1363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304" name="Google Shape;304;p16"/>
          <p:cNvSpPr txBox="1"/>
          <p:nvPr>
            <p:ph idx="1" type="body"/>
          </p:nvPr>
        </p:nvSpPr>
        <p:spPr>
          <a:xfrm>
            <a:off x="838200" y="282436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Merge k Sorted Lists — LeetCode #23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https://leetcode.com/problems/merge-k-sorted-lists/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Merge multiple sorted lists using a priority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Extends the same concept to handle multiple linked lists efficiently.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05" name="Google Shape;305;p1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306" name="Google Shape;306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 txBox="1"/>
          <p:nvPr>
            <p:ph type="title"/>
          </p:nvPr>
        </p:nvSpPr>
        <p:spPr>
          <a:xfrm>
            <a:off x="838200" y="12306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838200" y="269119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3️⃣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Sort List — LeetCode #148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https://leetcode.com/problems/sort-list/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Apply merge sort algorithm on a linked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Builds upon merging logic to perform complete list sorting.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14" name="Google Shape;314;p1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315" name="Google Shape;31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1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type="ctrTitle"/>
          </p:nvPr>
        </p:nvSpPr>
        <p:spPr>
          <a:xfrm>
            <a:off x="738325" y="172054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22" name="Google Shape;322;p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323" name="Google Shape;32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