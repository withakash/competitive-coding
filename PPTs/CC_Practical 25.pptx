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JVAaRkmQH2MSZexLkZMGYiQB8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46150D-9D4C-4E0E-B740-15E6BDFE9DB2}">
  <a:tblStyle styleId="{DE46150D-9D4C-4E0E-B740-15E6BDFE9DB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  <a:tcStyle>
        <a:fill>
          <a:solidFill>
            <a:srgbClr val="FFFFFF"/>
          </a:solidFill>
        </a:fill>
      </a:tcStyle>
    </a:band2H>
    <a:band1V>
      <a:tcTxStyle b="off" i="off"/>
    </a:band1V>
    <a:band2V>
      <a:tcTxStyle b="off" i="off"/>
    </a:band2V>
    <a:lastCol>
      <a:tcTxStyle b="off" i="off"/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4a0c460f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g3a4a0c460f6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4a0c460f6_3_62"/>
          <p:cNvSpPr txBox="1"/>
          <p:nvPr>
            <p:ph idx="12" type="sldNum"/>
          </p:nvPr>
        </p:nvSpPr>
        <p:spPr>
          <a:xfrm>
            <a:off x="11095176" y="641476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2" type="body"/>
          </p:nvPr>
        </p:nvSpPr>
        <p:spPr>
          <a:xfrm>
            <a:off x="839787" y="2505075"/>
            <a:ext cx="5157789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3" type="body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23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3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" type="body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hyperlink" Target="https://leetcode.com/problems/binary-tree-level-order-traversal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g3a4a0c460f6_3_0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63" name="Google Shape;63;g3a4a0c460f6_3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64;g3a4a0c460f6_3_0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US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" name="Google Shape;65;g3a4a0c460f6_3_0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a4a0c460f6_3_0"/>
          <p:cNvSpPr txBox="1"/>
          <p:nvPr/>
        </p:nvSpPr>
        <p:spPr>
          <a:xfrm>
            <a:off x="457000" y="2494345"/>
            <a:ext cx="1093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Tree Traversal using Level Order Traversal</a:t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7" name="Google Shape;67;g3a4a0c460f6_3_0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US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Google Shape;72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{DE46150D-9D4C-4E0E-B740-15E6BDFE9DB2}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Google Shape;73;p2"/>
          <p:cNvGraphicFramePr/>
          <p:nvPr/>
        </p:nvGraphicFramePr>
        <p:xfrm>
          <a:off x="1461073" y="274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{DE46150D-9D4C-4E0E-B740-15E6BDFE9DB2}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Tree Traversal using Level Order Traversal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" name="Google Shape;74;p2"/>
          <p:cNvGraphicFramePr/>
          <p:nvPr/>
        </p:nvGraphicFramePr>
        <p:xfrm>
          <a:off x="1471064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{DE46150D-9D4C-4E0E-B740-15E6BDFE9DB2}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 the concept of Level Order Traversal in a binary tree.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Learn how to process tree nodes level by level using a queue.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 Level Order Traversal using Breadth-First Search (BFS) logic.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 the time and space complexity of the algorithm for different tree structures.</a:t>
                      </a:r>
                      <a:endParaRPr sz="1400" u="none" cap="none" strike="noStrike"/>
                    </a:p>
                  </a:txBody>
                  <a:tcPr marT="38100" marB="38100" marR="38100" marL="381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type="title"/>
          </p:nvPr>
        </p:nvSpPr>
        <p:spPr>
          <a:xfrm>
            <a:off x="838200" y="91110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/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838200" y="237160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Level Order Traversal of a binary tree means visiting all nodes level by level,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from top to bottom and left to right at each level.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The goal is to print the elements in this order.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838200" y="71135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/>
          </a:p>
        </p:txBody>
      </p:sp>
      <p:sp>
        <p:nvSpPr>
          <p:cNvPr id="86" name="Google Shape;86;p4"/>
          <p:cNvSpPr txBox="1"/>
          <p:nvPr>
            <p:ph idx="1" type="body"/>
          </p:nvPr>
        </p:nvSpPr>
        <p:spPr>
          <a:xfrm>
            <a:off x="838200" y="2036917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-266700" lvl="1" marL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Level Order Traversal is based on Breadth-First Search (BFS).</a:t>
            </a:r>
            <a:endParaRPr/>
          </a:p>
          <a:p>
            <a:pPr indent="-266700" lvl="1" marL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We use a queue to store nodes of each level.</a:t>
            </a:r>
            <a:endParaRPr/>
          </a:p>
          <a:p>
            <a:pPr indent="-266700" lvl="1" marL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Nodes are visited in the order they appear in the queue.</a:t>
            </a:r>
            <a:endParaRPr/>
          </a:p>
          <a:p>
            <a:pPr indent="-266700" lvl="1" marL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Commonly used in shortest path problems and hierarchical data processing.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type="title"/>
          </p:nvPr>
        </p:nvSpPr>
        <p:spPr>
          <a:xfrm>
            <a:off x="838200" y="871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/>
          </a:p>
        </p:txBody>
      </p:sp>
      <p:sp>
        <p:nvSpPr>
          <p:cNvPr id="92" name="Google Shape;92;p5"/>
          <p:cNvSpPr txBox="1"/>
          <p:nvPr>
            <p:ph idx="1" type="body"/>
          </p:nvPr>
        </p:nvSpPr>
        <p:spPr>
          <a:xfrm>
            <a:off x="838200" y="233165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Steps: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Create an empty queue and enqueue the root node.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While the queue is not empty:</a:t>
            </a:r>
            <a:endParaRPr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○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Dequeue a node, print its data.</a:t>
            </a:r>
            <a:endParaRPr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Enqueue its left and right child (if present).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Continue until all nodes are processed.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838200" y="46450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/>
          </a:p>
        </p:txBody>
      </p:sp>
      <p:pic>
        <p:nvPicPr>
          <p:cNvPr descr="Google Shape;122;p7" id="98" name="Google Shape;9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0674" y="1492094"/>
            <a:ext cx="5068401" cy="29677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 txBox="1"/>
          <p:nvPr/>
        </p:nvSpPr>
        <p:spPr>
          <a:xfrm>
            <a:off x="1658175" y="4695273"/>
            <a:ext cx="9795600" cy="20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rPr>
              <a:t>Output: [[5], [12, 13], [7, 14, 2], [17, 23, 27, 3, 8, 11]]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rPr>
              <a:t>Explanation: Start with the root - [5]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rPr>
              <a:t>Level 1: [12, 13]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rPr>
              <a:t>Level 2: [7, 14, 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400"/>
              <a:buFont typeface="Cambria"/>
              <a:buNone/>
            </a:pPr>
            <a:r>
              <a:rPr b="0" i="0" lang="en-US" sz="2400" u="none" cap="none" strike="noStrike">
                <a:solidFill>
                  <a:srgbClr val="273239"/>
                </a:solidFill>
                <a:latin typeface="Cambria"/>
                <a:ea typeface="Cambria"/>
                <a:cs typeface="Cambria"/>
                <a:sym typeface="Cambria"/>
              </a:rPr>
              <a:t>Level 3: [17, 23, 27, 3, 8, 11]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 txBox="1"/>
          <p:nvPr>
            <p:ph type="title"/>
          </p:nvPr>
        </p:nvSpPr>
        <p:spPr>
          <a:xfrm>
            <a:off x="838200" y="871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/>
          </a:p>
        </p:txBody>
      </p:sp>
      <p:sp>
        <p:nvSpPr>
          <p:cNvPr id="105" name="Google Shape;105;p7"/>
          <p:cNvSpPr txBox="1"/>
          <p:nvPr/>
        </p:nvSpPr>
        <p:spPr>
          <a:xfrm>
            <a:off x="884356" y="2489386"/>
            <a:ext cx="9252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import java.util.*;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class Node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int data;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Node left, right;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Node(int data)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this.data = data;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left = right = 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/>
        </p:nvSpPr>
        <p:spPr>
          <a:xfrm>
            <a:off x="527442" y="1039200"/>
            <a:ext cx="81963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public class LevelOrderTraversal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// Function to perform Level Order Traversal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public static void levelOrder(Node root)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if (root == null)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return;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Queue&lt;Node&gt; queue = new LinkedList&lt;&gt;();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queue.add(root);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while (!queue.isEmpty())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Node current = queue.poll();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System.out.print(current.data + " 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if (current.left != null)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    queue.add(current.left);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if (current.right != null)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        queue.add(current.right);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 txBox="1"/>
          <p:nvPr/>
        </p:nvSpPr>
        <p:spPr>
          <a:xfrm>
            <a:off x="854950" y="1438975"/>
            <a:ext cx="64308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public static void main(String[] args)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// Constructing a sample binary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Node root = new Node(1);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root.left = new Node(2);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root.right = new Node(3);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root.left.left = new Node(4);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root.left.right = new Node(5);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root.right.left = new Node(6);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root.right.right = new Node(7);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System.out.print("Level Order Traversal: 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levelOrder(root);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838200" y="117743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graphicFrame>
        <p:nvGraphicFramePr>
          <p:cNvPr id="121" name="Google Shape;121;p10"/>
          <p:cNvGraphicFramePr/>
          <p:nvPr/>
        </p:nvGraphicFramePr>
        <p:xfrm>
          <a:off x="1114574" y="36584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{DE46150D-9D4C-4E0E-B740-15E6BDFE9DB2}</a:tableStyleId>
              </a:tblPr>
              <a:tblGrid>
                <a:gridCol w="2609400"/>
                <a:gridCol w="2408675"/>
                <a:gridCol w="2509025"/>
                <a:gridCol w="2368525"/>
              </a:tblGrid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Traversal Type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Approach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Level Order (BFS)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lang="en-US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Queue-based BFS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/>
          <p:nvPr>
            <p:ph type="title"/>
          </p:nvPr>
        </p:nvSpPr>
        <p:spPr>
          <a:xfrm>
            <a:off x="838200" y="101763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27" name="Google Shape;127;p11"/>
          <p:cNvSpPr txBox="1"/>
          <p:nvPr>
            <p:ph idx="1" type="body"/>
          </p:nvPr>
        </p:nvSpPr>
        <p:spPr>
          <a:xfrm>
            <a:off x="1072161" y="2636209"/>
            <a:ext cx="10515600" cy="3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-381000" lvl="0" marL="45720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Level Order Traversal visits all nodes level by level.</a:t>
            </a:r>
            <a:endParaRPr/>
          </a:p>
          <a:p>
            <a:pPr indent="-381000" lvl="0" marL="45720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It uses a queue to maintain the processing order (BFS).</a:t>
            </a:r>
            <a:endParaRPr/>
          </a:p>
          <a:p>
            <a:pPr indent="-381000" lvl="0" marL="45720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Ensures complete traversal of all levels before moving deeper.</a:t>
            </a:r>
            <a:endParaRPr/>
          </a:p>
          <a:p>
            <a:pPr indent="-381000" lvl="0" marL="45720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Commonly used in shortest path, serialization, and organizational hierarchy problems.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"/>
          <p:cNvSpPr txBox="1"/>
          <p:nvPr>
            <p:ph type="title"/>
          </p:nvPr>
        </p:nvSpPr>
        <p:spPr>
          <a:xfrm>
            <a:off x="838200" y="85783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33" name="Google Shape;133;p12"/>
          <p:cNvSpPr txBox="1"/>
          <p:nvPr>
            <p:ph idx="1" type="body"/>
          </p:nvPr>
        </p:nvSpPr>
        <p:spPr>
          <a:xfrm>
            <a:off x="838200" y="207267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1. Binary Tree Level Order Traversal — LeetCode #102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🔗 </a:t>
            </a:r>
            <a:r>
              <a:rPr lang="en-US" u="sng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https://leetcode.com/problems/binary-tree-level-order-traversal/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Perform a level-wise traversal of a binary tree using BFS and return a list of nodes at each level.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Builds understanding of queue-based traversal.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Helps in mastering breadth-first search concepts used across tree and graph problems.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/>
          <p:nvPr>
            <p:ph idx="4294967295" type="ctrTitle"/>
          </p:nvPr>
        </p:nvSpPr>
        <p:spPr>
          <a:xfrm>
            <a:off x="1524000" y="202682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Cambria"/>
              <a:buNone/>
            </a:pPr>
            <a:r>
              <a:rPr b="0" i="0" lang="en-US" sz="7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