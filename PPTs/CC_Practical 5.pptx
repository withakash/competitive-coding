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dLFfAHmEVcdTXQRxk+8JxbkzR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1E89A5-3E9D-4149-9552-D1A0AA87B8AC}">
  <a:tblStyle styleId="{5A1E89A5-3E9D-4149-9552-D1A0AA87B8A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2214CF97-9CA6-49C0-BA7B-6B45E4735BD8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000000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000000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49744d107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a49744d107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de4ba015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39de4ba015e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de4ba015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9de4ba015e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de4ba015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g39de4ba015e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9de4ba015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g39de4ba015e_0_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leetcode.com/problems/evaluate-reverse-polish-notation/" TargetMode="External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leetcode.com/problems/basic-calculator-ii/" TargetMode="External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leetcode.com/problems/basic-calculator/Concept" TargetMode="External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g3a49744d107_0_86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85" name="Google Shape;85;g3a49744d107_0_8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g3a49744d107_0_86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" name="Google Shape;87;g3a49744d107_0_86"/>
          <p:cNvSpPr/>
          <p:nvPr/>
        </p:nvSpPr>
        <p:spPr>
          <a:xfrm>
            <a:off x="5" y="1955845"/>
            <a:ext cx="12184856" cy="1938814"/>
          </a:xfrm>
          <a:custGeom>
            <a:rect b="b" l="l" r="r" t="t"/>
            <a:pathLst>
              <a:path extrusionOk="0" h="2628900" w="75565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r>
              <a:t/>
            </a:r>
            <a:endParaRPr b="0" i="0" sz="8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a49744d107_0_86"/>
          <p:cNvSpPr txBox="1"/>
          <p:nvPr/>
        </p:nvSpPr>
        <p:spPr>
          <a:xfrm>
            <a:off x="457000" y="2255588"/>
            <a:ext cx="109320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Cambria"/>
              <a:buNone/>
            </a:pPr>
            <a:r>
              <a:rPr b="1" i="0" lang="en-IN" sz="41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Infix to Postfix Conversion Using Shunting Yard Algorithm</a:t>
            </a:r>
            <a:endParaRPr b="1" i="0" sz="48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Arial"/>
              <a:buNone/>
            </a:pPr>
            <a:r>
              <a:t/>
            </a:r>
            <a:endParaRPr b="1" i="0" sz="49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g3a49744d107_0_86"/>
          <p:cNvSpPr/>
          <p:nvPr/>
        </p:nvSpPr>
        <p:spPr>
          <a:xfrm>
            <a:off x="457000" y="5601399"/>
            <a:ext cx="5110500" cy="11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I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Prakash Kumar Pandey</a:t>
            </a:r>
            <a:br>
              <a:rPr b="1" i="0" lang="en-IN" sz="10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Intelligence &amp; Data Science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" name="Google Shape;94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{5A1E89A5-3E9D-4149-9552-D1A0AA87B8AC}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b="1" i="0" lang="en-IN" sz="2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5" name="Google Shape;95;p2"/>
          <p:cNvGraphicFramePr/>
          <p:nvPr/>
        </p:nvGraphicFramePr>
        <p:xfrm>
          <a:off x="1461074" y="25108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{5A1E89A5-3E9D-4149-9552-D1A0AA87B8AC}</a:tableStyleId>
              </a:tblPr>
              <a:tblGrid>
                <a:gridCol w="2865125"/>
                <a:gridCol w="6194325"/>
              </a:tblGrid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Infix to Postfix Conversion Using Shunting Yard Algorithm</a:t>
                      </a:r>
                      <a:endParaRPr b="1" sz="1800" u="none" cap="none" strike="noStrike">
                        <a:solidFill>
                          <a:srgbClr val="0070C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6" name="Google Shape;96;p2"/>
          <p:cNvGraphicFramePr/>
          <p:nvPr/>
        </p:nvGraphicFramePr>
        <p:xfrm>
          <a:off x="1471065" y="35952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{5A1E89A5-3E9D-4149-9552-D1A0AA87B8AC}</a:tableStyleId>
              </a:tblPr>
              <a:tblGrid>
                <a:gridCol w="9039450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Understand infix, prefix, and postfix notations and their role in expression evaluation.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Implement the Shunting Yard Algorithm to convert infix to postfix using a stack for operators and a queue for output.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Handle operator precedence, associativity, and parentheses correctly.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Apply this to real-world scenarios like compiler design and competitive problems.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97" name="Google Shape;97;p2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98" name="Google Shape;98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" name="Google Shape;99;p2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>
            <p:ph type="title"/>
          </p:nvPr>
        </p:nvSpPr>
        <p:spPr>
          <a:xfrm>
            <a:off x="838200" y="85783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IN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05" name="Google Shape;105;p3"/>
          <p:cNvSpPr txBox="1"/>
          <p:nvPr>
            <p:ph idx="1" type="body"/>
          </p:nvPr>
        </p:nvSpPr>
        <p:spPr>
          <a:xfrm>
            <a:off x="838200" y="2318336"/>
            <a:ext cx="10515600" cy="19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Write a Program for an infix expression, and convert it to postfix notation. Use a queue to implement the Shunting Yard Algorithm for expression conversion.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Given an infix expression (e.g., "A + B * C"), convert it to postfix (Reverse Polish Notation, e.g., "A B C * +") for easier evaluation without parentheses.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106" name="Google Shape;106;p3"/>
          <p:cNvGraphicFramePr/>
          <p:nvPr/>
        </p:nvGraphicFramePr>
        <p:xfrm>
          <a:off x="1067943" y="4317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{2214CF97-9CA6-49C0-BA7B-6B45E4735BD8}</a:tableStyleId>
              </a:tblPr>
              <a:tblGrid>
                <a:gridCol w="1822050"/>
                <a:gridCol w="3024150"/>
                <a:gridCol w="5209900"/>
              </a:tblGrid>
              <a:tr h="651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Input (Infix)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Output (Postfix)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Explanation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</a:tr>
              <a:tr h="438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 + B * C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 B C * +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* has higher precedence than +.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</a:tr>
              <a:tr h="651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(A + B) * C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 B + C *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Parentheses group A + B first.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</a:tr>
              <a:tr h="438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 ^ B ^ C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 B C ^ ^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^ is right-associative.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pSp>
        <p:nvGrpSpPr>
          <p:cNvPr id="107" name="Google Shape;107;p3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08" name="Google Shape;108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" name="Google Shape;109;p3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>
            <p:ph type="title"/>
          </p:nvPr>
        </p:nvSpPr>
        <p:spPr>
          <a:xfrm>
            <a:off x="585175" y="10309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Key Concepts &amp; Prerequisites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585175" y="2542300"/>
            <a:ext cx="108342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Infix Expression: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Operators appear between operands.</a:t>
            </a:r>
            <a:b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Example: A + B * C</a:t>
            </a:r>
            <a:b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Problem: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Harder for computers to evaluate due to precedence rules.</a:t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Postfix Expression (Reverse Polish Notation):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Operators come </a:t>
            </a:r>
            <a:r>
              <a:rPr b="0" i="1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after</a:t>
            </a: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operands.</a:t>
            </a:r>
            <a:b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Example: A B C * +</a:t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Advantage:</a:t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19100" lvl="1" marL="952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No need for parentheses.</a:t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419100" lvl="1" marL="952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Evaluation becomes simpler using a stack.</a:t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16" name="Google Shape;116;p4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17" name="Google Shape;117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" name="Google Shape;118;p4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de4ba015e_0_4"/>
          <p:cNvSpPr txBox="1"/>
          <p:nvPr>
            <p:ph type="title"/>
          </p:nvPr>
        </p:nvSpPr>
        <p:spPr>
          <a:xfrm>
            <a:off x="838200" y="101763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Key Concepts &amp; Prerequisites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4" name="Google Shape;124;g39de4ba015e_0_4"/>
          <p:cNvSpPr txBox="1"/>
          <p:nvPr/>
        </p:nvSpPr>
        <p:spPr>
          <a:xfrm>
            <a:off x="1062750" y="2457584"/>
            <a:ext cx="9397800" cy="40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tkinson Hyperlegible"/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Shunting Yard Algorithm: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Uses: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1" marL="952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Stack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→ For operators and parentheses.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1" marL="952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Queue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→ For the final output (postfix form).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tkinson Hyperlegible"/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Prerequisites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: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1" marL="952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Basic stack/queue operations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1" marL="952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Understanding of operator precedence (e.g., * &gt; +) and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1" marL="952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associativity (left/right).</a:t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25" name="Google Shape;125;g39de4ba015e_0_4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26" name="Google Shape;126;g39de4ba015e_0_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Google Shape;127;g39de4ba015e_0_4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/>
          <p:nvPr>
            <p:ph type="title"/>
          </p:nvPr>
        </p:nvSpPr>
        <p:spPr>
          <a:xfrm>
            <a:off x="838200" y="87115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1062750" y="2311102"/>
            <a:ext cx="9397800" cy="3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High-Level Approach</a:t>
            </a:r>
            <a:b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Scan input left-to-right.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Output operands immediately to queue.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Push '(' to stack; Pop until matching ')' for parens.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For operators: Pop lower/equal precedence from stack to queue, then push current.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At end, pop all stack to queue.</a:t>
            </a:r>
            <a:endParaRPr b="1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34" name="Google Shape;134;p5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35" name="Google Shape;135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" name="Google Shape;136;p5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de4ba015e_0_12"/>
          <p:cNvSpPr txBox="1"/>
          <p:nvPr>
            <p:ph type="title"/>
          </p:nvPr>
        </p:nvSpPr>
        <p:spPr>
          <a:xfrm>
            <a:off x="838200" y="97768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2" name="Google Shape;142;g39de4ba015e_0_12"/>
          <p:cNvSpPr txBox="1"/>
          <p:nvPr/>
        </p:nvSpPr>
        <p:spPr>
          <a:xfrm>
            <a:off x="1062750" y="2417634"/>
            <a:ext cx="9397800" cy="46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Detailed Algorithm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Initialize an empty stack (for operators) and an empty queue (for output).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Read tokens (operands/operators/parentheses) from left to right.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If token is operand → add to queue (output).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If token is operator (op1) →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800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While there is an operator (op2) at the top of the stack with greater or equal precedence, pop op2 and add to queue.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800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Push op1 onto the stack.</a:t>
            </a:r>
            <a:endParaRPr b="1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43" name="Google Shape;143;g39de4ba015e_0_12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44" name="Google Shape;144;g39de4ba015e_0_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" name="Google Shape;145;g39de4ba015e_0_12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de4ba015e_0_18"/>
          <p:cNvSpPr txBox="1"/>
          <p:nvPr>
            <p:ph type="title"/>
          </p:nvPr>
        </p:nvSpPr>
        <p:spPr>
          <a:xfrm>
            <a:off x="838200" y="87115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1" name="Google Shape;151;g39de4ba015e_0_18"/>
          <p:cNvSpPr txBox="1"/>
          <p:nvPr/>
        </p:nvSpPr>
        <p:spPr>
          <a:xfrm>
            <a:off x="1062750" y="2311102"/>
            <a:ext cx="9397800" cy="46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Detailed Algorithm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If token is ‘(’ → push to stack.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If token is ‘)’ → pop operators from stack to queue until ‘(’ is found; discard both parentheses.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After reading all tokens → pop all remaining operators from stack to queue.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Operator Precedence:</a:t>
            </a:r>
            <a:b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^ (highest), *, /, then +, -</a:t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52" name="Google Shape;152;g39de4ba015e_0_18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53" name="Google Shape;153;g39de4ba015e_0_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g39de4ba015e_0_18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/>
          <p:nvPr>
            <p:ph type="title"/>
          </p:nvPr>
        </p:nvSpPr>
        <p:spPr>
          <a:xfrm>
            <a:off x="838200" y="76462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160" name="Google Shape;160;p6"/>
          <p:cNvGraphicFramePr/>
          <p:nvPr/>
        </p:nvGraphicFramePr>
        <p:xfrm>
          <a:off x="626405" y="21089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{5A1E89A5-3E9D-4149-9552-D1A0AA87B8AC}</a:tableStyleId>
              </a:tblPr>
              <a:tblGrid>
                <a:gridCol w="1691200"/>
                <a:gridCol w="1975050"/>
                <a:gridCol w="2646975"/>
                <a:gridCol w="3457550"/>
              </a:tblGrid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Step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Input Token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Stack (Operators)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Queue (Postfix Output)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+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+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+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 B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4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*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+ *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 B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+ *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 B C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6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End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 B C * +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1" name="Google Shape;161;p6"/>
          <p:cNvSpPr txBox="1"/>
          <p:nvPr/>
        </p:nvSpPr>
        <p:spPr>
          <a:xfrm>
            <a:off x="1173183" y="5722688"/>
            <a:ext cx="4575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Final Output: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🟩 Postfix → </a:t>
            </a: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 B C * +</a:t>
            </a:r>
            <a:endParaRPr b="1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62" name="Google Shape;162;p6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63" name="Google Shape;163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" name="Google Shape;164;p6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 txBox="1"/>
          <p:nvPr>
            <p:ph type="title"/>
          </p:nvPr>
        </p:nvSpPr>
        <p:spPr>
          <a:xfrm>
            <a:off x="838200" y="95105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70" name="Google Shape;17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5541" y="2276614"/>
            <a:ext cx="8379298" cy="4471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1" name="Google Shape;171;p8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72" name="Google Shape;172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8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9575" y="1664740"/>
            <a:ext cx="10812385" cy="47536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9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80" name="Google Shape;180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" name="Google Shape;181;p9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6232" y="2484844"/>
            <a:ext cx="9340762" cy="17130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" name="Google Shape;187;p10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88" name="Google Shape;188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" name="Google Shape;189;p10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"/>
          <p:cNvSpPr txBox="1"/>
          <p:nvPr>
            <p:ph type="title"/>
          </p:nvPr>
        </p:nvSpPr>
        <p:spPr>
          <a:xfrm>
            <a:off x="838200" y="131059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Output :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1720646" y="2951254"/>
            <a:ext cx="8111700" cy="3156300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1848466" y="3147899"/>
            <a:ext cx="7747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Infix: a+b*(c^d-e)^(f+g*h)-i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Postfix: abcd^e-fgh*+^*+i-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7" name="Google Shape;197;p7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198" name="Google Shape;198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" name="Google Shape;199;p7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"/>
          <p:cNvSpPr txBox="1"/>
          <p:nvPr>
            <p:ph type="title"/>
          </p:nvPr>
        </p:nvSpPr>
        <p:spPr>
          <a:xfrm>
            <a:off x="838200" y="153697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Complexity Analysis</a:t>
            </a:r>
            <a:endParaRPr/>
          </a:p>
        </p:txBody>
      </p:sp>
      <p:sp>
        <p:nvSpPr>
          <p:cNvPr id="205" name="Google Shape;205;p11"/>
          <p:cNvSpPr txBox="1"/>
          <p:nvPr/>
        </p:nvSpPr>
        <p:spPr>
          <a:xfrm>
            <a:off x="1384955" y="3227661"/>
            <a:ext cx="7704000" cy="19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tkinson Hyperlegible"/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Time Complexity: 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	</a:t>
            </a:r>
            <a:r>
              <a:rPr b="0" i="0" lang="en-IN" sz="2400" u="none" cap="none" strike="noStrike">
                <a:solidFill>
                  <a:srgbClr val="0038C4"/>
                </a:solidFill>
                <a:latin typeface="Cambria"/>
                <a:ea typeface="Cambria"/>
                <a:cs typeface="Cambria"/>
                <a:sym typeface="Cambria"/>
              </a:rPr>
              <a:t>O(n) 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	— each token processed once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tkinson Hyperlegible"/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Space Complexity: 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	</a:t>
            </a:r>
            <a:r>
              <a:rPr b="0" i="0" lang="en-IN" sz="2400" u="none" cap="none" strike="noStrike">
                <a:solidFill>
                  <a:srgbClr val="0038C4"/>
                </a:solidFill>
                <a:latin typeface="Cambria"/>
                <a:ea typeface="Cambria"/>
                <a:cs typeface="Cambria"/>
                <a:sym typeface="Cambria"/>
              </a:rPr>
              <a:t>O(n)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	— for stack + queue</a:t>
            </a:r>
            <a:endParaRPr b="0" i="0" sz="2400" u="none" cap="none" strike="noStrike">
              <a:solidFill>
                <a:srgbClr val="0038C4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206" name="Google Shape;206;p11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207" name="Google Shape;207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" name="Google Shape;208;p11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 txBox="1"/>
          <p:nvPr>
            <p:ph type="title"/>
          </p:nvPr>
        </p:nvSpPr>
        <p:spPr>
          <a:xfrm>
            <a:off x="838200" y="128396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Variations &amp; Competitive Tips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4" name="Google Shape;214;p12"/>
          <p:cNvSpPr txBox="1"/>
          <p:nvPr/>
        </p:nvSpPr>
        <p:spPr>
          <a:xfrm>
            <a:off x="1013550" y="3019214"/>
            <a:ext cx="94518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Easier Variation: No associativity (assume all left).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Harder: Add unary operators (e.g., -A); Handle variables/functions</a:t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Competitive Angle: LeetCode #159: Expression Add Operators; Codeforces problems on parsers.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Optimization: Use array for stack (faster in C++); Extend to full evaluator.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5" name="Google Shape;215;p12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216" name="Google Shape;216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7" name="Google Shape;217;p12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de4ba015e_0_52"/>
          <p:cNvSpPr txBox="1"/>
          <p:nvPr>
            <p:ph type="title"/>
          </p:nvPr>
        </p:nvSpPr>
        <p:spPr>
          <a:xfrm>
            <a:off x="838200" y="95105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Exercises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3" name="Google Shape;223;g39de4ba015e_0_52"/>
          <p:cNvSpPr txBox="1"/>
          <p:nvPr/>
        </p:nvSpPr>
        <p:spPr>
          <a:xfrm>
            <a:off x="945396" y="2466020"/>
            <a:ext cx="98112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1️⃣ </a:t>
            </a: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Evaluate Reverse Polish Notation — LeetCode #150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b="0" i="0" lang="en-IN" sz="2400" u="sng" cap="none" strike="noStrike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https://leetcode.com/problems/evaluate-reverse-polish-notation/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Concept: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Postfix (RPN) evaluation using stack operations.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Why Practice: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It directly applies the postfix conversion and evaluation logic you learned.</a:t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224" name="Google Shape;224;g39de4ba015e_0_52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225" name="Google Shape;225;g39de4ba015e_0_5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" name="Google Shape;226;g39de4ba015e_0_52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"/>
          <p:cNvSpPr txBox="1"/>
          <p:nvPr>
            <p:ph type="title"/>
          </p:nvPr>
        </p:nvSpPr>
        <p:spPr>
          <a:xfrm>
            <a:off x="838200" y="117743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Exercises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2" name="Google Shape;232;p13"/>
          <p:cNvSpPr txBox="1"/>
          <p:nvPr/>
        </p:nvSpPr>
        <p:spPr>
          <a:xfrm>
            <a:off x="945396" y="2692401"/>
            <a:ext cx="98112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2️⃣ </a:t>
            </a: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Basic Calculator II — LeetCode #227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b="0" i="0" lang="en-IN" sz="2400" u="sng" cap="none" strike="noStrike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 https://leetcode.com/problems/basic-calculator-ii/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Concept: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Stack-based infix expression evaluation with </a:t>
            </a:r>
            <a:r>
              <a:rPr b="0" i="0" lang="en-IN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+ - * /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Why Practice: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Reinforces understanding of operator precedence and stack evaluation.</a:t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233" name="Google Shape;233;p13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234" name="Google Shape;234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" name="Google Shape;235;p13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"/>
          <p:cNvSpPr txBox="1"/>
          <p:nvPr>
            <p:ph type="title"/>
          </p:nvPr>
        </p:nvSpPr>
        <p:spPr>
          <a:xfrm>
            <a:off x="838200" y="135054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Exercises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1" name="Google Shape;241;p14"/>
          <p:cNvSpPr txBox="1"/>
          <p:nvPr/>
        </p:nvSpPr>
        <p:spPr>
          <a:xfrm>
            <a:off x="945396" y="2865515"/>
            <a:ext cx="98112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3️⃣ Basic Calculator — LeetCode #224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b="0" i="0" lang="en-IN" sz="2400" u="sng" cap="none" strike="noStrike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https://leetcode.com/problems/basic-calculator/Concept: Evaluate 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arithmetic expressions with parentheses.Why Practice: Strengthens your ability to parse infix expressions with nested operations.</a:t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242" name="Google Shape;242;p14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243" name="Google Shape;243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14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8"/>
          <p:cNvSpPr txBox="1"/>
          <p:nvPr>
            <p:ph type="ctrTitle"/>
          </p:nvPr>
        </p:nvSpPr>
        <p:spPr>
          <a:xfrm>
            <a:off x="1097875" y="1906972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b="1" lang="en-IN" sz="7000"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1" sz="7000"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250" name="Google Shape;250;p18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251" name="Google Shape;251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p18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2025-10-28T09:21:51Z</dcterms:created>
  <dc:creator>Prakash K. P.</dc:creator>
</cp:coreProperties>
</file>