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embeddedFontLst>
    <p:embeddedFont>
      <p:font typeface="Helvetica Neue"/>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ih5HB9sj1sW0LAY1VLNNMZpNqW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5BCC46-9C31-47CF-BF64-5264FEDDBB5F}">
  <a:tblStyle styleId="{D45BCC46-9C31-47CF-BF64-5264FEDDBB5F}"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CDD4EA"/>
          </a:solidFill>
        </a:fill>
      </a:tcStyle>
    </a:wholeTbl>
    <a:band1H>
      <a:tcTxStyle b="off" i="off"/>
    </a:band1H>
    <a:band2H>
      <a:tcTxStyle b="off" i="off"/>
      <a:tcStyle>
        <a:fill>
          <a:solidFill>
            <a:srgbClr val="E8EBF5"/>
          </a:solidFill>
        </a:fill>
      </a:tcStyle>
    </a:band2H>
    <a:band1V>
      <a:tcTxStyle b="off" i="off"/>
    </a:band1V>
    <a:band2V>
      <a:tcTxStyle b="off" i="off"/>
    </a:band2V>
    <a:lastCol>
      <a:tcTxStyle b="off" i="off"/>
    </a:lastCol>
    <a:firstCol>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firstCol>
    <a:lastRow>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381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lastRow>
    <a:seCell>
      <a:tcTxStyle b="off" i="off"/>
    </a:seCell>
    <a:swCell>
      <a:tcTxStyle b="off" i="off"/>
    </a:swCell>
    <a:firstRow>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381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regular.fntdata"/><Relationship Id="rId25" Type="http://schemas.openxmlformats.org/officeDocument/2006/relationships/slide" Target="slides/slide20.xml"/><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a4a0b1d4c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g3a4a0b1d4c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 name="Google Shape;6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10" name="Shape 10"/>
        <p:cNvGrpSpPr/>
        <p:nvPr/>
      </p:nvGrpSpPr>
      <p:grpSpPr>
        <a:xfrm>
          <a:off x="0" y="0"/>
          <a:ext cx="0" cy="0"/>
          <a:chOff x="0" y="0"/>
          <a:chExt cx="0" cy="0"/>
        </a:xfrm>
      </p:grpSpPr>
      <p:sp>
        <p:nvSpPr>
          <p:cNvPr id="11" name="Google Shape;11;p28"/>
          <p:cNvSpPr txBox="1"/>
          <p:nvPr>
            <p:ph idx="12" type="sldNum"/>
          </p:nvPr>
        </p:nvSpPr>
        <p:spPr>
          <a:xfrm>
            <a:off x="11095176" y="6414760"/>
            <a:ext cx="258624" cy="248305"/>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2" name="Shape 12"/>
        <p:cNvGrpSpPr/>
        <p:nvPr/>
      </p:nvGrpSpPr>
      <p:grpSpPr>
        <a:xfrm>
          <a:off x="0" y="0"/>
          <a:ext cx="0" cy="0"/>
          <a:chOff x="0" y="0"/>
          <a:chExt cx="0" cy="0"/>
        </a:xfrm>
      </p:grpSpPr>
      <p:sp>
        <p:nvSpPr>
          <p:cNvPr id="13" name="Google Shape;13;p22"/>
          <p:cNvSpPr txBox="1"/>
          <p:nvPr>
            <p:ph type="title"/>
          </p:nvPr>
        </p:nvSpPr>
        <p:spPr>
          <a:xfrm>
            <a:off x="1524000" y="1122362"/>
            <a:ext cx="9144000" cy="238760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4" name="Google Shape;14;p22"/>
          <p:cNvSpPr txBox="1"/>
          <p:nvPr>
            <p:ph idx="1" type="body"/>
          </p:nvPr>
        </p:nvSpPr>
        <p:spPr>
          <a:xfrm>
            <a:off x="1524000" y="3602037"/>
            <a:ext cx="9144000" cy="1655763"/>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228600" lvl="1" marL="914400" algn="ctr">
              <a:lnSpc>
                <a:spcPct val="90000"/>
              </a:lnSpc>
              <a:spcBef>
                <a:spcPts val="1000"/>
              </a:spcBef>
              <a:spcAft>
                <a:spcPts val="0"/>
              </a:spcAft>
              <a:buClr>
                <a:srgbClr val="000000"/>
              </a:buClr>
              <a:buSzPts val="2400"/>
              <a:buFont typeface="Calibri"/>
              <a:buNone/>
              <a:defRPr sz="2400"/>
            </a:lvl2pPr>
            <a:lvl3pPr indent="-228600" lvl="2" marL="1371600" algn="ctr">
              <a:lnSpc>
                <a:spcPct val="90000"/>
              </a:lnSpc>
              <a:spcBef>
                <a:spcPts val="1000"/>
              </a:spcBef>
              <a:spcAft>
                <a:spcPts val="0"/>
              </a:spcAft>
              <a:buClr>
                <a:srgbClr val="000000"/>
              </a:buClr>
              <a:buSzPts val="2400"/>
              <a:buFont typeface="Calibri"/>
              <a:buNone/>
              <a:defRPr sz="2400"/>
            </a:lvl3pPr>
            <a:lvl4pPr indent="-228600" lvl="3" marL="1828800" algn="ctr">
              <a:lnSpc>
                <a:spcPct val="90000"/>
              </a:lnSpc>
              <a:spcBef>
                <a:spcPts val="1000"/>
              </a:spcBef>
              <a:spcAft>
                <a:spcPts val="0"/>
              </a:spcAft>
              <a:buClr>
                <a:srgbClr val="000000"/>
              </a:buClr>
              <a:buSzPts val="2400"/>
              <a:buFont typeface="Calibri"/>
              <a:buNone/>
              <a:defRPr sz="2400"/>
            </a:lvl4pPr>
            <a:lvl5pPr indent="-228600" lvl="4" marL="2286000" algn="ctr">
              <a:lnSpc>
                <a:spcPct val="90000"/>
              </a:lnSpc>
              <a:spcBef>
                <a:spcPts val="1000"/>
              </a:spcBef>
              <a:spcAft>
                <a:spcPts val="0"/>
              </a:spcAft>
              <a:buClr>
                <a:srgbClr val="000000"/>
              </a:buClr>
              <a:buSzPts val="2400"/>
              <a:buFont typeface="Calibri"/>
              <a:buNone/>
              <a:defRPr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5" name="Google Shape;15;p22"/>
          <p:cNvSpPr txBox="1"/>
          <p:nvPr>
            <p:ph idx="12" type="sldNum"/>
          </p:nvPr>
        </p:nvSpPr>
        <p:spPr>
          <a:xfrm>
            <a:off x="11095176" y="6414760"/>
            <a:ext cx="258624" cy="248305"/>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16" name="Shape 16"/>
        <p:cNvGrpSpPr/>
        <p:nvPr/>
      </p:nvGrpSpPr>
      <p:grpSpPr>
        <a:xfrm>
          <a:off x="0" y="0"/>
          <a:ext cx="0" cy="0"/>
          <a:chOff x="0" y="0"/>
          <a:chExt cx="0" cy="0"/>
        </a:xfrm>
      </p:grpSpPr>
      <p:sp>
        <p:nvSpPr>
          <p:cNvPr id="17" name="Google Shape;17;p2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8" name="Google Shape;18;p23"/>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9" name="Google Shape;19;p23"/>
          <p:cNvSpPr txBox="1"/>
          <p:nvPr>
            <p:ph idx="12" type="sldNum"/>
          </p:nvPr>
        </p:nvSpPr>
        <p:spPr>
          <a:xfrm>
            <a:off x="11095176" y="6414760"/>
            <a:ext cx="258624" cy="248305"/>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20" name="Shape 20"/>
        <p:cNvGrpSpPr/>
        <p:nvPr/>
      </p:nvGrpSpPr>
      <p:grpSpPr>
        <a:xfrm>
          <a:off x="0" y="0"/>
          <a:ext cx="0" cy="0"/>
          <a:chOff x="0" y="0"/>
          <a:chExt cx="0" cy="0"/>
        </a:xfrm>
      </p:grpSpPr>
      <p:sp>
        <p:nvSpPr>
          <p:cNvPr id="21" name="Google Shape;21;p24"/>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2" name="Google Shape;22;p24"/>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3" name="Google Shape;23;p24"/>
          <p:cNvSpPr txBox="1"/>
          <p:nvPr>
            <p:ph idx="12" type="sldNum"/>
          </p:nvPr>
        </p:nvSpPr>
        <p:spPr>
          <a:xfrm>
            <a:off x="11095176" y="6414760"/>
            <a:ext cx="258624" cy="248305"/>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spTree>
      <p:nvGrpSpPr>
        <p:cNvPr id="24" name="Shape 24"/>
        <p:cNvGrpSpPr/>
        <p:nvPr/>
      </p:nvGrpSpPr>
      <p:grpSpPr>
        <a:xfrm>
          <a:off x="0" y="0"/>
          <a:ext cx="0" cy="0"/>
          <a:chOff x="0" y="0"/>
          <a:chExt cx="0" cy="0"/>
        </a:xfrm>
      </p:grpSpPr>
      <p:sp>
        <p:nvSpPr>
          <p:cNvPr id="25" name="Google Shape;25;p2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6" name="Google Shape;26;p25"/>
          <p:cNvSpPr txBox="1"/>
          <p:nvPr>
            <p:ph idx="1" type="body"/>
          </p:nvPr>
        </p:nvSpPr>
        <p:spPr>
          <a:xfrm>
            <a:off x="838200" y="1825625"/>
            <a:ext cx="5181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7" name="Google Shape;27;p25"/>
          <p:cNvSpPr txBox="1"/>
          <p:nvPr>
            <p:ph idx="12" type="sldNum"/>
          </p:nvPr>
        </p:nvSpPr>
        <p:spPr>
          <a:xfrm>
            <a:off x="11095176" y="6414760"/>
            <a:ext cx="258624" cy="248305"/>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p:cSld name="Comparison">
    <p:spTree>
      <p:nvGrpSpPr>
        <p:cNvPr id="28" name="Shape 28"/>
        <p:cNvGrpSpPr/>
        <p:nvPr/>
      </p:nvGrpSpPr>
      <p:grpSpPr>
        <a:xfrm>
          <a:off x="0" y="0"/>
          <a:ext cx="0" cy="0"/>
          <a:chOff x="0" y="0"/>
          <a:chExt cx="0" cy="0"/>
        </a:xfrm>
      </p:grpSpPr>
      <p:sp>
        <p:nvSpPr>
          <p:cNvPr id="29" name="Google Shape;29;p26"/>
          <p:cNvSpPr txBox="1"/>
          <p:nvPr>
            <p:ph type="title"/>
          </p:nvPr>
        </p:nvSpPr>
        <p:spPr>
          <a:xfrm>
            <a:off x="839787"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0" name="Google Shape;30;p26"/>
          <p:cNvSpPr txBox="1"/>
          <p:nvPr>
            <p:ph idx="1" type="body"/>
          </p:nvPr>
        </p:nvSpPr>
        <p:spPr>
          <a:xfrm>
            <a:off x="839787" y="1681163"/>
            <a:ext cx="5157789" cy="823913"/>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1" name="Google Shape;31;p26"/>
          <p:cNvSpPr txBox="1"/>
          <p:nvPr>
            <p:ph idx="2" type="body"/>
          </p:nvPr>
        </p:nvSpPr>
        <p:spPr>
          <a:xfrm>
            <a:off x="6172200" y="1681163"/>
            <a:ext cx="5183188" cy="823913"/>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2" name="Google Shape;32;p26"/>
          <p:cNvSpPr txBox="1"/>
          <p:nvPr>
            <p:ph idx="12" type="sldNum"/>
          </p:nvPr>
        </p:nvSpPr>
        <p:spPr>
          <a:xfrm>
            <a:off x="11095176" y="6414760"/>
            <a:ext cx="258624" cy="248305"/>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spTree>
      <p:nvGrpSpPr>
        <p:cNvPr id="33" name="Shape 33"/>
        <p:cNvGrpSpPr/>
        <p:nvPr/>
      </p:nvGrpSpPr>
      <p:grpSpPr>
        <a:xfrm>
          <a:off x="0" y="0"/>
          <a:ext cx="0" cy="0"/>
          <a:chOff x="0" y="0"/>
          <a:chExt cx="0" cy="0"/>
        </a:xfrm>
      </p:grpSpPr>
      <p:sp>
        <p:nvSpPr>
          <p:cNvPr id="34" name="Google Shape;34;p2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5" name="Google Shape;35;p27"/>
          <p:cNvSpPr txBox="1"/>
          <p:nvPr>
            <p:ph idx="12" type="sldNum"/>
          </p:nvPr>
        </p:nvSpPr>
        <p:spPr>
          <a:xfrm>
            <a:off x="11095176" y="6414760"/>
            <a:ext cx="258624" cy="248305"/>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p:cSld name="Content with Caption">
    <p:spTree>
      <p:nvGrpSpPr>
        <p:cNvPr id="36" name="Shape 36"/>
        <p:cNvGrpSpPr/>
        <p:nvPr/>
      </p:nvGrpSpPr>
      <p:grpSpPr>
        <a:xfrm>
          <a:off x="0" y="0"/>
          <a:ext cx="0" cy="0"/>
          <a:chOff x="0" y="0"/>
          <a:chExt cx="0" cy="0"/>
        </a:xfrm>
      </p:grpSpPr>
      <p:sp>
        <p:nvSpPr>
          <p:cNvPr id="37" name="Google Shape;37;p29"/>
          <p:cNvSpPr txBox="1"/>
          <p:nvPr>
            <p:ph type="title"/>
          </p:nvPr>
        </p:nvSpPr>
        <p:spPr>
          <a:xfrm>
            <a:off x="839787" y="457200"/>
            <a:ext cx="3932239"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8" name="Google Shape;38;p29"/>
          <p:cNvSpPr txBox="1"/>
          <p:nvPr>
            <p:ph idx="1" type="body"/>
          </p:nvPr>
        </p:nvSpPr>
        <p:spPr>
          <a:xfrm>
            <a:off x="5183187" y="987425"/>
            <a:ext cx="6172201" cy="4873625"/>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9" name="Google Shape;39;p29"/>
          <p:cNvSpPr txBox="1"/>
          <p:nvPr>
            <p:ph idx="2" type="body"/>
          </p:nvPr>
        </p:nvSpPr>
        <p:spPr>
          <a:xfrm>
            <a:off x="839787" y="2057400"/>
            <a:ext cx="3932239" cy="381158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0" name="Google Shape;40;p29"/>
          <p:cNvSpPr txBox="1"/>
          <p:nvPr>
            <p:ph idx="12" type="sldNum"/>
          </p:nvPr>
        </p:nvSpPr>
        <p:spPr>
          <a:xfrm>
            <a:off x="11095176" y="6414760"/>
            <a:ext cx="258624" cy="248305"/>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p:cSld name="Picture with Caption">
    <p:spTree>
      <p:nvGrpSpPr>
        <p:cNvPr id="41" name="Shape 41"/>
        <p:cNvGrpSpPr/>
        <p:nvPr/>
      </p:nvGrpSpPr>
      <p:grpSpPr>
        <a:xfrm>
          <a:off x="0" y="0"/>
          <a:ext cx="0" cy="0"/>
          <a:chOff x="0" y="0"/>
          <a:chExt cx="0" cy="0"/>
        </a:xfrm>
      </p:grpSpPr>
      <p:sp>
        <p:nvSpPr>
          <p:cNvPr id="42" name="Google Shape;42;p30"/>
          <p:cNvSpPr txBox="1"/>
          <p:nvPr>
            <p:ph type="title"/>
          </p:nvPr>
        </p:nvSpPr>
        <p:spPr>
          <a:xfrm>
            <a:off x="839787" y="457200"/>
            <a:ext cx="3932239"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3" name="Google Shape;43;p30"/>
          <p:cNvSpPr/>
          <p:nvPr>
            <p:ph idx="2" type="pic"/>
          </p:nvPr>
        </p:nvSpPr>
        <p:spPr>
          <a:xfrm>
            <a:off x="5183187" y="987425"/>
            <a:ext cx="6172201" cy="4873625"/>
          </a:xfrm>
          <a:prstGeom prst="rect">
            <a:avLst/>
          </a:prstGeom>
          <a:noFill/>
          <a:ln>
            <a:noFill/>
          </a:ln>
        </p:spPr>
      </p:sp>
      <p:sp>
        <p:nvSpPr>
          <p:cNvPr id="44" name="Google Shape;44;p30"/>
          <p:cNvSpPr txBox="1"/>
          <p:nvPr>
            <p:ph idx="1" type="body"/>
          </p:nvPr>
        </p:nvSpPr>
        <p:spPr>
          <a:xfrm>
            <a:off x="839787" y="2057400"/>
            <a:ext cx="3932239" cy="38115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5" name="Google Shape;45;p30"/>
          <p:cNvSpPr txBox="1"/>
          <p:nvPr>
            <p:ph idx="12" type="sldNum"/>
          </p:nvPr>
        </p:nvSpPr>
        <p:spPr>
          <a:xfrm>
            <a:off x="11095176" y="6414760"/>
            <a:ext cx="258624" cy="248305"/>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46" name="Shape 46"/>
        <p:cNvGrpSpPr/>
        <p:nvPr/>
      </p:nvGrpSpPr>
      <p:grpSpPr>
        <a:xfrm>
          <a:off x="0" y="0"/>
          <a:ext cx="0" cy="0"/>
          <a:chOff x="0" y="0"/>
          <a:chExt cx="0" cy="0"/>
        </a:xfrm>
      </p:grpSpPr>
      <p:sp>
        <p:nvSpPr>
          <p:cNvPr id="47" name="Google Shape;47;g3a4a0b1d4ca_0_8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g3a4a0b1d4ca_0_8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9" name="Google Shape;49;g3a4a0b1d4ca_0_8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 name="Google Shape;50;g3a4a0b1d4ca_0_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1" name="Google Shape;51;g3a4a0b1d4ca_0_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9pPr>
          </a:lstStyle>
          <a:p/>
        </p:txBody>
      </p:sp>
      <p:sp>
        <p:nvSpPr>
          <p:cNvPr id="8" name="Google Shape;8;p21"/>
          <p:cNvSpPr/>
          <p:nvPr/>
        </p:nvSpPr>
        <p:spPr>
          <a:xfrm>
            <a:off x="9991482" y="4"/>
            <a:ext cx="2145712" cy="995947"/>
          </a:xfrm>
          <a:prstGeom prst="rect">
            <a:avLst/>
          </a:prstGeom>
          <a:blipFill rotWithShape="1">
            <a:blip r:embed="rId1">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 name="Google Shape;9;p21"/>
          <p:cNvSpPr txBox="1"/>
          <p:nvPr>
            <p:ph idx="12" type="sldNum"/>
          </p:nvPr>
        </p:nvSpPr>
        <p:spPr>
          <a:xfrm>
            <a:off x="11095176" y="6414760"/>
            <a:ext cx="258624" cy="248305"/>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hyperlink" Target="https://leetcode.com/problems/kth-largest-element-in-an-array/" TargetMode="External"/><Relationship Id="rId5" Type="http://schemas.openxmlformats.org/officeDocument/2006/relationships/hyperlink" Target="https://leetcode.com/problems/kth-largest-element-in-an-arra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hyperlink" Target="https://leetcode.com/problems/top-k-frequent-elements/?utm_source=chatgpt.com" TargetMode="External"/><Relationship Id="rId5" Type="http://schemas.openxmlformats.org/officeDocument/2006/relationships/hyperlink" Target="https://leetcode.com/problems/top-k-frequent-elements/?utm_source=chatgpt.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hyperlink" Target="https://leetcode.com/problems/kth-smallest-element-in-a-sorted-matrix/?utm_source=chatgpt.com" TargetMode="External"/><Relationship Id="rId5" Type="http://schemas.openxmlformats.org/officeDocument/2006/relationships/hyperlink" Target="https://leetcode.com/problems/kth-smallest-element-in-a-sorted-matrix/?utm_source=chatgpt.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 name="Shape 55"/>
        <p:cNvGrpSpPr/>
        <p:nvPr/>
      </p:nvGrpSpPr>
      <p:grpSpPr>
        <a:xfrm>
          <a:off x="0" y="0"/>
          <a:ext cx="0" cy="0"/>
          <a:chOff x="0" y="0"/>
          <a:chExt cx="0" cy="0"/>
        </a:xfrm>
      </p:grpSpPr>
      <p:grpSp>
        <p:nvGrpSpPr>
          <p:cNvPr id="56" name="Google Shape;56;g3a4a0b1d4ca_0_0"/>
          <p:cNvGrpSpPr/>
          <p:nvPr/>
        </p:nvGrpSpPr>
        <p:grpSpPr>
          <a:xfrm>
            <a:off x="0" y="82100"/>
            <a:ext cx="11689200" cy="1028775"/>
            <a:chOff x="0" y="82100"/>
            <a:chExt cx="11689200" cy="1028775"/>
          </a:xfrm>
        </p:grpSpPr>
        <p:pic>
          <p:nvPicPr>
            <p:cNvPr id="57" name="Google Shape;57;g3a4a0b1d4ca_0_0"/>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58" name="Google Shape;58;g3a4a0b1d4ca_0_0"/>
            <p:cNvSpPr txBox="1"/>
            <p:nvPr/>
          </p:nvSpPr>
          <p:spPr>
            <a:xfrm>
              <a:off x="6033600" y="431953"/>
              <a:ext cx="56556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lang="en-US" sz="1800"/>
                <a:t>Artificial Intelligence &amp; Data Science</a:t>
              </a:r>
              <a:endParaRPr b="1" i="0" sz="1800" u="none" cap="none" strike="noStrike">
                <a:solidFill>
                  <a:srgbClr val="000000"/>
                </a:solidFill>
                <a:latin typeface="Arial"/>
                <a:ea typeface="Arial"/>
                <a:cs typeface="Arial"/>
                <a:sym typeface="Arial"/>
              </a:endParaRPr>
            </a:p>
          </p:txBody>
        </p:sp>
      </p:grpSp>
      <p:sp>
        <p:nvSpPr>
          <p:cNvPr id="59" name="Google Shape;59;g3a4a0b1d4ca_0_0"/>
          <p:cNvSpPr/>
          <p:nvPr/>
        </p:nvSpPr>
        <p:spPr>
          <a:xfrm>
            <a:off x="5" y="1955845"/>
            <a:ext cx="12184856" cy="1938814"/>
          </a:xfrm>
          <a:custGeom>
            <a:rect b="b" l="l" r="r" t="t"/>
            <a:pathLst>
              <a:path extrusionOk="0" h="2628900" w="7556500">
                <a:moveTo>
                  <a:pt x="0" y="2628900"/>
                </a:moveTo>
                <a:lnTo>
                  <a:pt x="0" y="0"/>
                </a:lnTo>
                <a:lnTo>
                  <a:pt x="7556500" y="0"/>
                </a:lnTo>
                <a:lnTo>
                  <a:pt x="7556500" y="2628900"/>
                </a:lnTo>
                <a:lnTo>
                  <a:pt x="0" y="2628900"/>
                </a:lnTo>
                <a:close/>
              </a:path>
            </a:pathLst>
          </a:custGeom>
          <a:solidFill>
            <a:srgbClr val="1F487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4"/>
              <a:buFont typeface="Arial"/>
              <a:buNone/>
            </a:pPr>
            <a:r>
              <a:t/>
            </a:r>
            <a:endParaRPr b="0" i="0" sz="864" u="none" cap="none" strike="noStrike">
              <a:solidFill>
                <a:schemeClr val="dk1"/>
              </a:solidFill>
              <a:latin typeface="Calibri"/>
              <a:ea typeface="Calibri"/>
              <a:cs typeface="Calibri"/>
              <a:sym typeface="Calibri"/>
            </a:endParaRPr>
          </a:p>
        </p:txBody>
      </p:sp>
      <p:sp>
        <p:nvSpPr>
          <p:cNvPr id="60" name="Google Shape;60;g3a4a0b1d4ca_0_0"/>
          <p:cNvSpPr txBox="1"/>
          <p:nvPr/>
        </p:nvSpPr>
        <p:spPr>
          <a:xfrm>
            <a:off x="457000" y="2217978"/>
            <a:ext cx="10932000" cy="1416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Cambria"/>
                <a:ea typeface="Cambria"/>
                <a:cs typeface="Cambria"/>
                <a:sym typeface="Cambria"/>
              </a:rPr>
              <a:t>Write a Program to Implement Huffman coding.</a:t>
            </a:r>
            <a:endParaRPr b="1" i="0" sz="4000" u="none" cap="none" strike="noStrike">
              <a:solidFill>
                <a:schemeClr val="lt1"/>
              </a:solidFill>
              <a:latin typeface="Cambria"/>
              <a:ea typeface="Cambria"/>
              <a:cs typeface="Cambria"/>
              <a:sym typeface="Cambria"/>
            </a:endParaRPr>
          </a:p>
        </p:txBody>
      </p:sp>
      <p:sp>
        <p:nvSpPr>
          <p:cNvPr id="61" name="Google Shape;61;g3a4a0b1d4ca_0_0"/>
          <p:cNvSpPr/>
          <p:nvPr/>
        </p:nvSpPr>
        <p:spPr>
          <a:xfrm>
            <a:off x="456988" y="5601409"/>
            <a:ext cx="5110500" cy="101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rPr b="1" lang="en-US" sz="2700">
                <a:solidFill>
                  <a:schemeClr val="dk1"/>
                </a:solidFill>
                <a:latin typeface="Calibri"/>
                <a:ea typeface="Calibri"/>
                <a:cs typeface="Calibri"/>
                <a:sym typeface="Calibri"/>
              </a:rPr>
              <a:t>Mr. Prakash Kumar Pandey</a:t>
            </a:r>
            <a:br>
              <a:rPr b="1" i="0" lang="en-US" sz="1060" u="none" cap="none" strike="noStrike">
                <a:solidFill>
                  <a:schemeClr val="dk1"/>
                </a:solidFill>
                <a:latin typeface="Calibri"/>
                <a:ea typeface="Calibri"/>
                <a:cs typeface="Calibri"/>
                <a:sym typeface="Calibri"/>
              </a:rPr>
            </a:br>
            <a:r>
              <a:rPr b="1" i="0" lang="en-US" sz="1800" u="none" cap="none" strike="noStrike">
                <a:solidFill>
                  <a:schemeClr val="dk1"/>
                </a:solidFill>
                <a:latin typeface="Calibri"/>
                <a:ea typeface="Calibri"/>
                <a:cs typeface="Calibri"/>
                <a:sym typeface="Calibri"/>
              </a:rPr>
              <a:t>Assistant Professor</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1" lang="en-US" sz="1500">
                <a:solidFill>
                  <a:schemeClr val="dk1"/>
                </a:solidFill>
                <a:latin typeface="Calibri"/>
                <a:ea typeface="Calibri"/>
                <a:cs typeface="Calibri"/>
                <a:sym typeface="Calibri"/>
              </a:rPr>
              <a:t>Artificial Intelligence &amp; Data Science</a:t>
            </a:r>
            <a:endParaRPr b="1"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graphicFrame>
        <p:nvGraphicFramePr>
          <p:cNvPr id="66" name="Google Shape;66;p2"/>
          <p:cNvGraphicFramePr/>
          <p:nvPr/>
        </p:nvGraphicFramePr>
        <p:xfrm>
          <a:off x="3309539" y="1265839"/>
          <a:ext cx="3000000" cy="3000000"/>
        </p:xfrm>
        <a:graphic>
          <a:graphicData uri="http://schemas.openxmlformats.org/drawingml/2006/table">
            <a:tbl>
              <a:tblPr>
                <a:noFill/>
                <a:tableStyleId>{D45BCC46-9C31-47CF-BF64-5264FEDDBB5F}</a:tableStyleId>
              </a:tblPr>
              <a:tblGrid>
                <a:gridCol w="5342850"/>
              </a:tblGrid>
              <a:tr h="358150">
                <a:tc>
                  <a:txBody>
                    <a:bodyPr/>
                    <a:lstStyle/>
                    <a:p>
                      <a:pPr indent="0" lvl="0" marL="0" marR="0" rtl="0" algn="ctr">
                        <a:lnSpc>
                          <a:spcPct val="100000"/>
                        </a:lnSpc>
                        <a:spcBef>
                          <a:spcPts val="0"/>
                        </a:spcBef>
                        <a:spcAft>
                          <a:spcPts val="0"/>
                        </a:spcAft>
                        <a:buClr>
                          <a:schemeClr val="dk1"/>
                        </a:buClr>
                        <a:buSzPts val="2400"/>
                        <a:buFont typeface="Cambria"/>
                        <a:buNone/>
                      </a:pPr>
                      <a:r>
                        <a:rPr lang="en-US" sz="2400" u="none" cap="none" strike="noStrike">
                          <a:latin typeface="Cambria"/>
                          <a:ea typeface="Cambria"/>
                          <a:cs typeface="Cambria"/>
                          <a:sym typeface="Cambria"/>
                        </a:rPr>
                        <a:t>Lesson Plan</a:t>
                      </a:r>
                      <a:endParaRPr sz="1400" u="none" cap="none" strike="noStrike"/>
                    </a:p>
                  </a:txBody>
                  <a:tcPr marT="38100" marB="38100" marR="38100" marL="38100" anchor="ctr">
                    <a:lnL cap="flat" cmpd="sng" w="9775">
                      <a:solidFill>
                        <a:srgbClr val="000000"/>
                      </a:solidFill>
                      <a:prstDash val="solid"/>
                      <a:round/>
                      <a:headEnd len="sm" w="sm" type="none"/>
                      <a:tailEnd len="sm" w="sm" type="none"/>
                    </a:lnL>
                    <a:lnR cap="flat" cmpd="sng" w="9775">
                      <a:solidFill>
                        <a:srgbClr val="000000"/>
                      </a:solidFill>
                      <a:prstDash val="solid"/>
                      <a:round/>
                      <a:headEnd len="sm" w="sm" type="none"/>
                      <a:tailEnd len="sm" w="sm" type="none"/>
                    </a:lnR>
                    <a:lnT cap="flat" cmpd="sng" w="9775">
                      <a:solidFill>
                        <a:srgbClr val="000000"/>
                      </a:solidFill>
                      <a:prstDash val="solid"/>
                      <a:round/>
                      <a:headEnd len="sm" w="sm" type="none"/>
                      <a:tailEnd len="sm" w="sm" type="none"/>
                    </a:lnT>
                    <a:lnB cap="flat" cmpd="sng" w="9775">
                      <a:solidFill>
                        <a:srgbClr val="000000"/>
                      </a:solidFill>
                      <a:prstDash val="solid"/>
                      <a:round/>
                      <a:headEnd len="sm" w="sm" type="none"/>
                      <a:tailEnd len="sm" w="sm" type="none"/>
                    </a:lnB>
                    <a:solidFill>
                      <a:srgbClr val="FFFFFF"/>
                    </a:solidFill>
                  </a:tcPr>
                </a:tc>
              </a:tr>
            </a:tbl>
          </a:graphicData>
        </a:graphic>
      </p:graphicFrame>
      <p:graphicFrame>
        <p:nvGraphicFramePr>
          <p:cNvPr id="67" name="Google Shape;67;p2"/>
          <p:cNvGraphicFramePr/>
          <p:nvPr/>
        </p:nvGraphicFramePr>
        <p:xfrm>
          <a:off x="1461073" y="2746275"/>
          <a:ext cx="3000000" cy="3000000"/>
        </p:xfrm>
        <a:graphic>
          <a:graphicData uri="http://schemas.openxmlformats.org/drawingml/2006/table">
            <a:tbl>
              <a:tblPr>
                <a:noFill/>
                <a:tableStyleId>{D45BCC46-9C31-47CF-BF64-5264FEDDBB5F}</a:tableStyleId>
              </a:tblPr>
              <a:tblGrid>
                <a:gridCol w="2865125"/>
                <a:gridCol w="6194325"/>
              </a:tblGrid>
              <a:tr h="160025">
                <a:tc>
                  <a:txBody>
                    <a:bodyPr/>
                    <a:lstStyle/>
                    <a:p>
                      <a:pPr indent="0" lvl="0" marL="0" marR="0" rtl="0" algn="ctr">
                        <a:lnSpc>
                          <a:spcPct val="100000"/>
                        </a:lnSpc>
                        <a:spcBef>
                          <a:spcPts val="0"/>
                        </a:spcBef>
                        <a:spcAft>
                          <a:spcPts val="0"/>
                        </a:spcAft>
                        <a:buClr>
                          <a:schemeClr val="dk1"/>
                        </a:buClr>
                        <a:buSzPts val="1800"/>
                        <a:buFont typeface="Cambria"/>
                        <a:buNone/>
                      </a:pPr>
                      <a:r>
                        <a:rPr lang="en-US" sz="1800" u="none" cap="none" strike="noStrike">
                          <a:latin typeface="Cambria"/>
                          <a:ea typeface="Cambria"/>
                          <a:cs typeface="Cambria"/>
                          <a:sym typeface="Cambria"/>
                        </a:rPr>
                        <a:t>Subject/Course</a:t>
                      </a:r>
                      <a:endParaRPr sz="1400" u="none" cap="none" strike="noStrike"/>
                    </a:p>
                  </a:txBody>
                  <a:tcPr marT="38100" marB="38100" marR="38100" marL="38100" anchor="ctr">
                    <a:lnL cap="flat" cmpd="sng" w="9775">
                      <a:solidFill>
                        <a:srgbClr val="000000"/>
                      </a:solidFill>
                      <a:prstDash val="solid"/>
                      <a:round/>
                      <a:headEnd len="sm" w="sm" type="none"/>
                      <a:tailEnd len="sm" w="sm" type="none"/>
                    </a:lnL>
                    <a:lnR cap="flat" cmpd="sng" w="9775">
                      <a:solidFill>
                        <a:srgbClr val="000000"/>
                      </a:solidFill>
                      <a:prstDash val="solid"/>
                      <a:round/>
                      <a:headEnd len="sm" w="sm" type="none"/>
                      <a:tailEnd len="sm" w="sm" type="none"/>
                    </a:lnR>
                    <a:lnT cap="flat" cmpd="sng" w="9775">
                      <a:solidFill>
                        <a:srgbClr val="000000"/>
                      </a:solidFill>
                      <a:prstDash val="solid"/>
                      <a:round/>
                      <a:headEnd len="sm" w="sm" type="none"/>
                      <a:tailEnd len="sm" w="sm" type="none"/>
                    </a:lnT>
                    <a:lnB cap="flat" cmpd="sng" w="977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70C0"/>
                        </a:buClr>
                        <a:buSzPts val="1800"/>
                        <a:buFont typeface="Cambria"/>
                        <a:buNone/>
                      </a:pPr>
                      <a:r>
                        <a:rPr lang="en-US" sz="1800" u="none" cap="none" strike="noStrike">
                          <a:solidFill>
                            <a:srgbClr val="0070C0"/>
                          </a:solidFill>
                          <a:latin typeface="Cambria"/>
                          <a:ea typeface="Cambria"/>
                          <a:cs typeface="Cambria"/>
                          <a:sym typeface="Cambria"/>
                        </a:rPr>
                        <a:t>Competitive Coding</a:t>
                      </a:r>
                      <a:endParaRPr sz="1400" u="none" cap="none" strike="noStrike"/>
                    </a:p>
                  </a:txBody>
                  <a:tcPr marT="38100" marB="38100" marR="38100" marL="38100" anchor="ctr">
                    <a:lnL cap="flat" cmpd="sng" w="9775">
                      <a:solidFill>
                        <a:srgbClr val="000000"/>
                      </a:solidFill>
                      <a:prstDash val="solid"/>
                      <a:round/>
                      <a:headEnd len="sm" w="sm" type="none"/>
                      <a:tailEnd len="sm" w="sm" type="none"/>
                    </a:lnL>
                    <a:lnR cap="flat" cmpd="sng" w="9775">
                      <a:solidFill>
                        <a:srgbClr val="000000"/>
                      </a:solidFill>
                      <a:prstDash val="solid"/>
                      <a:round/>
                      <a:headEnd len="sm" w="sm" type="none"/>
                      <a:tailEnd len="sm" w="sm" type="none"/>
                    </a:lnR>
                    <a:lnT cap="flat" cmpd="sng" w="9775">
                      <a:solidFill>
                        <a:srgbClr val="000000"/>
                      </a:solidFill>
                      <a:prstDash val="solid"/>
                      <a:round/>
                      <a:headEnd len="sm" w="sm" type="none"/>
                      <a:tailEnd len="sm" w="sm" type="none"/>
                    </a:lnT>
                    <a:lnB cap="flat" cmpd="sng" w="9775">
                      <a:solidFill>
                        <a:srgbClr val="000000"/>
                      </a:solidFill>
                      <a:prstDash val="solid"/>
                      <a:round/>
                      <a:headEnd len="sm" w="sm" type="none"/>
                      <a:tailEnd len="sm" w="sm" type="none"/>
                    </a:lnB>
                    <a:solidFill>
                      <a:srgbClr val="FFFFFF"/>
                    </a:solidFill>
                  </a:tcPr>
                </a:tc>
              </a:tr>
              <a:tr h="160025">
                <a:tc>
                  <a:txBody>
                    <a:bodyPr/>
                    <a:lstStyle/>
                    <a:p>
                      <a:pPr indent="0" lvl="0" marL="0" marR="0" rtl="0" algn="ctr">
                        <a:lnSpc>
                          <a:spcPct val="100000"/>
                        </a:lnSpc>
                        <a:spcBef>
                          <a:spcPts val="0"/>
                        </a:spcBef>
                        <a:spcAft>
                          <a:spcPts val="0"/>
                        </a:spcAft>
                        <a:buClr>
                          <a:schemeClr val="dk1"/>
                        </a:buClr>
                        <a:buSzPts val="1800"/>
                        <a:buFont typeface="Cambria"/>
                        <a:buNone/>
                      </a:pPr>
                      <a:r>
                        <a:rPr lang="en-US" sz="1800" u="none" cap="none" strike="noStrike">
                          <a:latin typeface="Cambria"/>
                          <a:ea typeface="Cambria"/>
                          <a:cs typeface="Cambria"/>
                          <a:sym typeface="Cambria"/>
                        </a:rPr>
                        <a:t>Lesson Title</a:t>
                      </a:r>
                      <a:endParaRPr sz="1400" u="none" cap="none" strike="noStrike"/>
                    </a:p>
                  </a:txBody>
                  <a:tcPr marT="38100" marB="38100" marR="38100" marL="38100" anchor="ctr">
                    <a:lnL cap="flat" cmpd="sng" w="9775">
                      <a:solidFill>
                        <a:srgbClr val="000000"/>
                      </a:solidFill>
                      <a:prstDash val="solid"/>
                      <a:round/>
                      <a:headEnd len="sm" w="sm" type="none"/>
                      <a:tailEnd len="sm" w="sm" type="none"/>
                    </a:lnL>
                    <a:lnR cap="flat" cmpd="sng" w="9775">
                      <a:solidFill>
                        <a:srgbClr val="000000"/>
                      </a:solidFill>
                      <a:prstDash val="solid"/>
                      <a:round/>
                      <a:headEnd len="sm" w="sm" type="none"/>
                      <a:tailEnd len="sm" w="sm" type="none"/>
                    </a:lnR>
                    <a:lnT cap="flat" cmpd="sng" w="9775">
                      <a:solidFill>
                        <a:srgbClr val="000000"/>
                      </a:solidFill>
                      <a:prstDash val="solid"/>
                      <a:round/>
                      <a:headEnd len="sm" w="sm" type="none"/>
                      <a:tailEnd len="sm" w="sm" type="none"/>
                    </a:lnT>
                    <a:lnB cap="flat" cmpd="sng" w="977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Cambria"/>
                        <a:buNone/>
                      </a:pPr>
                      <a:r>
                        <a:rPr lang="en-US" sz="1800" u="none" cap="none" strike="noStrike">
                          <a:latin typeface="Cambria"/>
                          <a:ea typeface="Cambria"/>
                          <a:cs typeface="Cambria"/>
                          <a:sym typeface="Cambria"/>
                        </a:rPr>
                        <a:t>Write a Program to Implement Huffman coding.</a:t>
                      </a:r>
                      <a:endParaRPr sz="1400" u="none" cap="none" strike="noStrike"/>
                    </a:p>
                  </a:txBody>
                  <a:tcPr marT="38100" marB="38100" marR="38100" marL="38100" anchor="ctr">
                    <a:lnL cap="flat" cmpd="sng" w="9775">
                      <a:solidFill>
                        <a:srgbClr val="000000"/>
                      </a:solidFill>
                      <a:prstDash val="solid"/>
                      <a:round/>
                      <a:headEnd len="sm" w="sm" type="none"/>
                      <a:tailEnd len="sm" w="sm" type="none"/>
                    </a:lnL>
                    <a:lnR cap="flat" cmpd="sng" w="9775">
                      <a:solidFill>
                        <a:srgbClr val="000000"/>
                      </a:solidFill>
                      <a:prstDash val="solid"/>
                      <a:round/>
                      <a:headEnd len="sm" w="sm" type="none"/>
                      <a:tailEnd len="sm" w="sm" type="none"/>
                    </a:lnR>
                    <a:lnT cap="flat" cmpd="sng" w="9775">
                      <a:solidFill>
                        <a:srgbClr val="000000"/>
                      </a:solidFill>
                      <a:prstDash val="solid"/>
                      <a:round/>
                      <a:headEnd len="sm" w="sm" type="none"/>
                      <a:tailEnd len="sm" w="sm" type="none"/>
                    </a:lnT>
                    <a:lnB cap="flat" cmpd="sng" w="9775">
                      <a:solidFill>
                        <a:srgbClr val="000000"/>
                      </a:solidFill>
                      <a:prstDash val="solid"/>
                      <a:round/>
                      <a:headEnd len="sm" w="sm" type="none"/>
                      <a:tailEnd len="sm" w="sm" type="none"/>
                    </a:lnB>
                    <a:solidFill>
                      <a:srgbClr val="FFFFFF"/>
                    </a:solidFill>
                  </a:tcPr>
                </a:tc>
              </a:tr>
            </a:tbl>
          </a:graphicData>
        </a:graphic>
      </p:graphicFrame>
      <p:graphicFrame>
        <p:nvGraphicFramePr>
          <p:cNvPr id="68" name="Google Shape;68;p2"/>
          <p:cNvGraphicFramePr/>
          <p:nvPr/>
        </p:nvGraphicFramePr>
        <p:xfrm>
          <a:off x="1471064" y="3595291"/>
          <a:ext cx="3000000" cy="3000000"/>
        </p:xfrm>
        <a:graphic>
          <a:graphicData uri="http://schemas.openxmlformats.org/drawingml/2006/table">
            <a:tbl>
              <a:tblPr>
                <a:noFill/>
                <a:tableStyleId>{D45BCC46-9C31-47CF-BF64-5264FEDDBB5F}</a:tableStyleId>
              </a:tblPr>
              <a:tblGrid>
                <a:gridCol w="9039450"/>
              </a:tblGrid>
              <a:tr h="205750">
                <a:tc>
                  <a:txBody>
                    <a:bodyPr/>
                    <a:lstStyle/>
                    <a:p>
                      <a:pPr indent="0" lvl="0" marL="0" marR="0" rtl="0" algn="ctr">
                        <a:lnSpc>
                          <a:spcPct val="100000"/>
                        </a:lnSpc>
                        <a:spcBef>
                          <a:spcPts val="0"/>
                        </a:spcBef>
                        <a:spcAft>
                          <a:spcPts val="0"/>
                        </a:spcAft>
                        <a:buClr>
                          <a:srgbClr val="C00000"/>
                        </a:buClr>
                        <a:buSzPts val="1800"/>
                        <a:buFont typeface="Cambria"/>
                        <a:buNone/>
                      </a:pPr>
                      <a:r>
                        <a:rPr lang="en-US" sz="1800" u="none" cap="none" strike="noStrike">
                          <a:solidFill>
                            <a:srgbClr val="C00000"/>
                          </a:solidFill>
                          <a:latin typeface="Cambria"/>
                          <a:ea typeface="Cambria"/>
                          <a:cs typeface="Cambria"/>
                          <a:sym typeface="Cambria"/>
                        </a:rPr>
                        <a:t>Lesson Objectives</a:t>
                      </a:r>
                      <a:endParaRPr sz="1400" u="none" cap="none" strike="noStrike"/>
                    </a:p>
                  </a:txBody>
                  <a:tcPr marT="38100" marB="38100" marR="38100" marL="38100" anchor="ctr">
                    <a:lnL cap="flat" cmpd="sng" w="9775">
                      <a:solidFill>
                        <a:srgbClr val="000000"/>
                      </a:solidFill>
                      <a:prstDash val="solid"/>
                      <a:round/>
                      <a:headEnd len="sm" w="sm" type="none"/>
                      <a:tailEnd len="sm" w="sm" type="none"/>
                    </a:lnL>
                    <a:lnR cap="flat" cmpd="sng" w="9775">
                      <a:solidFill>
                        <a:srgbClr val="000000"/>
                      </a:solidFill>
                      <a:prstDash val="solid"/>
                      <a:round/>
                      <a:headEnd len="sm" w="sm" type="none"/>
                      <a:tailEnd len="sm" w="sm" type="none"/>
                    </a:lnR>
                    <a:lnT cap="flat" cmpd="sng" w="9775">
                      <a:solidFill>
                        <a:srgbClr val="000000"/>
                      </a:solidFill>
                      <a:prstDash val="solid"/>
                      <a:round/>
                      <a:headEnd len="sm" w="sm" type="none"/>
                      <a:tailEnd len="sm" w="sm" type="none"/>
                    </a:lnT>
                    <a:lnB cap="flat" cmpd="sng" w="9775">
                      <a:solidFill>
                        <a:srgbClr val="000000"/>
                      </a:solidFill>
                      <a:prstDash val="solid"/>
                      <a:round/>
                      <a:headEnd len="sm" w="sm" type="none"/>
                      <a:tailEnd len="sm" w="sm" type="none"/>
                    </a:lnB>
                    <a:solidFill>
                      <a:srgbClr val="FFFFFF"/>
                    </a:solidFill>
                  </a:tcPr>
                </a:tc>
              </a:tr>
              <a:tr h="205750">
                <a:tc>
                  <a:txBody>
                    <a:bodyPr/>
                    <a:lstStyle/>
                    <a:p>
                      <a:pPr indent="0" lvl="0" marL="0" marR="0" rtl="0" algn="l">
                        <a:lnSpc>
                          <a:spcPct val="100000"/>
                        </a:lnSpc>
                        <a:spcBef>
                          <a:spcPts val="0"/>
                        </a:spcBef>
                        <a:spcAft>
                          <a:spcPts val="0"/>
                        </a:spcAft>
                        <a:buClr>
                          <a:schemeClr val="dk1"/>
                        </a:buClr>
                        <a:buSzPts val="1800"/>
                        <a:buFont typeface="Cambria"/>
                        <a:buNone/>
                      </a:pPr>
                      <a:r>
                        <a:rPr lang="en-US" sz="1800" u="none" cap="none" strike="noStrike">
                          <a:latin typeface="Cambria"/>
                          <a:ea typeface="Cambria"/>
                          <a:cs typeface="Cambria"/>
                          <a:sym typeface="Cambria"/>
                        </a:rPr>
                        <a:t>Understand the concept and purpose of Huffman Coding for data compression.</a:t>
                      </a:r>
                      <a:endParaRPr sz="1400" u="none" cap="none" strike="noStrike"/>
                    </a:p>
                  </a:txBody>
                  <a:tcPr marT="38100" marB="38100" marR="38100" marL="38100" anchor="ctr">
                    <a:lnL cap="flat" cmpd="sng" w="9775">
                      <a:solidFill>
                        <a:srgbClr val="000000"/>
                      </a:solidFill>
                      <a:prstDash val="solid"/>
                      <a:round/>
                      <a:headEnd len="sm" w="sm" type="none"/>
                      <a:tailEnd len="sm" w="sm" type="none"/>
                    </a:lnL>
                    <a:lnR cap="flat" cmpd="sng" w="9775">
                      <a:solidFill>
                        <a:srgbClr val="000000"/>
                      </a:solidFill>
                      <a:prstDash val="solid"/>
                      <a:round/>
                      <a:headEnd len="sm" w="sm" type="none"/>
                      <a:tailEnd len="sm" w="sm" type="none"/>
                    </a:lnR>
                    <a:lnT cap="flat" cmpd="sng" w="9775">
                      <a:solidFill>
                        <a:srgbClr val="000000"/>
                      </a:solidFill>
                      <a:prstDash val="solid"/>
                      <a:round/>
                      <a:headEnd len="sm" w="sm" type="none"/>
                      <a:tailEnd len="sm" w="sm" type="none"/>
                    </a:lnT>
                    <a:lnB cap="flat" cmpd="sng" w="9775">
                      <a:solidFill>
                        <a:srgbClr val="000000"/>
                      </a:solidFill>
                      <a:prstDash val="solid"/>
                      <a:round/>
                      <a:headEnd len="sm" w="sm" type="none"/>
                      <a:tailEnd len="sm" w="sm" type="none"/>
                    </a:lnB>
                    <a:solidFill>
                      <a:srgbClr val="FFFFFF"/>
                    </a:solidFill>
                  </a:tcPr>
                </a:tc>
              </a:tr>
              <a:tr h="205750">
                <a:tc>
                  <a:txBody>
                    <a:bodyPr/>
                    <a:lstStyle/>
                    <a:p>
                      <a:pPr indent="0" lvl="0" marL="0" marR="0" rtl="0" algn="l">
                        <a:lnSpc>
                          <a:spcPct val="100000"/>
                        </a:lnSpc>
                        <a:spcBef>
                          <a:spcPts val="0"/>
                        </a:spcBef>
                        <a:spcAft>
                          <a:spcPts val="0"/>
                        </a:spcAft>
                        <a:buClr>
                          <a:schemeClr val="dk1"/>
                        </a:buClr>
                        <a:buSzPts val="1800"/>
                        <a:buFont typeface="Cambria"/>
                        <a:buNone/>
                      </a:pPr>
                      <a:r>
                        <a:rPr lang="en-US" sz="1800" u="none" cap="none" strike="noStrike">
                          <a:latin typeface="Cambria"/>
                          <a:ea typeface="Cambria"/>
                          <a:cs typeface="Cambria"/>
                          <a:sym typeface="Cambria"/>
                        </a:rPr>
                        <a:t>Learn how to construct a Huffman Tree using character frequencies.</a:t>
                      </a:r>
                      <a:endParaRPr sz="1400" u="none" cap="none" strike="noStrike"/>
                    </a:p>
                  </a:txBody>
                  <a:tcPr marT="38100" marB="38100" marR="38100" marL="38100" anchor="ctr">
                    <a:lnL cap="flat" cmpd="sng" w="9775">
                      <a:solidFill>
                        <a:srgbClr val="000000"/>
                      </a:solidFill>
                      <a:prstDash val="solid"/>
                      <a:round/>
                      <a:headEnd len="sm" w="sm" type="none"/>
                      <a:tailEnd len="sm" w="sm" type="none"/>
                    </a:lnL>
                    <a:lnR cap="flat" cmpd="sng" w="9775">
                      <a:solidFill>
                        <a:srgbClr val="000000"/>
                      </a:solidFill>
                      <a:prstDash val="solid"/>
                      <a:round/>
                      <a:headEnd len="sm" w="sm" type="none"/>
                      <a:tailEnd len="sm" w="sm" type="none"/>
                    </a:lnR>
                    <a:lnT cap="flat" cmpd="sng" w="9775">
                      <a:solidFill>
                        <a:srgbClr val="000000"/>
                      </a:solidFill>
                      <a:prstDash val="solid"/>
                      <a:round/>
                      <a:headEnd len="sm" w="sm" type="none"/>
                      <a:tailEnd len="sm" w="sm" type="none"/>
                    </a:lnT>
                    <a:lnB cap="flat" cmpd="sng" w="9775">
                      <a:solidFill>
                        <a:srgbClr val="000000"/>
                      </a:solidFill>
                      <a:prstDash val="solid"/>
                      <a:round/>
                      <a:headEnd len="sm" w="sm" type="none"/>
                      <a:tailEnd len="sm" w="sm" type="none"/>
                    </a:lnB>
                    <a:solidFill>
                      <a:srgbClr val="FFFFFF"/>
                    </a:solidFill>
                  </a:tcPr>
                </a:tc>
              </a:tr>
              <a:tr h="320050">
                <a:tc>
                  <a:txBody>
                    <a:bodyPr/>
                    <a:lstStyle/>
                    <a:p>
                      <a:pPr indent="0" lvl="0" marL="0" marR="0" rtl="0" algn="l">
                        <a:lnSpc>
                          <a:spcPct val="100000"/>
                        </a:lnSpc>
                        <a:spcBef>
                          <a:spcPts val="0"/>
                        </a:spcBef>
                        <a:spcAft>
                          <a:spcPts val="0"/>
                        </a:spcAft>
                        <a:buClr>
                          <a:schemeClr val="dk1"/>
                        </a:buClr>
                        <a:buSzPts val="1800"/>
                        <a:buFont typeface="Cambria"/>
                        <a:buNone/>
                      </a:pPr>
                      <a:r>
                        <a:rPr lang="en-US" sz="1800" u="none" cap="none" strike="noStrike">
                          <a:latin typeface="Cambria"/>
                          <a:ea typeface="Cambria"/>
                          <a:cs typeface="Cambria"/>
                          <a:sym typeface="Cambria"/>
                        </a:rPr>
                        <a:t>Write a program to generate Huffman Codes for given inputs.</a:t>
                      </a:r>
                      <a:endParaRPr sz="1400" u="none" cap="none" strike="noStrike"/>
                    </a:p>
                  </a:txBody>
                  <a:tcPr marT="38100" marB="38100" marR="38100" marL="38100" anchor="ctr">
                    <a:lnL cap="flat" cmpd="sng" w="9775">
                      <a:solidFill>
                        <a:srgbClr val="000000"/>
                      </a:solidFill>
                      <a:prstDash val="solid"/>
                      <a:round/>
                      <a:headEnd len="sm" w="sm" type="none"/>
                      <a:tailEnd len="sm" w="sm" type="none"/>
                    </a:lnL>
                    <a:lnR cap="flat" cmpd="sng" w="9775">
                      <a:solidFill>
                        <a:srgbClr val="000000"/>
                      </a:solidFill>
                      <a:prstDash val="solid"/>
                      <a:round/>
                      <a:headEnd len="sm" w="sm" type="none"/>
                      <a:tailEnd len="sm" w="sm" type="none"/>
                    </a:lnR>
                    <a:lnT cap="flat" cmpd="sng" w="9775">
                      <a:solidFill>
                        <a:srgbClr val="000000"/>
                      </a:solidFill>
                      <a:prstDash val="solid"/>
                      <a:round/>
                      <a:headEnd len="sm" w="sm" type="none"/>
                      <a:tailEnd len="sm" w="sm" type="none"/>
                    </a:lnT>
                    <a:lnB cap="flat" cmpd="sng" w="9775">
                      <a:solidFill>
                        <a:srgbClr val="000000"/>
                      </a:solidFill>
                      <a:prstDash val="solid"/>
                      <a:round/>
                      <a:headEnd len="sm" w="sm" type="none"/>
                      <a:tailEnd len="sm" w="sm" type="none"/>
                    </a:lnB>
                    <a:solidFill>
                      <a:srgbClr val="FFFFFF"/>
                    </a:solidFill>
                  </a:tcPr>
                </a:tc>
              </a:tr>
              <a:tr h="320050">
                <a:tc>
                  <a:txBody>
                    <a:bodyPr/>
                    <a:lstStyle/>
                    <a:p>
                      <a:pPr indent="0" lvl="0" marL="0" marR="0" rtl="0" algn="l">
                        <a:lnSpc>
                          <a:spcPct val="100000"/>
                        </a:lnSpc>
                        <a:spcBef>
                          <a:spcPts val="0"/>
                        </a:spcBef>
                        <a:spcAft>
                          <a:spcPts val="0"/>
                        </a:spcAft>
                        <a:buClr>
                          <a:schemeClr val="dk1"/>
                        </a:buClr>
                        <a:buSzPts val="1800"/>
                        <a:buFont typeface="Cambria"/>
                        <a:buNone/>
                      </a:pPr>
                      <a:r>
                        <a:rPr lang="en-US" sz="1800" u="none" cap="none" strike="noStrike">
                          <a:latin typeface="Cambria"/>
                          <a:ea typeface="Cambria"/>
                          <a:cs typeface="Cambria"/>
                          <a:sym typeface="Cambria"/>
                        </a:rPr>
                        <a:t>Analyze the efficiency and applications of Huffman Coding in real-world use.</a:t>
                      </a:r>
                      <a:endParaRPr sz="1400" u="none" cap="none" strike="noStrike"/>
                    </a:p>
                  </a:txBody>
                  <a:tcPr marT="38100" marB="38100" marR="38100" marL="38100" anchor="ctr">
                    <a:lnL cap="flat" cmpd="sng" w="9775">
                      <a:solidFill>
                        <a:srgbClr val="000000"/>
                      </a:solidFill>
                      <a:prstDash val="solid"/>
                      <a:round/>
                      <a:headEnd len="sm" w="sm" type="none"/>
                      <a:tailEnd len="sm" w="sm" type="none"/>
                    </a:lnL>
                    <a:lnR cap="flat" cmpd="sng" w="9775">
                      <a:solidFill>
                        <a:srgbClr val="000000"/>
                      </a:solidFill>
                      <a:prstDash val="solid"/>
                      <a:round/>
                      <a:headEnd len="sm" w="sm" type="none"/>
                      <a:tailEnd len="sm" w="sm" type="none"/>
                    </a:lnR>
                    <a:lnT cap="flat" cmpd="sng" w="9775">
                      <a:solidFill>
                        <a:srgbClr val="000000"/>
                      </a:solidFill>
                      <a:prstDash val="solid"/>
                      <a:round/>
                      <a:headEnd len="sm" w="sm" type="none"/>
                      <a:tailEnd len="sm" w="sm" type="none"/>
                    </a:lnT>
                    <a:lnB cap="flat" cmpd="sng" w="977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 name="Shape 72"/>
        <p:cNvGrpSpPr/>
        <p:nvPr/>
      </p:nvGrpSpPr>
      <p:grpSpPr>
        <a:xfrm>
          <a:off x="0" y="0"/>
          <a:ext cx="0" cy="0"/>
          <a:chOff x="0" y="0"/>
          <a:chExt cx="0" cy="0"/>
        </a:xfrm>
      </p:grpSpPr>
      <p:sp>
        <p:nvSpPr>
          <p:cNvPr id="73" name="Google Shape;73;p3"/>
          <p:cNvSpPr txBox="1"/>
          <p:nvPr>
            <p:ph idx="4294967295" type="title"/>
          </p:nvPr>
        </p:nvSpPr>
        <p:spPr>
          <a:xfrm>
            <a:off x="838200" y="724671"/>
            <a:ext cx="105156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lang="en-US" sz="4000">
                <a:latin typeface="Cambria"/>
                <a:ea typeface="Cambria"/>
                <a:cs typeface="Cambria"/>
                <a:sym typeface="Cambria"/>
              </a:rPr>
              <a:t>Problem Statement: </a:t>
            </a:r>
            <a:endParaRPr/>
          </a:p>
        </p:txBody>
      </p:sp>
      <p:sp>
        <p:nvSpPr>
          <p:cNvPr id="74" name="Google Shape;74;p3"/>
          <p:cNvSpPr txBox="1"/>
          <p:nvPr>
            <p:ph idx="4294967295" type="body"/>
          </p:nvPr>
        </p:nvSpPr>
        <p:spPr>
          <a:xfrm>
            <a:off x="838200" y="2185171"/>
            <a:ext cx="10515600" cy="4351200"/>
          </a:xfrm>
          <a:prstGeom prst="rect">
            <a:avLst/>
          </a:prstGeom>
          <a:noFill/>
          <a:ln>
            <a:noFill/>
          </a:ln>
        </p:spPr>
        <p:txBody>
          <a:bodyPr anchorCtr="0" anchor="t" bIns="45700" lIns="45700" spcFirstLastPara="1" rIns="45700" wrap="square" tIns="45700">
            <a:normAutofit/>
          </a:bodyPr>
          <a:lstStyle/>
          <a:p>
            <a:pPr indent="0" lvl="0" marL="0" rtl="0" algn="just">
              <a:lnSpc>
                <a:spcPct val="90000"/>
              </a:lnSpc>
              <a:spcBef>
                <a:spcPts val="0"/>
              </a:spcBef>
              <a:spcAft>
                <a:spcPts val="0"/>
              </a:spcAft>
              <a:buClr>
                <a:srgbClr val="000000"/>
              </a:buClr>
              <a:buSzPts val="2400"/>
              <a:buNone/>
            </a:pPr>
            <a:r>
              <a:rPr lang="en-US" sz="2400">
                <a:latin typeface="Cambria"/>
                <a:ea typeface="Cambria"/>
                <a:cs typeface="Cambria"/>
                <a:sym typeface="Cambria"/>
              </a:rPr>
              <a:t>Write a Program to Implement Huffman coding.</a:t>
            </a:r>
            <a:endParaRPr/>
          </a:p>
          <a:p>
            <a:pPr indent="0" lvl="0" marL="0" rtl="0" algn="just">
              <a:lnSpc>
                <a:spcPct val="90000"/>
              </a:lnSpc>
              <a:spcBef>
                <a:spcPts val="1000"/>
              </a:spcBef>
              <a:spcAft>
                <a:spcPts val="0"/>
              </a:spcAft>
              <a:buClr>
                <a:srgbClr val="000000"/>
              </a:buClr>
              <a:buSzPts val="2400"/>
              <a:buNone/>
            </a:pPr>
            <a:r>
              <a:t/>
            </a:r>
            <a:endParaRPr sz="2400">
              <a:latin typeface="Cambria"/>
              <a:ea typeface="Cambria"/>
              <a:cs typeface="Cambria"/>
              <a:sym typeface="Cambria"/>
            </a:endParaRPr>
          </a:p>
          <a:p>
            <a:pPr indent="0" lvl="0" marL="0" rtl="0" algn="just">
              <a:lnSpc>
                <a:spcPct val="90000"/>
              </a:lnSpc>
              <a:spcBef>
                <a:spcPts val="1000"/>
              </a:spcBef>
              <a:spcAft>
                <a:spcPts val="0"/>
              </a:spcAft>
              <a:buClr>
                <a:srgbClr val="000000"/>
              </a:buClr>
              <a:buSzPts val="2800"/>
              <a:buNone/>
            </a:pPr>
            <a:r>
              <a:rPr lang="en-US">
                <a:latin typeface="Cambria"/>
                <a:ea typeface="Cambria"/>
                <a:cs typeface="Cambria"/>
                <a:sym typeface="Cambria"/>
              </a:rPr>
              <a:t>Problem Overview</a:t>
            </a:r>
            <a:endParaRPr/>
          </a:p>
          <a:p>
            <a:pPr indent="0" lvl="0" marL="0" rtl="0" algn="just">
              <a:lnSpc>
                <a:spcPct val="90000"/>
              </a:lnSpc>
              <a:spcBef>
                <a:spcPts val="1000"/>
              </a:spcBef>
              <a:spcAft>
                <a:spcPts val="0"/>
              </a:spcAft>
              <a:buClr>
                <a:srgbClr val="000000"/>
              </a:buClr>
              <a:buSzPts val="2400"/>
              <a:buNone/>
            </a:pPr>
            <a:r>
              <a:rPr lang="en-US" sz="2400">
                <a:latin typeface="Cambria"/>
                <a:ea typeface="Cambria"/>
                <a:cs typeface="Cambria"/>
                <a:sym typeface="Cambria"/>
              </a:rPr>
              <a:t>Given a string S of distinct character of size N and their corresponding frequency f[ ] i.e. character S[i] has f[i] frequency. Your task is to build the Huffman tree print all the huffman codes in preorder traversal of the tree.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sp>
        <p:nvSpPr>
          <p:cNvPr id="79" name="Google Shape;79;p4"/>
          <p:cNvSpPr txBox="1"/>
          <p:nvPr>
            <p:ph idx="4294967295" type="body"/>
          </p:nvPr>
        </p:nvSpPr>
        <p:spPr>
          <a:xfrm>
            <a:off x="6261941" y="1152757"/>
            <a:ext cx="5073300" cy="52008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000000"/>
              </a:buClr>
              <a:buSzPts val="2136"/>
              <a:buNone/>
            </a:pPr>
            <a:r>
              <a:rPr lang="en-US" sz="2136">
                <a:latin typeface="Cambria"/>
                <a:ea typeface="Cambria"/>
                <a:cs typeface="Cambria"/>
                <a:sym typeface="Cambria"/>
              </a:rPr>
              <a:t>Example 1:</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S = "abcdef"</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f[] = {5, 9, 12, 13, 16, 45}</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Output: </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0 100 101 1100 1101 111</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Explanation:</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HuffmanCodes will be:</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f : 0</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c : 100</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d : 101</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a : 1100</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b : 1101</a:t>
            </a:r>
            <a:endParaRPr/>
          </a:p>
          <a:p>
            <a:pPr indent="0" lvl="0" marL="0" rtl="0" algn="l">
              <a:lnSpc>
                <a:spcPct val="90000"/>
              </a:lnSpc>
              <a:spcBef>
                <a:spcPts val="800"/>
              </a:spcBef>
              <a:spcAft>
                <a:spcPts val="0"/>
              </a:spcAft>
              <a:buClr>
                <a:srgbClr val="000000"/>
              </a:buClr>
              <a:buSzPts val="2045"/>
              <a:buNone/>
            </a:pPr>
            <a:r>
              <a:rPr lang="en-US" sz="2045">
                <a:latin typeface="Cambria"/>
                <a:ea typeface="Cambria"/>
                <a:cs typeface="Cambria"/>
                <a:sym typeface="Cambria"/>
              </a:rPr>
              <a:t>e : 111</a:t>
            </a:r>
            <a:endParaRPr/>
          </a:p>
        </p:txBody>
      </p:sp>
      <p:sp>
        <p:nvSpPr>
          <p:cNvPr id="80" name="Google Shape;80;p4"/>
          <p:cNvSpPr txBox="1"/>
          <p:nvPr/>
        </p:nvSpPr>
        <p:spPr>
          <a:xfrm>
            <a:off x="2179320" y="768991"/>
            <a:ext cx="3251400" cy="5692800"/>
          </a:xfrm>
          <a:prstGeom prst="rect">
            <a:avLst/>
          </a:prstGeom>
          <a:noFill/>
          <a:ln>
            <a:noFill/>
          </a:ln>
        </p:spPr>
        <p:txBody>
          <a:bodyPr anchorCtr="0" anchor="t" bIns="45700" lIns="45700" spcFirstLastPara="1" rIns="45700" wrap="square" tIns="45700">
            <a:normAutofit/>
          </a:bodyPr>
          <a:lstStyle/>
          <a:p>
            <a:pPr indent="0" lvl="0" marL="0" marR="0" rtl="0" algn="just">
              <a:lnSpc>
                <a:spcPct val="90000"/>
              </a:lnSpc>
              <a:spcBef>
                <a:spcPts val="0"/>
              </a:spcBef>
              <a:spcAft>
                <a:spcPts val="0"/>
              </a:spcAft>
              <a:buClr>
                <a:srgbClr val="000000"/>
              </a:buClr>
              <a:buSzPts val="2400"/>
              <a:buFont typeface="Cambria"/>
              <a:buNone/>
            </a:pPr>
            <a:r>
              <a:t/>
            </a:r>
            <a:endParaRPr b="0" i="0" sz="2400" u="none" cap="none" strike="noStrike">
              <a:solidFill>
                <a:srgbClr val="000000"/>
              </a:solidFill>
              <a:latin typeface="Cambria"/>
              <a:ea typeface="Cambria"/>
              <a:cs typeface="Cambria"/>
              <a:sym typeface="Cambria"/>
            </a:endParaRPr>
          </a:p>
          <a:p>
            <a:pPr indent="0" lvl="0" marL="0" marR="0" rtl="0" algn="just">
              <a:lnSpc>
                <a:spcPct val="90000"/>
              </a:lnSpc>
              <a:spcBef>
                <a:spcPts val="100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Note: </a:t>
            </a:r>
            <a:endParaRPr b="0" i="0" sz="2800" u="none" cap="none" strike="noStrike">
              <a:solidFill>
                <a:srgbClr val="000000"/>
              </a:solidFill>
              <a:latin typeface="Calibri"/>
              <a:ea typeface="Calibri"/>
              <a:cs typeface="Calibri"/>
              <a:sym typeface="Calibri"/>
            </a:endParaRPr>
          </a:p>
          <a:p>
            <a:pPr indent="0" lvl="0" marL="0" marR="0" rtl="0" algn="just">
              <a:lnSpc>
                <a:spcPct val="90000"/>
              </a:lnSpc>
              <a:spcBef>
                <a:spcPts val="100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While merging if two nodes have the same value, then the node which occurs at first will be taken on the left of Binary Tree and the other one to the right, otherwise Node with less value will be taken on the left of the subtree and other one to the right.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sp>
        <p:nvSpPr>
          <p:cNvPr id="85" name="Google Shape;85;p5"/>
          <p:cNvSpPr txBox="1"/>
          <p:nvPr>
            <p:ph idx="4294967295" type="body"/>
          </p:nvPr>
        </p:nvSpPr>
        <p:spPr>
          <a:xfrm>
            <a:off x="990599" y="2073532"/>
            <a:ext cx="9721500" cy="4351200"/>
          </a:xfrm>
          <a:prstGeom prst="rect">
            <a:avLst/>
          </a:prstGeom>
          <a:noFill/>
          <a:ln>
            <a:noFill/>
          </a:ln>
        </p:spPr>
        <p:txBody>
          <a:bodyPr anchorCtr="0" anchor="t" bIns="45700" lIns="45700" spcFirstLastPara="1" rIns="45700" wrap="square" tIns="45700">
            <a:normAutofit/>
          </a:bodyPr>
          <a:lstStyle/>
          <a:p>
            <a:pPr indent="0" lvl="0" marL="0" rtl="0" algn="just">
              <a:lnSpc>
                <a:spcPct val="90000"/>
              </a:lnSpc>
              <a:spcBef>
                <a:spcPts val="0"/>
              </a:spcBef>
              <a:spcAft>
                <a:spcPts val="0"/>
              </a:spcAft>
              <a:buClr>
                <a:srgbClr val="000000"/>
              </a:buClr>
              <a:buSzPts val="2800"/>
              <a:buNone/>
            </a:pPr>
            <a:r>
              <a:rPr lang="en-US">
                <a:latin typeface="Cambria"/>
                <a:ea typeface="Cambria"/>
                <a:cs typeface="Cambria"/>
                <a:sym typeface="Cambria"/>
              </a:rPr>
              <a:t>What is Huffman Coding?</a:t>
            </a:r>
            <a:endParaRPr/>
          </a:p>
          <a:p>
            <a:pPr indent="0" lvl="0" marL="0" rtl="0" algn="just">
              <a:lnSpc>
                <a:spcPct val="90000"/>
              </a:lnSpc>
              <a:spcBef>
                <a:spcPts val="1000"/>
              </a:spcBef>
              <a:spcAft>
                <a:spcPts val="0"/>
              </a:spcAft>
              <a:buClr>
                <a:srgbClr val="000000"/>
              </a:buClr>
              <a:buSzPts val="2800"/>
              <a:buNone/>
            </a:pPr>
            <a:r>
              <a:t/>
            </a:r>
            <a:endParaRPr>
              <a:latin typeface="Cambria"/>
              <a:ea typeface="Cambria"/>
              <a:cs typeface="Cambria"/>
              <a:sym typeface="Cambria"/>
            </a:endParaRPr>
          </a:p>
          <a:p>
            <a:pPr indent="-228600" lvl="1" marL="685800" rtl="0" algn="just">
              <a:lnSpc>
                <a:spcPct val="100000"/>
              </a:lnSpc>
              <a:spcBef>
                <a:spcPts val="500"/>
              </a:spcBef>
              <a:spcAft>
                <a:spcPts val="0"/>
              </a:spcAft>
              <a:buClr>
                <a:srgbClr val="000000"/>
              </a:buClr>
              <a:buSzPts val="2400"/>
              <a:buChar char="•"/>
            </a:pPr>
            <a:r>
              <a:rPr lang="en-US" sz="2400">
                <a:latin typeface="Cambria"/>
                <a:ea typeface="Cambria"/>
                <a:cs typeface="Cambria"/>
                <a:sym typeface="Cambria"/>
              </a:rPr>
              <a:t>Huffman Coding is a lossless compression technique that reduces file size by encoding data efficiently.</a:t>
            </a:r>
            <a:endParaRPr/>
          </a:p>
          <a:p>
            <a:pPr indent="-228600" lvl="1" marL="685800" rtl="0" algn="just">
              <a:lnSpc>
                <a:spcPct val="100000"/>
              </a:lnSpc>
              <a:spcBef>
                <a:spcPts val="500"/>
              </a:spcBef>
              <a:spcAft>
                <a:spcPts val="0"/>
              </a:spcAft>
              <a:buClr>
                <a:srgbClr val="000000"/>
              </a:buClr>
              <a:buSzPts val="2400"/>
              <a:buChar char="•"/>
            </a:pPr>
            <a:r>
              <a:rPr lang="en-US" sz="2400">
                <a:latin typeface="Cambria"/>
                <a:ea typeface="Cambria"/>
                <a:cs typeface="Cambria"/>
                <a:sym typeface="Cambria"/>
              </a:rPr>
              <a:t>It assigns shorter binary codes to more frequent characters and longer codes to less frequent ones.</a:t>
            </a:r>
            <a:endParaRPr/>
          </a:p>
          <a:p>
            <a:pPr indent="-228600" lvl="1" marL="685800" rtl="0" algn="just">
              <a:lnSpc>
                <a:spcPct val="100000"/>
              </a:lnSpc>
              <a:spcBef>
                <a:spcPts val="500"/>
              </a:spcBef>
              <a:spcAft>
                <a:spcPts val="0"/>
              </a:spcAft>
              <a:buClr>
                <a:srgbClr val="000000"/>
              </a:buClr>
              <a:buSzPts val="2400"/>
              <a:buChar char="•"/>
            </a:pPr>
            <a:r>
              <a:rPr lang="en-US" sz="2400">
                <a:latin typeface="Cambria"/>
                <a:ea typeface="Cambria"/>
                <a:cs typeface="Cambria"/>
                <a:sym typeface="Cambria"/>
              </a:rPr>
              <a:t>This method ensures that no code is a prefix of another, making decoding unique and reliable.</a:t>
            </a:r>
            <a:endParaRPr/>
          </a:p>
          <a:p>
            <a:pPr indent="-228600" lvl="1" marL="685800" rtl="0" algn="just">
              <a:lnSpc>
                <a:spcPct val="100000"/>
              </a:lnSpc>
              <a:spcBef>
                <a:spcPts val="500"/>
              </a:spcBef>
              <a:spcAft>
                <a:spcPts val="0"/>
              </a:spcAft>
              <a:buClr>
                <a:srgbClr val="000000"/>
              </a:buClr>
              <a:buSzPts val="2400"/>
              <a:buChar char="•"/>
            </a:pPr>
            <a:r>
              <a:rPr lang="en-US" sz="2400">
                <a:latin typeface="Cambria"/>
                <a:ea typeface="Cambria"/>
                <a:cs typeface="Cambria"/>
                <a:sym typeface="Cambria"/>
              </a:rPr>
              <a:t>It was developed by David A. Huffman in 1952 and is widely used in compression tools.</a:t>
            </a:r>
            <a:endParaRPr/>
          </a:p>
        </p:txBody>
      </p:sp>
      <p:sp>
        <p:nvSpPr>
          <p:cNvPr id="86" name="Google Shape;86;p5"/>
          <p:cNvSpPr txBox="1"/>
          <p:nvPr>
            <p:ph idx="4294967295" type="title"/>
          </p:nvPr>
        </p:nvSpPr>
        <p:spPr>
          <a:xfrm>
            <a:off x="838200" y="711354"/>
            <a:ext cx="105156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lang="en-US" sz="4000">
                <a:latin typeface="Cambria"/>
                <a:ea typeface="Cambria"/>
                <a:cs typeface="Cambria"/>
                <a:sym typeface="Cambria"/>
              </a:rPr>
              <a:t>Concept: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 name="Shape 90"/>
        <p:cNvGrpSpPr/>
        <p:nvPr/>
      </p:nvGrpSpPr>
      <p:grpSpPr>
        <a:xfrm>
          <a:off x="0" y="0"/>
          <a:ext cx="0" cy="0"/>
          <a:chOff x="0" y="0"/>
          <a:chExt cx="0" cy="0"/>
        </a:xfrm>
      </p:grpSpPr>
      <p:sp>
        <p:nvSpPr>
          <p:cNvPr id="91" name="Google Shape;91;p6"/>
          <p:cNvSpPr txBox="1"/>
          <p:nvPr>
            <p:ph idx="4294967295" type="body"/>
          </p:nvPr>
        </p:nvSpPr>
        <p:spPr>
          <a:xfrm>
            <a:off x="990599" y="2140115"/>
            <a:ext cx="9721500" cy="4351200"/>
          </a:xfrm>
          <a:prstGeom prst="rect">
            <a:avLst/>
          </a:prstGeom>
          <a:noFill/>
          <a:ln>
            <a:noFill/>
          </a:ln>
        </p:spPr>
        <p:txBody>
          <a:bodyPr anchorCtr="0" anchor="t" bIns="45700" lIns="45700" spcFirstLastPara="1" rIns="45700" wrap="square" tIns="45700">
            <a:normAutofit/>
          </a:bodyPr>
          <a:lstStyle/>
          <a:p>
            <a:pPr indent="0" lvl="0" marL="0" rtl="0" algn="just">
              <a:lnSpc>
                <a:spcPct val="90000"/>
              </a:lnSpc>
              <a:spcBef>
                <a:spcPts val="0"/>
              </a:spcBef>
              <a:spcAft>
                <a:spcPts val="0"/>
              </a:spcAft>
              <a:buClr>
                <a:srgbClr val="000000"/>
              </a:buClr>
              <a:buSzPts val="2800"/>
              <a:buNone/>
            </a:pPr>
            <a:r>
              <a:rPr lang="en-US">
                <a:latin typeface="Cambria"/>
                <a:ea typeface="Cambria"/>
                <a:cs typeface="Cambria"/>
                <a:sym typeface="Cambria"/>
              </a:rPr>
              <a:t>Why Huffman Coding?</a:t>
            </a:r>
            <a:endParaRPr/>
          </a:p>
          <a:p>
            <a:pPr indent="0" lvl="0" marL="0" rtl="0" algn="just">
              <a:lnSpc>
                <a:spcPct val="90000"/>
              </a:lnSpc>
              <a:spcBef>
                <a:spcPts val="1000"/>
              </a:spcBef>
              <a:spcAft>
                <a:spcPts val="0"/>
              </a:spcAft>
              <a:buClr>
                <a:srgbClr val="000000"/>
              </a:buClr>
              <a:buSzPts val="2800"/>
              <a:buNone/>
            </a:pPr>
            <a:r>
              <a:t/>
            </a:r>
            <a:endParaRPr>
              <a:latin typeface="Cambria"/>
              <a:ea typeface="Cambria"/>
              <a:cs typeface="Cambria"/>
              <a:sym typeface="Cambria"/>
            </a:endParaRPr>
          </a:p>
          <a:p>
            <a:pPr indent="-228600" lvl="1" marL="685800" rtl="0" algn="just">
              <a:lnSpc>
                <a:spcPct val="100000"/>
              </a:lnSpc>
              <a:spcBef>
                <a:spcPts val="500"/>
              </a:spcBef>
              <a:spcAft>
                <a:spcPts val="0"/>
              </a:spcAft>
              <a:buClr>
                <a:srgbClr val="000000"/>
              </a:buClr>
              <a:buSzPts val="2400"/>
              <a:buChar char="•"/>
            </a:pPr>
            <a:r>
              <a:rPr lang="en-US" sz="2400">
                <a:latin typeface="Cambria"/>
                <a:ea typeface="Cambria"/>
                <a:cs typeface="Cambria"/>
                <a:sym typeface="Cambria"/>
              </a:rPr>
              <a:t>Data compression helps in saving storage space and reducing transmission time.</a:t>
            </a:r>
            <a:endParaRPr/>
          </a:p>
          <a:p>
            <a:pPr indent="-228600" lvl="1" marL="685800" rtl="0" algn="just">
              <a:lnSpc>
                <a:spcPct val="100000"/>
              </a:lnSpc>
              <a:spcBef>
                <a:spcPts val="500"/>
              </a:spcBef>
              <a:spcAft>
                <a:spcPts val="0"/>
              </a:spcAft>
              <a:buClr>
                <a:srgbClr val="000000"/>
              </a:buClr>
              <a:buSzPts val="2400"/>
              <a:buChar char="•"/>
            </a:pPr>
            <a:r>
              <a:rPr lang="en-US" sz="2400">
                <a:latin typeface="Cambria"/>
                <a:ea typeface="Cambria"/>
                <a:cs typeface="Cambria"/>
                <a:sym typeface="Cambria"/>
              </a:rPr>
              <a:t>Huffman coding ensures that frequently used symbols consume fewer bits.</a:t>
            </a:r>
            <a:endParaRPr/>
          </a:p>
          <a:p>
            <a:pPr indent="-228600" lvl="1" marL="685800" rtl="0" algn="just">
              <a:lnSpc>
                <a:spcPct val="100000"/>
              </a:lnSpc>
              <a:spcBef>
                <a:spcPts val="500"/>
              </a:spcBef>
              <a:spcAft>
                <a:spcPts val="0"/>
              </a:spcAft>
              <a:buClr>
                <a:srgbClr val="000000"/>
              </a:buClr>
              <a:buSzPts val="2400"/>
              <a:buChar char="•"/>
            </a:pPr>
            <a:r>
              <a:rPr lang="en-US" sz="2400">
                <a:latin typeface="Cambria"/>
                <a:ea typeface="Cambria"/>
                <a:cs typeface="Cambria"/>
                <a:sym typeface="Cambria"/>
              </a:rPr>
              <a:t>It provides one of the most efficient variable-length encoding schemes.</a:t>
            </a:r>
            <a:endParaRPr/>
          </a:p>
          <a:p>
            <a:pPr indent="-228600" lvl="1" marL="685800" rtl="0" algn="just">
              <a:lnSpc>
                <a:spcPct val="100000"/>
              </a:lnSpc>
              <a:spcBef>
                <a:spcPts val="500"/>
              </a:spcBef>
              <a:spcAft>
                <a:spcPts val="0"/>
              </a:spcAft>
              <a:buClr>
                <a:srgbClr val="000000"/>
              </a:buClr>
              <a:buSzPts val="2400"/>
              <a:buChar char="•"/>
            </a:pPr>
            <a:r>
              <a:rPr lang="en-US" sz="2400">
                <a:latin typeface="Cambria"/>
                <a:ea typeface="Cambria"/>
                <a:cs typeface="Cambria"/>
                <a:sym typeface="Cambria"/>
              </a:rPr>
              <a:t>Applications include ZIP files, JPEG, MP3, and communication protocols.</a:t>
            </a:r>
            <a:endParaRPr/>
          </a:p>
        </p:txBody>
      </p:sp>
      <p:sp>
        <p:nvSpPr>
          <p:cNvPr id="92" name="Google Shape;92;p6"/>
          <p:cNvSpPr txBox="1"/>
          <p:nvPr>
            <p:ph idx="4294967295" type="title"/>
          </p:nvPr>
        </p:nvSpPr>
        <p:spPr>
          <a:xfrm>
            <a:off x="838200" y="777937"/>
            <a:ext cx="105156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lang="en-US" sz="4000">
                <a:latin typeface="Cambria"/>
                <a:ea typeface="Cambria"/>
                <a:cs typeface="Cambria"/>
                <a:sym typeface="Cambria"/>
              </a:rPr>
              <a:t>Concept: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sp>
        <p:nvSpPr>
          <p:cNvPr id="97" name="Google Shape;97;p7"/>
          <p:cNvSpPr txBox="1"/>
          <p:nvPr>
            <p:ph idx="4294967295" type="body"/>
          </p:nvPr>
        </p:nvSpPr>
        <p:spPr>
          <a:xfrm>
            <a:off x="990599" y="2140115"/>
            <a:ext cx="9721500" cy="4351200"/>
          </a:xfrm>
          <a:prstGeom prst="rect">
            <a:avLst/>
          </a:prstGeom>
          <a:noFill/>
          <a:ln>
            <a:noFill/>
          </a:ln>
        </p:spPr>
        <p:txBody>
          <a:bodyPr anchorCtr="0" anchor="t" bIns="45700" lIns="45700" spcFirstLastPara="1" rIns="45700" wrap="square" tIns="45700">
            <a:normAutofit/>
          </a:bodyPr>
          <a:lstStyle/>
          <a:p>
            <a:pPr indent="0" lvl="0" marL="0" rtl="0" algn="just">
              <a:lnSpc>
                <a:spcPct val="90000"/>
              </a:lnSpc>
              <a:spcBef>
                <a:spcPts val="0"/>
              </a:spcBef>
              <a:spcAft>
                <a:spcPts val="0"/>
              </a:spcAft>
              <a:buClr>
                <a:srgbClr val="000000"/>
              </a:buClr>
              <a:buSzPts val="2800"/>
              <a:buNone/>
            </a:pPr>
            <a:r>
              <a:rPr lang="en-US">
                <a:latin typeface="Cambria"/>
                <a:ea typeface="Cambria"/>
                <a:cs typeface="Cambria"/>
                <a:sym typeface="Cambria"/>
              </a:rPr>
              <a:t>Steps in Huffman Coding</a:t>
            </a:r>
            <a:endParaRPr/>
          </a:p>
          <a:p>
            <a:pPr indent="0" lvl="0" marL="0" rtl="0" algn="just">
              <a:lnSpc>
                <a:spcPct val="90000"/>
              </a:lnSpc>
              <a:spcBef>
                <a:spcPts val="1000"/>
              </a:spcBef>
              <a:spcAft>
                <a:spcPts val="0"/>
              </a:spcAft>
              <a:buClr>
                <a:srgbClr val="000000"/>
              </a:buClr>
              <a:buSzPts val="2800"/>
              <a:buNone/>
            </a:pPr>
            <a:r>
              <a:t/>
            </a:r>
            <a:endParaRPr>
              <a:latin typeface="Cambria"/>
              <a:ea typeface="Cambria"/>
              <a:cs typeface="Cambria"/>
              <a:sym typeface="Cambria"/>
            </a:endParaRPr>
          </a:p>
          <a:p>
            <a:pPr indent="-457200" lvl="1" marL="914400" rtl="0" algn="just">
              <a:lnSpc>
                <a:spcPct val="100000"/>
              </a:lnSpc>
              <a:spcBef>
                <a:spcPts val="500"/>
              </a:spcBef>
              <a:spcAft>
                <a:spcPts val="0"/>
              </a:spcAft>
              <a:buClr>
                <a:srgbClr val="000000"/>
              </a:buClr>
              <a:buSzPts val="2400"/>
              <a:buFont typeface="Cambria"/>
              <a:buAutoNum type="arabicPeriod"/>
            </a:pPr>
            <a:r>
              <a:rPr lang="en-US" sz="2400">
                <a:latin typeface="Cambria"/>
                <a:ea typeface="Cambria"/>
                <a:cs typeface="Cambria"/>
                <a:sym typeface="Cambria"/>
              </a:rPr>
              <a:t>Count the frequency of each character in the data.</a:t>
            </a:r>
            <a:endParaRPr/>
          </a:p>
          <a:p>
            <a:pPr indent="-457200" lvl="1" marL="914400" rtl="0" algn="just">
              <a:lnSpc>
                <a:spcPct val="100000"/>
              </a:lnSpc>
              <a:spcBef>
                <a:spcPts val="500"/>
              </a:spcBef>
              <a:spcAft>
                <a:spcPts val="0"/>
              </a:spcAft>
              <a:buClr>
                <a:srgbClr val="000000"/>
              </a:buClr>
              <a:buSzPts val="2400"/>
              <a:buFont typeface="Cambria"/>
              <a:buAutoNum type="arabicPeriod"/>
            </a:pPr>
            <a:r>
              <a:rPr lang="en-US" sz="2400">
                <a:latin typeface="Cambria"/>
                <a:ea typeface="Cambria"/>
                <a:cs typeface="Cambria"/>
                <a:sym typeface="Cambria"/>
              </a:rPr>
              <a:t>Create a min-heap (priority queue) containing all characters with their frequencies.</a:t>
            </a:r>
            <a:endParaRPr/>
          </a:p>
          <a:p>
            <a:pPr indent="-457200" lvl="1" marL="914400" rtl="0" algn="just">
              <a:lnSpc>
                <a:spcPct val="100000"/>
              </a:lnSpc>
              <a:spcBef>
                <a:spcPts val="500"/>
              </a:spcBef>
              <a:spcAft>
                <a:spcPts val="0"/>
              </a:spcAft>
              <a:buClr>
                <a:srgbClr val="000000"/>
              </a:buClr>
              <a:buSzPts val="2400"/>
              <a:buFont typeface="Cambria"/>
              <a:buAutoNum type="arabicPeriod"/>
            </a:pPr>
            <a:r>
              <a:rPr lang="en-US" sz="2400">
                <a:latin typeface="Cambria"/>
                <a:ea typeface="Cambria"/>
                <a:cs typeface="Cambria"/>
                <a:sym typeface="Cambria"/>
              </a:rPr>
              <a:t>Repeatedly extract two smallest nodes and merge them into one node.</a:t>
            </a:r>
            <a:endParaRPr/>
          </a:p>
          <a:p>
            <a:pPr indent="-457200" lvl="1" marL="914400" rtl="0" algn="just">
              <a:lnSpc>
                <a:spcPct val="100000"/>
              </a:lnSpc>
              <a:spcBef>
                <a:spcPts val="500"/>
              </a:spcBef>
              <a:spcAft>
                <a:spcPts val="0"/>
              </a:spcAft>
              <a:buClr>
                <a:srgbClr val="000000"/>
              </a:buClr>
              <a:buSzPts val="2400"/>
              <a:buFont typeface="Cambria"/>
              <a:buAutoNum type="arabicPeriod"/>
            </a:pPr>
            <a:r>
              <a:rPr lang="en-US" sz="2400">
                <a:latin typeface="Cambria"/>
                <a:ea typeface="Cambria"/>
                <a:cs typeface="Cambria"/>
                <a:sym typeface="Cambria"/>
              </a:rPr>
              <a:t>Continue until one node remains, which becomes the root of the Huffman Tree.</a:t>
            </a:r>
            <a:endParaRPr/>
          </a:p>
        </p:txBody>
      </p:sp>
      <p:sp>
        <p:nvSpPr>
          <p:cNvPr id="98" name="Google Shape;98;p7"/>
          <p:cNvSpPr txBox="1"/>
          <p:nvPr>
            <p:ph idx="4294967295" type="title"/>
          </p:nvPr>
        </p:nvSpPr>
        <p:spPr>
          <a:xfrm>
            <a:off x="838200" y="777937"/>
            <a:ext cx="105156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lang="en-US" sz="4000">
                <a:latin typeface="Cambria"/>
                <a:ea typeface="Cambria"/>
                <a:cs typeface="Cambria"/>
                <a:sym typeface="Cambria"/>
              </a:rPr>
              <a:t>Concept: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 name="Shape 102"/>
        <p:cNvGrpSpPr/>
        <p:nvPr/>
      </p:nvGrpSpPr>
      <p:grpSpPr>
        <a:xfrm>
          <a:off x="0" y="0"/>
          <a:ext cx="0" cy="0"/>
          <a:chOff x="0" y="0"/>
          <a:chExt cx="0" cy="0"/>
        </a:xfrm>
      </p:grpSpPr>
      <p:sp>
        <p:nvSpPr>
          <p:cNvPr id="103" name="Google Shape;103;p8"/>
          <p:cNvSpPr txBox="1"/>
          <p:nvPr>
            <p:ph idx="4294967295" type="body"/>
          </p:nvPr>
        </p:nvSpPr>
        <p:spPr>
          <a:xfrm>
            <a:off x="990599" y="2126798"/>
            <a:ext cx="9721500" cy="4351200"/>
          </a:xfrm>
          <a:prstGeom prst="rect">
            <a:avLst/>
          </a:prstGeom>
          <a:noFill/>
          <a:ln>
            <a:noFill/>
          </a:ln>
        </p:spPr>
        <p:txBody>
          <a:bodyPr anchorCtr="0" anchor="t" bIns="45700" lIns="45700" spcFirstLastPara="1" rIns="45700" wrap="square" tIns="45700">
            <a:normAutofit/>
          </a:bodyPr>
          <a:lstStyle/>
          <a:p>
            <a:pPr indent="0" lvl="0" marL="0" rtl="0" algn="just">
              <a:lnSpc>
                <a:spcPct val="90000"/>
              </a:lnSpc>
              <a:spcBef>
                <a:spcPts val="0"/>
              </a:spcBef>
              <a:spcAft>
                <a:spcPts val="0"/>
              </a:spcAft>
              <a:buClr>
                <a:srgbClr val="000000"/>
              </a:buClr>
              <a:buSzPts val="2800"/>
              <a:buNone/>
            </a:pPr>
            <a:r>
              <a:rPr lang="en-US">
                <a:latin typeface="Cambria"/>
                <a:ea typeface="Cambria"/>
                <a:cs typeface="Cambria"/>
                <a:sym typeface="Cambria"/>
              </a:rPr>
              <a:t>Example – Building the Tree</a:t>
            </a:r>
            <a:endParaRPr/>
          </a:p>
          <a:p>
            <a:pPr indent="0" lvl="0" marL="0" rtl="0" algn="just">
              <a:lnSpc>
                <a:spcPct val="90000"/>
              </a:lnSpc>
              <a:spcBef>
                <a:spcPts val="1000"/>
              </a:spcBef>
              <a:spcAft>
                <a:spcPts val="0"/>
              </a:spcAft>
              <a:buClr>
                <a:srgbClr val="000000"/>
              </a:buClr>
              <a:buSzPts val="2800"/>
              <a:buNone/>
            </a:pPr>
            <a:r>
              <a:t/>
            </a:r>
            <a:endParaRPr>
              <a:latin typeface="Cambria"/>
              <a:ea typeface="Cambria"/>
              <a:cs typeface="Cambria"/>
              <a:sym typeface="Cambria"/>
            </a:endParaRPr>
          </a:p>
          <a:p>
            <a:pPr indent="457200" lvl="1" marL="0" rtl="0" algn="just">
              <a:lnSpc>
                <a:spcPct val="100000"/>
              </a:lnSpc>
              <a:spcBef>
                <a:spcPts val="500"/>
              </a:spcBef>
              <a:spcAft>
                <a:spcPts val="0"/>
              </a:spcAft>
              <a:buClr>
                <a:srgbClr val="000000"/>
              </a:buClr>
              <a:buSzPts val="2400"/>
              <a:buNone/>
            </a:pPr>
            <a:r>
              <a:rPr lang="en-US" sz="2400">
                <a:latin typeface="Cambria"/>
                <a:ea typeface="Cambria"/>
                <a:cs typeface="Cambria"/>
                <a:sym typeface="Cambria"/>
              </a:rPr>
              <a:t>Given Input:</a:t>
            </a:r>
            <a:endParaRPr/>
          </a:p>
          <a:p>
            <a:pPr indent="457200" lvl="1" marL="0" rtl="0" algn="just">
              <a:lnSpc>
                <a:spcPct val="100000"/>
              </a:lnSpc>
              <a:spcBef>
                <a:spcPts val="500"/>
              </a:spcBef>
              <a:spcAft>
                <a:spcPts val="0"/>
              </a:spcAft>
              <a:buClr>
                <a:srgbClr val="000000"/>
              </a:buClr>
              <a:buSzPts val="2400"/>
              <a:buNone/>
            </a:pPr>
            <a:r>
              <a:rPr lang="en-US" sz="2400">
                <a:latin typeface="Cambria"/>
                <a:ea typeface="Cambria"/>
                <a:cs typeface="Cambria"/>
                <a:sym typeface="Cambria"/>
              </a:rPr>
              <a:t>A:5, B:9, C:12, D:13, E:16, F:45</a:t>
            </a:r>
            <a:endParaRPr/>
          </a:p>
          <a:p>
            <a:pPr indent="457200" lvl="1" marL="0" rtl="0" algn="just">
              <a:lnSpc>
                <a:spcPct val="100000"/>
              </a:lnSpc>
              <a:spcBef>
                <a:spcPts val="500"/>
              </a:spcBef>
              <a:spcAft>
                <a:spcPts val="0"/>
              </a:spcAft>
              <a:buClr>
                <a:srgbClr val="000000"/>
              </a:buClr>
              <a:buSzPts val="2400"/>
              <a:buNone/>
            </a:pPr>
            <a:r>
              <a:t/>
            </a:r>
            <a:endParaRPr sz="2400">
              <a:latin typeface="Cambria"/>
              <a:ea typeface="Cambria"/>
              <a:cs typeface="Cambria"/>
              <a:sym typeface="Cambria"/>
            </a:endParaRPr>
          </a:p>
          <a:p>
            <a:pPr indent="457200" lvl="1" marL="0" rtl="0" algn="just">
              <a:lnSpc>
                <a:spcPct val="100000"/>
              </a:lnSpc>
              <a:spcBef>
                <a:spcPts val="500"/>
              </a:spcBef>
              <a:spcAft>
                <a:spcPts val="0"/>
              </a:spcAft>
              <a:buClr>
                <a:srgbClr val="000000"/>
              </a:buClr>
              <a:buSzPts val="2400"/>
              <a:buNone/>
            </a:pPr>
            <a:r>
              <a:rPr lang="en-US" sz="2400">
                <a:latin typeface="Cambria"/>
                <a:ea typeface="Cambria"/>
                <a:cs typeface="Cambria"/>
                <a:sym typeface="Cambria"/>
              </a:rPr>
              <a:t>Step 1: Combine A and B → Node(14)</a:t>
            </a:r>
            <a:endParaRPr/>
          </a:p>
          <a:p>
            <a:pPr indent="457200" lvl="1" marL="0" rtl="0" algn="just">
              <a:lnSpc>
                <a:spcPct val="100000"/>
              </a:lnSpc>
              <a:spcBef>
                <a:spcPts val="500"/>
              </a:spcBef>
              <a:spcAft>
                <a:spcPts val="0"/>
              </a:spcAft>
              <a:buClr>
                <a:srgbClr val="000000"/>
              </a:buClr>
              <a:buSzPts val="2400"/>
              <a:buNone/>
            </a:pPr>
            <a:r>
              <a:rPr lang="en-US" sz="2400">
                <a:latin typeface="Cambria"/>
                <a:ea typeface="Cambria"/>
                <a:cs typeface="Cambria"/>
                <a:sym typeface="Cambria"/>
              </a:rPr>
              <a:t>Step 2: Combine C and D → Node(25)</a:t>
            </a:r>
            <a:endParaRPr/>
          </a:p>
          <a:p>
            <a:pPr indent="457200" lvl="1" marL="0" rtl="0" algn="just">
              <a:lnSpc>
                <a:spcPct val="100000"/>
              </a:lnSpc>
              <a:spcBef>
                <a:spcPts val="500"/>
              </a:spcBef>
              <a:spcAft>
                <a:spcPts val="0"/>
              </a:spcAft>
              <a:buClr>
                <a:srgbClr val="000000"/>
              </a:buClr>
              <a:buSzPts val="2400"/>
              <a:buNone/>
            </a:pPr>
            <a:r>
              <a:rPr lang="en-US" sz="2400">
                <a:latin typeface="Cambria"/>
                <a:ea typeface="Cambria"/>
                <a:cs typeface="Cambria"/>
                <a:sym typeface="Cambria"/>
              </a:rPr>
              <a:t>Step 3: Combine Node(14) and E → Node(30)</a:t>
            </a:r>
            <a:endParaRPr/>
          </a:p>
          <a:p>
            <a:pPr indent="457200" lvl="1" marL="0" rtl="0" algn="just">
              <a:lnSpc>
                <a:spcPct val="100000"/>
              </a:lnSpc>
              <a:spcBef>
                <a:spcPts val="500"/>
              </a:spcBef>
              <a:spcAft>
                <a:spcPts val="0"/>
              </a:spcAft>
              <a:buClr>
                <a:srgbClr val="000000"/>
              </a:buClr>
              <a:buSzPts val="2400"/>
              <a:buNone/>
            </a:pPr>
            <a:r>
              <a:rPr lang="en-US" sz="2400">
                <a:latin typeface="Cambria"/>
                <a:ea typeface="Cambria"/>
                <a:cs typeface="Cambria"/>
                <a:sym typeface="Cambria"/>
              </a:rPr>
              <a:t>Step 4: Continue merging until one root node remains → Node(100)</a:t>
            </a:r>
            <a:endParaRPr/>
          </a:p>
        </p:txBody>
      </p:sp>
      <p:sp>
        <p:nvSpPr>
          <p:cNvPr id="104" name="Google Shape;104;p8"/>
          <p:cNvSpPr txBox="1"/>
          <p:nvPr>
            <p:ph idx="4294967295" type="title"/>
          </p:nvPr>
        </p:nvSpPr>
        <p:spPr>
          <a:xfrm>
            <a:off x="838200" y="764620"/>
            <a:ext cx="105156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lang="en-US" sz="4000">
                <a:latin typeface="Cambria"/>
                <a:ea typeface="Cambria"/>
                <a:cs typeface="Cambria"/>
                <a:sym typeface="Cambria"/>
              </a:rPr>
              <a:t>Concept: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pic>
        <p:nvPicPr>
          <p:cNvPr descr="Picture 5" id="109" name="Google Shape;109;p9"/>
          <p:cNvPicPr preferRelativeResize="0"/>
          <p:nvPr/>
        </p:nvPicPr>
        <p:blipFill rotWithShape="1">
          <a:blip r:embed="rId4">
            <a:alphaModFix/>
          </a:blip>
          <a:srcRect b="0" l="0" r="0" t="0"/>
          <a:stretch/>
        </p:blipFill>
        <p:spPr>
          <a:xfrm>
            <a:off x="2771139" y="2280498"/>
            <a:ext cx="6649720" cy="4147822"/>
          </a:xfrm>
          <a:prstGeom prst="rect">
            <a:avLst/>
          </a:prstGeom>
          <a:noFill/>
          <a:ln>
            <a:noFill/>
          </a:ln>
        </p:spPr>
      </p:pic>
      <p:sp>
        <p:nvSpPr>
          <p:cNvPr id="110" name="Google Shape;110;p9"/>
          <p:cNvSpPr txBox="1"/>
          <p:nvPr/>
        </p:nvSpPr>
        <p:spPr>
          <a:xfrm>
            <a:off x="883919" y="831203"/>
            <a:ext cx="104241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b="0" i="0" lang="en-US" sz="4000" u="none" cap="none" strike="noStrike">
                <a:solidFill>
                  <a:srgbClr val="000000"/>
                </a:solidFill>
                <a:latin typeface="Cambria"/>
                <a:ea typeface="Cambria"/>
                <a:cs typeface="Cambria"/>
                <a:sym typeface="Cambria"/>
              </a:rPr>
              <a:t>Huffman Tree Visualization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sp>
        <p:nvSpPr>
          <p:cNvPr id="115" name="Google Shape;115;p10"/>
          <p:cNvSpPr txBox="1"/>
          <p:nvPr/>
        </p:nvSpPr>
        <p:spPr>
          <a:xfrm>
            <a:off x="1264550" y="2540743"/>
            <a:ext cx="10244400" cy="3417000"/>
          </a:xfrm>
          <a:prstGeom prst="rect">
            <a:avLst/>
          </a:prstGeom>
          <a:noFill/>
          <a:ln>
            <a:noFill/>
          </a:ln>
        </p:spPr>
        <p:txBody>
          <a:bodyPr anchorCtr="0" anchor="t" bIns="45700" lIns="45700" spcFirstLastPara="1" rIns="45700" wrap="square" tIns="45700">
            <a:spAutoFit/>
          </a:bodyPr>
          <a:lstStyle/>
          <a:p>
            <a:pPr indent="-457200" lvl="0" marL="457200" marR="0" rtl="0" algn="l">
              <a:lnSpc>
                <a:spcPct val="100000"/>
              </a:lnSpc>
              <a:spcBef>
                <a:spcPts val="0"/>
              </a:spcBef>
              <a:spcAft>
                <a:spcPts val="0"/>
              </a:spcAft>
              <a:buClr>
                <a:srgbClr val="000000"/>
              </a:buClr>
              <a:buSzPts val="2160"/>
              <a:buFont typeface="Cambria"/>
              <a:buAutoNum type="arabicPeriod"/>
            </a:pPr>
            <a:r>
              <a:rPr b="0" i="0" lang="en-US" sz="2400" u="none" cap="none" strike="noStrike">
                <a:solidFill>
                  <a:srgbClr val="000000"/>
                </a:solidFill>
                <a:latin typeface="Cambria"/>
                <a:ea typeface="Cambria"/>
                <a:cs typeface="Cambria"/>
                <a:sym typeface="Cambria"/>
              </a:rPr>
              <a:t>Insert all characters into a priority queue with their frequencies.</a:t>
            </a:r>
            <a:endParaRPr b="0" i="0" sz="1400" u="none" cap="none" strike="noStrike">
              <a:solidFill>
                <a:srgbClr val="000000"/>
              </a:solidFill>
              <a:latin typeface="Arial"/>
              <a:ea typeface="Arial"/>
              <a:cs typeface="Arial"/>
              <a:sym typeface="Arial"/>
            </a:endParaRPr>
          </a:p>
          <a:p>
            <a:pPr indent="-320040" lvl="0" marL="457200" marR="0" rtl="0" algn="l">
              <a:lnSpc>
                <a:spcPct val="100000"/>
              </a:lnSpc>
              <a:spcBef>
                <a:spcPts val="0"/>
              </a:spcBef>
              <a:spcAft>
                <a:spcPts val="0"/>
              </a:spcAft>
              <a:buClr>
                <a:srgbClr val="000000"/>
              </a:buClr>
              <a:buSzPts val="2160"/>
              <a:buFont typeface="Cambria"/>
              <a:buNone/>
            </a:pPr>
            <a:r>
              <a:t/>
            </a:r>
            <a:endParaRPr b="0" i="0" sz="2400" u="none" cap="none" strike="noStrike">
              <a:solidFill>
                <a:srgbClr val="000000"/>
              </a:solidFill>
              <a:latin typeface="Cambria"/>
              <a:ea typeface="Cambria"/>
              <a:cs typeface="Cambria"/>
              <a:sym typeface="Cambria"/>
            </a:endParaRPr>
          </a:p>
          <a:p>
            <a:pPr indent="-457200" lvl="0" marL="457200" marR="0" rtl="0" algn="l">
              <a:lnSpc>
                <a:spcPct val="100000"/>
              </a:lnSpc>
              <a:spcBef>
                <a:spcPts val="0"/>
              </a:spcBef>
              <a:spcAft>
                <a:spcPts val="0"/>
              </a:spcAft>
              <a:buClr>
                <a:srgbClr val="000000"/>
              </a:buClr>
              <a:buSzPts val="2160"/>
              <a:buFont typeface="Cambria"/>
              <a:buAutoNum type="arabicPeriod"/>
            </a:pPr>
            <a:r>
              <a:rPr b="0" i="0" lang="en-US" sz="2400" u="none" cap="none" strike="noStrike">
                <a:solidFill>
                  <a:srgbClr val="000000"/>
                </a:solidFill>
                <a:latin typeface="Cambria"/>
                <a:ea typeface="Cambria"/>
                <a:cs typeface="Cambria"/>
                <a:sym typeface="Cambria"/>
              </a:rPr>
              <a:t>While more than one node exists, remove two smallest nodes and combine them.</a:t>
            </a:r>
            <a:endParaRPr b="0" i="0" sz="1400" u="none" cap="none" strike="noStrike">
              <a:solidFill>
                <a:srgbClr val="000000"/>
              </a:solidFill>
              <a:latin typeface="Arial"/>
              <a:ea typeface="Arial"/>
              <a:cs typeface="Arial"/>
              <a:sym typeface="Arial"/>
            </a:endParaRPr>
          </a:p>
          <a:p>
            <a:pPr indent="-320040" lvl="0" marL="457200" marR="0" rtl="0" algn="l">
              <a:lnSpc>
                <a:spcPct val="100000"/>
              </a:lnSpc>
              <a:spcBef>
                <a:spcPts val="0"/>
              </a:spcBef>
              <a:spcAft>
                <a:spcPts val="0"/>
              </a:spcAft>
              <a:buClr>
                <a:srgbClr val="000000"/>
              </a:buClr>
              <a:buSzPts val="2160"/>
              <a:buFont typeface="Cambria"/>
              <a:buNone/>
            </a:pPr>
            <a:r>
              <a:t/>
            </a:r>
            <a:endParaRPr b="0" i="0" sz="2400" u="none" cap="none" strike="noStrike">
              <a:solidFill>
                <a:srgbClr val="000000"/>
              </a:solidFill>
              <a:latin typeface="Cambria"/>
              <a:ea typeface="Cambria"/>
              <a:cs typeface="Cambria"/>
              <a:sym typeface="Cambria"/>
            </a:endParaRPr>
          </a:p>
          <a:p>
            <a:pPr indent="-457200" lvl="0" marL="457200" marR="0" rtl="0" algn="l">
              <a:lnSpc>
                <a:spcPct val="100000"/>
              </a:lnSpc>
              <a:spcBef>
                <a:spcPts val="0"/>
              </a:spcBef>
              <a:spcAft>
                <a:spcPts val="0"/>
              </a:spcAft>
              <a:buClr>
                <a:srgbClr val="000000"/>
              </a:buClr>
              <a:buSzPts val="2160"/>
              <a:buFont typeface="Cambria"/>
              <a:buAutoNum type="arabicPeriod"/>
            </a:pPr>
            <a:r>
              <a:rPr b="0" i="0" lang="en-US" sz="2400" u="none" cap="none" strike="noStrike">
                <a:solidFill>
                  <a:srgbClr val="000000"/>
                </a:solidFill>
                <a:latin typeface="Cambria"/>
                <a:ea typeface="Cambria"/>
                <a:cs typeface="Cambria"/>
                <a:sym typeface="Cambria"/>
              </a:rPr>
              <a:t>Insert the new merged node back into the queue.</a:t>
            </a:r>
            <a:endParaRPr b="0" i="0" sz="1400" u="none" cap="none" strike="noStrike">
              <a:solidFill>
                <a:srgbClr val="000000"/>
              </a:solidFill>
              <a:latin typeface="Arial"/>
              <a:ea typeface="Arial"/>
              <a:cs typeface="Arial"/>
              <a:sym typeface="Arial"/>
            </a:endParaRPr>
          </a:p>
          <a:p>
            <a:pPr indent="-320040" lvl="0" marL="457200" marR="0" rtl="0" algn="l">
              <a:lnSpc>
                <a:spcPct val="100000"/>
              </a:lnSpc>
              <a:spcBef>
                <a:spcPts val="0"/>
              </a:spcBef>
              <a:spcAft>
                <a:spcPts val="0"/>
              </a:spcAft>
              <a:buClr>
                <a:srgbClr val="000000"/>
              </a:buClr>
              <a:buSzPts val="2160"/>
              <a:buFont typeface="Cambria"/>
              <a:buNone/>
            </a:pPr>
            <a:r>
              <a:t/>
            </a:r>
            <a:endParaRPr b="0" i="0" sz="2400" u="none" cap="none" strike="noStrike">
              <a:solidFill>
                <a:srgbClr val="000000"/>
              </a:solidFill>
              <a:latin typeface="Cambria"/>
              <a:ea typeface="Cambria"/>
              <a:cs typeface="Cambria"/>
              <a:sym typeface="Cambria"/>
            </a:endParaRPr>
          </a:p>
          <a:p>
            <a:pPr indent="-457200" lvl="0" marL="457200" marR="0" rtl="0" algn="l">
              <a:lnSpc>
                <a:spcPct val="100000"/>
              </a:lnSpc>
              <a:spcBef>
                <a:spcPts val="0"/>
              </a:spcBef>
              <a:spcAft>
                <a:spcPts val="0"/>
              </a:spcAft>
              <a:buClr>
                <a:srgbClr val="000000"/>
              </a:buClr>
              <a:buSzPts val="2160"/>
              <a:buFont typeface="Cambria"/>
              <a:buAutoNum type="arabicPeriod"/>
            </a:pPr>
            <a:r>
              <a:rPr b="0" i="0" lang="en-US" sz="2400" u="none" cap="none" strike="noStrike">
                <a:solidFill>
                  <a:srgbClr val="000000"/>
                </a:solidFill>
                <a:latin typeface="Cambria"/>
                <a:ea typeface="Cambria"/>
                <a:cs typeface="Cambria"/>
                <a:sym typeface="Cambria"/>
              </a:rPr>
              <a:t>When one node remains, traverse the tree assigning ‘0’ for left and ‘1’ for right to generate codes.</a:t>
            </a:r>
            <a:endParaRPr b="0" i="0" sz="1400" u="none" cap="none" strike="noStrike">
              <a:solidFill>
                <a:srgbClr val="000000"/>
              </a:solidFill>
              <a:latin typeface="Arial"/>
              <a:ea typeface="Arial"/>
              <a:cs typeface="Arial"/>
              <a:sym typeface="Arial"/>
            </a:endParaRPr>
          </a:p>
        </p:txBody>
      </p:sp>
      <p:sp>
        <p:nvSpPr>
          <p:cNvPr id="116" name="Google Shape;116;p10"/>
          <p:cNvSpPr txBox="1"/>
          <p:nvPr/>
        </p:nvSpPr>
        <p:spPr>
          <a:xfrm>
            <a:off x="883919" y="1097533"/>
            <a:ext cx="104241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b="0" i="0" lang="en-US" sz="4000" u="none" cap="none" strike="noStrike">
                <a:solidFill>
                  <a:srgbClr val="000000"/>
                </a:solidFill>
                <a:latin typeface="Cambria"/>
                <a:ea typeface="Cambria"/>
                <a:cs typeface="Cambria"/>
                <a:sym typeface="Cambria"/>
              </a:rPr>
              <a:t>Algorithm / Pseudocode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sp>
        <p:nvSpPr>
          <p:cNvPr id="121" name="Google Shape;121;p11"/>
          <p:cNvSpPr txBox="1"/>
          <p:nvPr>
            <p:ph idx="4294967295" type="body"/>
          </p:nvPr>
        </p:nvSpPr>
        <p:spPr>
          <a:xfrm>
            <a:off x="1229897" y="2002933"/>
            <a:ext cx="10515600" cy="4351200"/>
          </a:xfrm>
          <a:prstGeom prst="rect">
            <a:avLst/>
          </a:prstGeom>
          <a:noFill/>
          <a:ln>
            <a:noFill/>
          </a:ln>
        </p:spPr>
        <p:txBody>
          <a:bodyPr anchorCtr="0" anchor="t" bIns="45700" lIns="45700" spcFirstLastPara="1" rIns="45700" wrap="square" tIns="45700">
            <a:noAutofit/>
          </a:bodyPr>
          <a:lstStyle/>
          <a:p>
            <a:pPr indent="0" lvl="0" marL="0" rtl="0" algn="l">
              <a:lnSpc>
                <a:spcPct val="90000"/>
              </a:lnSpc>
              <a:spcBef>
                <a:spcPts val="0"/>
              </a:spcBef>
              <a:spcAft>
                <a:spcPts val="0"/>
              </a:spcAft>
              <a:buClr>
                <a:srgbClr val="000000"/>
              </a:buClr>
              <a:buSzPts val="1560"/>
              <a:buNone/>
            </a:pPr>
            <a:r>
              <a:rPr lang="en-US" sz="1960">
                <a:latin typeface="Cambria"/>
                <a:ea typeface="Cambria"/>
                <a:cs typeface="Cambria"/>
                <a:sym typeface="Cambria"/>
              </a:rPr>
              <a:t>import java.util.PriorityQueue;</a:t>
            </a:r>
            <a:endParaRPr sz="3200"/>
          </a:p>
          <a:p>
            <a:pPr indent="0" lvl="0" marL="0" rtl="0" algn="l">
              <a:lnSpc>
                <a:spcPct val="90000"/>
              </a:lnSpc>
              <a:spcBef>
                <a:spcPts val="600"/>
              </a:spcBef>
              <a:spcAft>
                <a:spcPts val="0"/>
              </a:spcAft>
              <a:buClr>
                <a:srgbClr val="000000"/>
              </a:buClr>
              <a:buSzPts val="1560"/>
              <a:buNone/>
            </a:pPr>
            <a:r>
              <a:t/>
            </a:r>
            <a:endParaRPr sz="1960">
              <a:latin typeface="Cambria"/>
              <a:ea typeface="Cambria"/>
              <a:cs typeface="Cambria"/>
              <a:sym typeface="Cambria"/>
            </a:endParaRPr>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class Node {</a:t>
            </a:r>
            <a:endParaRPr sz="3200"/>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    char ch;</a:t>
            </a:r>
            <a:endParaRPr sz="3200"/>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    int freq;</a:t>
            </a:r>
            <a:endParaRPr sz="3200"/>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    Node left, right;</a:t>
            </a:r>
            <a:endParaRPr sz="3200"/>
          </a:p>
          <a:p>
            <a:pPr indent="0" lvl="0" marL="0" rtl="0" algn="l">
              <a:lnSpc>
                <a:spcPct val="90000"/>
              </a:lnSpc>
              <a:spcBef>
                <a:spcPts val="600"/>
              </a:spcBef>
              <a:spcAft>
                <a:spcPts val="0"/>
              </a:spcAft>
              <a:buClr>
                <a:srgbClr val="000000"/>
              </a:buClr>
              <a:buSzPts val="1560"/>
              <a:buNone/>
            </a:pPr>
            <a:r>
              <a:t/>
            </a:r>
            <a:endParaRPr sz="1960">
              <a:latin typeface="Cambria"/>
              <a:ea typeface="Cambria"/>
              <a:cs typeface="Cambria"/>
              <a:sym typeface="Cambria"/>
            </a:endParaRPr>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    Node(char ch, int freq) {</a:t>
            </a:r>
            <a:endParaRPr sz="3200"/>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        this.ch = ch;</a:t>
            </a:r>
            <a:endParaRPr sz="3200"/>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        this.freq = freq;</a:t>
            </a:r>
            <a:endParaRPr sz="3200"/>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        this.left = null;</a:t>
            </a:r>
            <a:endParaRPr sz="3200"/>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        this.right = null;</a:t>
            </a:r>
            <a:endParaRPr sz="3200"/>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    }</a:t>
            </a:r>
            <a:endParaRPr sz="3200"/>
          </a:p>
          <a:p>
            <a:pPr indent="0" lvl="0" marL="0" rtl="0" algn="l">
              <a:lnSpc>
                <a:spcPct val="90000"/>
              </a:lnSpc>
              <a:spcBef>
                <a:spcPts val="600"/>
              </a:spcBef>
              <a:spcAft>
                <a:spcPts val="0"/>
              </a:spcAft>
              <a:buClr>
                <a:srgbClr val="000000"/>
              </a:buClr>
              <a:buSzPts val="1560"/>
              <a:buNone/>
            </a:pPr>
            <a:r>
              <a:rPr lang="en-US" sz="1960">
                <a:latin typeface="Cambria"/>
                <a:ea typeface="Cambria"/>
                <a:cs typeface="Cambria"/>
                <a:sym typeface="Cambria"/>
              </a:rPr>
              <a:t>}</a:t>
            </a:r>
            <a:endParaRPr sz="3200"/>
          </a:p>
        </p:txBody>
      </p:sp>
      <p:sp>
        <p:nvSpPr>
          <p:cNvPr id="122" name="Google Shape;122;p11"/>
          <p:cNvSpPr txBox="1"/>
          <p:nvPr/>
        </p:nvSpPr>
        <p:spPr>
          <a:xfrm>
            <a:off x="883919" y="844519"/>
            <a:ext cx="104241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b="0" i="0" lang="en-US" sz="4000" u="none" cap="none" strike="noStrike">
                <a:solidFill>
                  <a:srgbClr val="000000"/>
                </a:solidFill>
                <a:latin typeface="Cambria"/>
                <a:ea typeface="Cambria"/>
                <a:cs typeface="Cambria"/>
                <a:sym typeface="Cambria"/>
              </a:rPr>
              <a:t>Code Implementation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12"/>
          <p:cNvSpPr txBox="1"/>
          <p:nvPr>
            <p:ph idx="4294967295" type="body"/>
          </p:nvPr>
        </p:nvSpPr>
        <p:spPr>
          <a:xfrm>
            <a:off x="1184767" y="1524818"/>
            <a:ext cx="10515600" cy="4351200"/>
          </a:xfrm>
          <a:prstGeom prst="rect">
            <a:avLst/>
          </a:prstGeom>
          <a:noFill/>
          <a:ln>
            <a:noFill/>
          </a:ln>
        </p:spPr>
        <p:txBody>
          <a:bodyPr anchorCtr="0" anchor="t" bIns="45700" lIns="45700" spcFirstLastPara="1" rIns="45700" wrap="square" tIns="45700">
            <a:noAutofit/>
          </a:bodyPr>
          <a:lstStyle/>
          <a:p>
            <a:pPr indent="0" lvl="0" marL="0" rtl="0" algn="l">
              <a:lnSpc>
                <a:spcPct val="90000"/>
              </a:lnSpc>
              <a:spcBef>
                <a:spcPts val="0"/>
              </a:spcBef>
              <a:spcAft>
                <a:spcPts val="0"/>
              </a:spcAft>
              <a:buClr>
                <a:srgbClr val="000000"/>
              </a:buClr>
              <a:buSzPts val="1608"/>
              <a:buNone/>
            </a:pPr>
            <a:r>
              <a:rPr lang="en-US" sz="2108">
                <a:latin typeface="Cambria"/>
                <a:ea typeface="Cambria"/>
                <a:cs typeface="Cambria"/>
                <a:sym typeface="Cambria"/>
              </a:rPr>
              <a:t>class HuffmanCoding {</a:t>
            </a:r>
            <a:endParaRPr sz="3300"/>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 Print Huffman Codes from the root of Huffman Tree</a:t>
            </a:r>
            <a:endParaRPr sz="3300"/>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static void printCodes(Node root, String s) {</a:t>
            </a:r>
            <a:endParaRPr sz="3300"/>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if (root == null) return;</a:t>
            </a:r>
            <a:endParaRPr sz="3300"/>
          </a:p>
          <a:p>
            <a:pPr indent="0" lvl="0" marL="0" rtl="0" algn="l">
              <a:lnSpc>
                <a:spcPct val="90000"/>
              </a:lnSpc>
              <a:spcBef>
                <a:spcPts val="600"/>
              </a:spcBef>
              <a:spcAft>
                <a:spcPts val="0"/>
              </a:spcAft>
              <a:buClr>
                <a:srgbClr val="000000"/>
              </a:buClr>
              <a:buSzPts val="1608"/>
              <a:buNone/>
            </a:pPr>
            <a:r>
              <a:t/>
            </a:r>
            <a:endParaRPr sz="2108">
              <a:latin typeface="Cambria"/>
              <a:ea typeface="Cambria"/>
              <a:cs typeface="Cambria"/>
              <a:sym typeface="Cambria"/>
            </a:endParaRPr>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 If it's a leaf node, print the character and its code</a:t>
            </a:r>
            <a:endParaRPr sz="3300"/>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if (root.left == null &amp;&amp; root.right == null) {</a:t>
            </a:r>
            <a:endParaRPr sz="3300"/>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System.out.println(root.ch + ": " + s);</a:t>
            </a:r>
            <a:endParaRPr sz="3300"/>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return;</a:t>
            </a:r>
            <a:endParaRPr sz="3300"/>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a:t>
            </a:r>
            <a:endParaRPr sz="3300"/>
          </a:p>
          <a:p>
            <a:pPr indent="0" lvl="0" marL="0" rtl="0" algn="l">
              <a:lnSpc>
                <a:spcPct val="90000"/>
              </a:lnSpc>
              <a:spcBef>
                <a:spcPts val="600"/>
              </a:spcBef>
              <a:spcAft>
                <a:spcPts val="0"/>
              </a:spcAft>
              <a:buClr>
                <a:srgbClr val="000000"/>
              </a:buClr>
              <a:buSzPts val="1608"/>
              <a:buNone/>
            </a:pPr>
            <a:r>
              <a:t/>
            </a:r>
            <a:endParaRPr sz="2108">
              <a:latin typeface="Cambria"/>
              <a:ea typeface="Cambria"/>
              <a:cs typeface="Cambria"/>
              <a:sym typeface="Cambria"/>
            </a:endParaRPr>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printCodes(root.left, s + "0");</a:t>
            </a:r>
            <a:endParaRPr sz="3300"/>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printCodes(root.right, s + "1");</a:t>
            </a:r>
            <a:endParaRPr sz="3300"/>
          </a:p>
          <a:p>
            <a:pPr indent="0" lvl="0" marL="0" rtl="0" algn="l">
              <a:lnSpc>
                <a:spcPct val="90000"/>
              </a:lnSpc>
              <a:spcBef>
                <a:spcPts val="600"/>
              </a:spcBef>
              <a:spcAft>
                <a:spcPts val="0"/>
              </a:spcAft>
              <a:buClr>
                <a:srgbClr val="000000"/>
              </a:buClr>
              <a:buSzPts val="1608"/>
              <a:buNone/>
            </a:pPr>
            <a:r>
              <a:rPr lang="en-US" sz="2108">
                <a:latin typeface="Cambria"/>
                <a:ea typeface="Cambria"/>
                <a:cs typeface="Cambria"/>
                <a:sym typeface="Cambria"/>
              </a:rPr>
              <a:t>    }</a:t>
            </a:r>
            <a:endParaRPr sz="3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sp>
        <p:nvSpPr>
          <p:cNvPr id="132" name="Google Shape;132;p13"/>
          <p:cNvSpPr txBox="1"/>
          <p:nvPr>
            <p:ph idx="4294967295" type="body"/>
          </p:nvPr>
        </p:nvSpPr>
        <p:spPr>
          <a:xfrm>
            <a:off x="1224717" y="1404973"/>
            <a:ext cx="10515600" cy="4351200"/>
          </a:xfrm>
          <a:prstGeom prst="rect">
            <a:avLst/>
          </a:prstGeom>
          <a:noFill/>
          <a:ln>
            <a:noFill/>
          </a:ln>
        </p:spPr>
        <p:txBody>
          <a:bodyPr anchorCtr="0" anchor="t" bIns="45700" lIns="45700" spcFirstLastPara="1" rIns="45700" wrap="square" tIns="45700">
            <a:normAutofit/>
          </a:bodyPr>
          <a:lstStyle/>
          <a:p>
            <a:pPr indent="0" lvl="0" marL="0" rtl="0" algn="l">
              <a:lnSpc>
                <a:spcPct val="70000"/>
              </a:lnSpc>
              <a:spcBef>
                <a:spcPts val="0"/>
              </a:spcBef>
              <a:spcAft>
                <a:spcPts val="0"/>
              </a:spcAft>
              <a:buClr>
                <a:srgbClr val="000000"/>
              </a:buClr>
              <a:buSzPts val="1489"/>
              <a:buNone/>
            </a:pPr>
            <a:r>
              <a:rPr lang="en-US" sz="2100">
                <a:latin typeface="Cambria"/>
                <a:ea typeface="Cambria"/>
                <a:cs typeface="Cambria"/>
                <a:sym typeface="Cambria"/>
              </a:rPr>
              <a:t>public static void main(String[] args) {</a:t>
            </a:r>
            <a:endParaRPr sz="2100"/>
          </a:p>
          <a:p>
            <a:pPr indent="0" lvl="0" marL="0" rtl="0" algn="l">
              <a:lnSpc>
                <a:spcPct val="70000"/>
              </a:lnSpc>
              <a:spcBef>
                <a:spcPts val="700"/>
              </a:spcBef>
              <a:spcAft>
                <a:spcPts val="0"/>
              </a:spcAft>
              <a:buClr>
                <a:srgbClr val="000000"/>
              </a:buClr>
              <a:buSzPts val="1489"/>
              <a:buNone/>
            </a:pPr>
            <a:r>
              <a:rPr lang="en-US" sz="2100">
                <a:latin typeface="Cambria"/>
                <a:ea typeface="Cambria"/>
                <a:cs typeface="Cambria"/>
                <a:sym typeface="Cambria"/>
              </a:rPr>
              <a:t>        char[] chars = {'A', 'B', 'C', 'D', 'E', 'F'};</a:t>
            </a:r>
            <a:endParaRPr sz="2100"/>
          </a:p>
          <a:p>
            <a:pPr indent="0" lvl="0" marL="0" rtl="0" algn="l">
              <a:lnSpc>
                <a:spcPct val="70000"/>
              </a:lnSpc>
              <a:spcBef>
                <a:spcPts val="700"/>
              </a:spcBef>
              <a:spcAft>
                <a:spcPts val="0"/>
              </a:spcAft>
              <a:buClr>
                <a:srgbClr val="000000"/>
              </a:buClr>
              <a:buSzPts val="1489"/>
              <a:buNone/>
            </a:pPr>
            <a:r>
              <a:rPr lang="en-US" sz="2100">
                <a:latin typeface="Cambria"/>
                <a:ea typeface="Cambria"/>
                <a:cs typeface="Cambria"/>
                <a:sym typeface="Cambria"/>
              </a:rPr>
              <a:t>        int[] freq = {5, 9, 12, 13, 16, 45};</a:t>
            </a:r>
            <a:endParaRPr sz="2100"/>
          </a:p>
          <a:p>
            <a:pPr indent="0" lvl="0" marL="0" rtl="0" algn="l">
              <a:lnSpc>
                <a:spcPct val="70000"/>
              </a:lnSpc>
              <a:spcBef>
                <a:spcPts val="700"/>
              </a:spcBef>
              <a:spcAft>
                <a:spcPts val="0"/>
              </a:spcAft>
              <a:buClr>
                <a:srgbClr val="000000"/>
              </a:buClr>
              <a:buSzPts val="1489"/>
              <a:buNone/>
            </a:pPr>
            <a:r>
              <a:t/>
            </a:r>
            <a:endParaRPr sz="2100">
              <a:latin typeface="Cambria"/>
              <a:ea typeface="Cambria"/>
              <a:cs typeface="Cambria"/>
              <a:sym typeface="Cambria"/>
            </a:endParaRPr>
          </a:p>
          <a:p>
            <a:pPr indent="0" lvl="0" marL="0" rtl="0" algn="l">
              <a:lnSpc>
                <a:spcPct val="70000"/>
              </a:lnSpc>
              <a:spcBef>
                <a:spcPts val="700"/>
              </a:spcBef>
              <a:spcAft>
                <a:spcPts val="0"/>
              </a:spcAft>
              <a:buClr>
                <a:srgbClr val="000000"/>
              </a:buClr>
              <a:buSzPts val="1489"/>
              <a:buNone/>
            </a:pPr>
            <a:r>
              <a:rPr lang="en-US" sz="2100">
                <a:latin typeface="Cambria"/>
                <a:ea typeface="Cambria"/>
                <a:cs typeface="Cambria"/>
                <a:sym typeface="Cambria"/>
              </a:rPr>
              <a:t>        // Create a priority queue (min-heap) based on frequency</a:t>
            </a:r>
            <a:endParaRPr sz="2100"/>
          </a:p>
          <a:p>
            <a:pPr indent="0" lvl="0" marL="0" rtl="0" algn="l">
              <a:lnSpc>
                <a:spcPct val="70000"/>
              </a:lnSpc>
              <a:spcBef>
                <a:spcPts val="700"/>
              </a:spcBef>
              <a:spcAft>
                <a:spcPts val="0"/>
              </a:spcAft>
              <a:buClr>
                <a:srgbClr val="000000"/>
              </a:buClr>
              <a:buSzPts val="1489"/>
              <a:buNone/>
            </a:pPr>
            <a:r>
              <a:rPr lang="en-US" sz="2100">
                <a:latin typeface="Cambria"/>
                <a:ea typeface="Cambria"/>
                <a:cs typeface="Cambria"/>
                <a:sym typeface="Cambria"/>
              </a:rPr>
              <a:t>        PriorityQueue&lt;Node&gt; pq = new PriorityQueue&lt;&gt;((a, b) -&gt; a.freq - b.freq);</a:t>
            </a:r>
            <a:endParaRPr sz="2100"/>
          </a:p>
          <a:p>
            <a:pPr indent="0" lvl="0" marL="0" rtl="0" algn="l">
              <a:lnSpc>
                <a:spcPct val="70000"/>
              </a:lnSpc>
              <a:spcBef>
                <a:spcPts val="700"/>
              </a:spcBef>
              <a:spcAft>
                <a:spcPts val="0"/>
              </a:spcAft>
              <a:buClr>
                <a:srgbClr val="000000"/>
              </a:buClr>
              <a:buSzPts val="1489"/>
              <a:buNone/>
            </a:pPr>
            <a:r>
              <a:t/>
            </a:r>
            <a:endParaRPr sz="2100">
              <a:latin typeface="Cambria"/>
              <a:ea typeface="Cambria"/>
              <a:cs typeface="Cambria"/>
              <a:sym typeface="Cambria"/>
            </a:endParaRPr>
          </a:p>
          <a:p>
            <a:pPr indent="0" lvl="0" marL="0" rtl="0" algn="l">
              <a:lnSpc>
                <a:spcPct val="70000"/>
              </a:lnSpc>
              <a:spcBef>
                <a:spcPts val="700"/>
              </a:spcBef>
              <a:spcAft>
                <a:spcPts val="0"/>
              </a:spcAft>
              <a:buClr>
                <a:srgbClr val="000000"/>
              </a:buClr>
              <a:buSzPts val="1489"/>
              <a:buNone/>
            </a:pPr>
            <a:r>
              <a:rPr lang="en-US" sz="2100">
                <a:latin typeface="Cambria"/>
                <a:ea typeface="Cambria"/>
                <a:cs typeface="Cambria"/>
                <a:sym typeface="Cambria"/>
              </a:rPr>
              <a:t>        // Create leaf nodes for each character and add to the queue</a:t>
            </a:r>
            <a:endParaRPr sz="2100"/>
          </a:p>
          <a:p>
            <a:pPr indent="0" lvl="0" marL="0" rtl="0" algn="l">
              <a:lnSpc>
                <a:spcPct val="70000"/>
              </a:lnSpc>
              <a:spcBef>
                <a:spcPts val="700"/>
              </a:spcBef>
              <a:spcAft>
                <a:spcPts val="0"/>
              </a:spcAft>
              <a:buClr>
                <a:srgbClr val="000000"/>
              </a:buClr>
              <a:buSzPts val="1489"/>
              <a:buNone/>
            </a:pPr>
            <a:r>
              <a:rPr lang="en-US" sz="2100">
                <a:latin typeface="Cambria"/>
                <a:ea typeface="Cambria"/>
                <a:cs typeface="Cambria"/>
                <a:sym typeface="Cambria"/>
              </a:rPr>
              <a:t>        for (int i = 0; i &lt; chars.length; i++) {</a:t>
            </a:r>
            <a:endParaRPr sz="2100"/>
          </a:p>
          <a:p>
            <a:pPr indent="0" lvl="0" marL="0" rtl="0" algn="l">
              <a:lnSpc>
                <a:spcPct val="70000"/>
              </a:lnSpc>
              <a:spcBef>
                <a:spcPts val="700"/>
              </a:spcBef>
              <a:spcAft>
                <a:spcPts val="0"/>
              </a:spcAft>
              <a:buClr>
                <a:srgbClr val="000000"/>
              </a:buClr>
              <a:buSzPts val="1489"/>
              <a:buNone/>
            </a:pPr>
            <a:r>
              <a:rPr lang="en-US" sz="2100">
                <a:latin typeface="Cambria"/>
                <a:ea typeface="Cambria"/>
                <a:cs typeface="Cambria"/>
                <a:sym typeface="Cambria"/>
              </a:rPr>
              <a:t>            pq.add(new Node(chars[i], freq[i]));</a:t>
            </a:r>
            <a:endParaRPr sz="2100"/>
          </a:p>
          <a:p>
            <a:pPr indent="0" lvl="0" marL="0" rtl="0" algn="l">
              <a:lnSpc>
                <a:spcPct val="70000"/>
              </a:lnSpc>
              <a:spcBef>
                <a:spcPts val="700"/>
              </a:spcBef>
              <a:spcAft>
                <a:spcPts val="0"/>
              </a:spcAft>
              <a:buClr>
                <a:srgbClr val="000000"/>
              </a:buClr>
              <a:buSzPts val="1489"/>
              <a:buNone/>
            </a:pPr>
            <a:r>
              <a:rPr lang="en-US" sz="2100">
                <a:latin typeface="Cambria"/>
                <a:ea typeface="Cambria"/>
                <a:cs typeface="Cambria"/>
                <a:sym typeface="Cambria"/>
              </a:rPr>
              <a:t>        }</a:t>
            </a:r>
            <a:endParaRPr sz="2100"/>
          </a:p>
          <a:p>
            <a:pPr indent="0" lvl="0" marL="0" rtl="0" algn="l">
              <a:lnSpc>
                <a:spcPct val="70000"/>
              </a:lnSpc>
              <a:spcBef>
                <a:spcPts val="700"/>
              </a:spcBef>
              <a:spcAft>
                <a:spcPts val="0"/>
              </a:spcAft>
              <a:buClr>
                <a:srgbClr val="000000"/>
              </a:buClr>
              <a:buSzPts val="1489"/>
              <a:buNone/>
            </a:pPr>
            <a:r>
              <a:t/>
            </a:r>
            <a:endParaRPr sz="2100">
              <a:latin typeface="Cambria"/>
              <a:ea typeface="Cambria"/>
              <a:cs typeface="Cambria"/>
              <a:sym typeface="Cambria"/>
            </a:endParaRPr>
          </a:p>
          <a:p>
            <a:pPr indent="0" lvl="0" marL="0" rtl="0" algn="l">
              <a:lnSpc>
                <a:spcPct val="70000"/>
              </a:lnSpc>
              <a:spcBef>
                <a:spcPts val="700"/>
              </a:spcBef>
              <a:spcAft>
                <a:spcPts val="0"/>
              </a:spcAft>
              <a:buClr>
                <a:srgbClr val="000000"/>
              </a:buClr>
              <a:buSzPts val="1489"/>
              <a:buNone/>
            </a:pPr>
            <a:r>
              <a:rPr lang="en-US" sz="2100">
                <a:latin typeface="Cambria"/>
                <a:ea typeface="Cambria"/>
                <a:cs typeface="Cambria"/>
                <a:sym typeface="Cambria"/>
              </a:rPr>
              <a:t>       </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 name="Shape 136"/>
        <p:cNvGrpSpPr/>
        <p:nvPr/>
      </p:nvGrpSpPr>
      <p:grpSpPr>
        <a:xfrm>
          <a:off x="0" y="0"/>
          <a:ext cx="0" cy="0"/>
          <a:chOff x="0" y="0"/>
          <a:chExt cx="0" cy="0"/>
        </a:xfrm>
      </p:grpSpPr>
      <p:sp>
        <p:nvSpPr>
          <p:cNvPr id="137" name="Google Shape;137;p14"/>
          <p:cNvSpPr txBox="1"/>
          <p:nvPr>
            <p:ph idx="4294967295" type="body"/>
          </p:nvPr>
        </p:nvSpPr>
        <p:spPr>
          <a:xfrm>
            <a:off x="813885" y="1007159"/>
            <a:ext cx="10886400" cy="5775900"/>
          </a:xfrm>
          <a:prstGeom prst="rect">
            <a:avLst/>
          </a:prstGeom>
          <a:noFill/>
          <a:ln>
            <a:noFill/>
          </a:ln>
        </p:spPr>
        <p:txBody>
          <a:bodyPr anchorCtr="0" anchor="t" bIns="45700" lIns="45700" spcFirstLastPara="1" rIns="45700" wrap="square" tIns="45700">
            <a:normAutofit lnSpcReduction="10000"/>
          </a:bodyPr>
          <a:lstStyle/>
          <a:p>
            <a:pPr indent="0" lvl="0" marL="0" rtl="0" algn="l">
              <a:lnSpc>
                <a:spcPct val="90000"/>
              </a:lnSpc>
              <a:spcBef>
                <a:spcPts val="0"/>
              </a:spcBef>
              <a:spcAft>
                <a:spcPts val="0"/>
              </a:spcAft>
              <a:buClr>
                <a:srgbClr val="000000"/>
              </a:buClr>
              <a:buSzPts val="1728"/>
              <a:buNone/>
            </a:pPr>
            <a:r>
              <a:rPr lang="en-US" sz="1728">
                <a:latin typeface="Cambria"/>
                <a:ea typeface="Cambria"/>
                <a:cs typeface="Cambria"/>
                <a:sym typeface="Cambria"/>
              </a:rPr>
              <a:t>while (pq.size() &gt; 1) {</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 Extract the two nodes with minimum frequency</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Node left = pq.poll();</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Node right = pq.poll();</a:t>
            </a:r>
            <a:endParaRPr/>
          </a:p>
          <a:p>
            <a:pPr indent="0" lvl="0" marL="0" rtl="0" algn="l">
              <a:lnSpc>
                <a:spcPct val="90000"/>
              </a:lnSpc>
              <a:spcBef>
                <a:spcPts val="700"/>
              </a:spcBef>
              <a:spcAft>
                <a:spcPts val="0"/>
              </a:spcAft>
              <a:buClr>
                <a:srgbClr val="000000"/>
              </a:buClr>
              <a:buSzPts val="1728"/>
              <a:buNone/>
            </a:pPr>
            <a:r>
              <a:t/>
            </a:r>
            <a:endParaRPr sz="1728">
              <a:latin typeface="Cambria"/>
              <a:ea typeface="Cambria"/>
              <a:cs typeface="Cambria"/>
              <a:sym typeface="Cambria"/>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 Create a new internal node with a combined frequency</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Node sum = new Node('$', left.freq + right.freq);</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sum.left = left;</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sum.right = right;</a:t>
            </a:r>
            <a:endParaRPr/>
          </a:p>
          <a:p>
            <a:pPr indent="0" lvl="0" marL="0" rtl="0" algn="l">
              <a:lnSpc>
                <a:spcPct val="90000"/>
              </a:lnSpc>
              <a:spcBef>
                <a:spcPts val="700"/>
              </a:spcBef>
              <a:spcAft>
                <a:spcPts val="0"/>
              </a:spcAft>
              <a:buClr>
                <a:srgbClr val="000000"/>
              </a:buClr>
              <a:buSzPts val="1728"/>
              <a:buNone/>
            </a:pPr>
            <a:r>
              <a:t/>
            </a:r>
            <a:endParaRPr sz="1728">
              <a:latin typeface="Cambria"/>
              <a:ea typeface="Cambria"/>
              <a:cs typeface="Cambria"/>
              <a:sym typeface="Cambria"/>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 Add the new node to the priority queue</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pq.add(sum);</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a:t>
            </a:r>
            <a:endParaRPr/>
          </a:p>
          <a:p>
            <a:pPr indent="0" lvl="0" marL="0" rtl="0" algn="l">
              <a:lnSpc>
                <a:spcPct val="90000"/>
              </a:lnSpc>
              <a:spcBef>
                <a:spcPts val="700"/>
              </a:spcBef>
              <a:spcAft>
                <a:spcPts val="0"/>
              </a:spcAft>
              <a:buClr>
                <a:srgbClr val="000000"/>
              </a:buClr>
              <a:buSzPts val="1728"/>
              <a:buNone/>
            </a:pPr>
            <a:r>
              <a:t/>
            </a:r>
            <a:endParaRPr sz="1728">
              <a:latin typeface="Cambria"/>
              <a:ea typeface="Cambria"/>
              <a:cs typeface="Cambria"/>
              <a:sym typeface="Cambria"/>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 Print the Huffman codes</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printCodes(pq.peek(), "");</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    }</a:t>
            </a:r>
            <a:endParaRPr/>
          </a:p>
          <a:p>
            <a:pPr indent="0" lvl="0" marL="0" rtl="0" algn="l">
              <a:lnSpc>
                <a:spcPct val="90000"/>
              </a:lnSpc>
              <a:spcBef>
                <a:spcPts val="700"/>
              </a:spcBef>
              <a:spcAft>
                <a:spcPts val="0"/>
              </a:spcAft>
              <a:buClr>
                <a:srgbClr val="000000"/>
              </a:buClr>
              <a:buSzPts val="1728"/>
              <a:buNone/>
            </a:pPr>
            <a:r>
              <a:rPr lang="en-US" sz="1728">
                <a:latin typeface="Cambria"/>
                <a:ea typeface="Cambria"/>
                <a:cs typeface="Cambria"/>
                <a:sym typeface="Cambria"/>
              </a:rPr>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
        <p:nvSpPr>
          <p:cNvPr id="142" name="Google Shape;142;p15"/>
          <p:cNvSpPr txBox="1"/>
          <p:nvPr/>
        </p:nvSpPr>
        <p:spPr>
          <a:xfrm>
            <a:off x="883919" y="924418"/>
            <a:ext cx="104241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b="0" i="0" lang="en-US" sz="4000" u="none" cap="none" strike="noStrike">
                <a:solidFill>
                  <a:srgbClr val="000000"/>
                </a:solidFill>
                <a:latin typeface="Cambria"/>
                <a:ea typeface="Cambria"/>
                <a:cs typeface="Cambria"/>
                <a:sym typeface="Cambria"/>
              </a:rPr>
              <a:t>Output</a:t>
            </a:r>
            <a:endParaRPr b="0" i="0" sz="1400" u="none" cap="none" strike="noStrike">
              <a:solidFill>
                <a:srgbClr val="000000"/>
              </a:solidFill>
              <a:latin typeface="Arial"/>
              <a:ea typeface="Arial"/>
              <a:cs typeface="Arial"/>
              <a:sym typeface="Arial"/>
            </a:endParaRPr>
          </a:p>
        </p:txBody>
      </p:sp>
      <p:sp>
        <p:nvSpPr>
          <p:cNvPr id="143" name="Google Shape;143;p15"/>
          <p:cNvSpPr txBox="1"/>
          <p:nvPr/>
        </p:nvSpPr>
        <p:spPr>
          <a:xfrm>
            <a:off x="2762639" y="2447493"/>
            <a:ext cx="5077200" cy="26781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Output (for given input):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F: 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C: 100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D: 101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A: 1100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B: 1101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E: 111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id="148" name="Google Shape;148;p16"/>
          <p:cNvSpPr txBox="1"/>
          <p:nvPr/>
        </p:nvSpPr>
        <p:spPr>
          <a:xfrm>
            <a:off x="1367790" y="2229267"/>
            <a:ext cx="9761100" cy="3417000"/>
          </a:xfrm>
          <a:prstGeom prst="rect">
            <a:avLst/>
          </a:prstGeom>
          <a:noFill/>
          <a:ln>
            <a:noFill/>
          </a:ln>
        </p:spPr>
        <p:txBody>
          <a:bodyPr anchorCtr="0" anchor="t" bIns="45700" lIns="45700" spcFirstLastPara="1" rIns="45700" wrap="square" tIns="45700">
            <a:spAutoFit/>
          </a:bodyPr>
          <a:lstStyle/>
          <a:p>
            <a:pPr indent="-342900" lvl="0" marL="3429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mbria"/>
                <a:ea typeface="Cambria"/>
                <a:cs typeface="Cambria"/>
                <a:sym typeface="Cambria"/>
              </a:rPr>
              <a:t>Huffman Coding efficiently compresses data by reducing total bits used.</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a:p>
            <a:pPr indent="-342900" lvl="0" marL="3429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mbria"/>
                <a:ea typeface="Cambria"/>
                <a:cs typeface="Cambria"/>
                <a:sym typeface="Cambria"/>
              </a:rPr>
              <a:t>It uses frequency-based tree construction to assign unique variable-length codes.</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a:p>
            <a:pPr indent="-342900" lvl="0" marL="3429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mbria"/>
                <a:ea typeface="Cambria"/>
                <a:cs typeface="Cambria"/>
                <a:sym typeface="Cambria"/>
              </a:rPr>
              <a:t>The algorithm’s complexity is O(n log n) due to the use of a min-heap.</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a:p>
            <a:pPr indent="-342900" lvl="0" marL="3429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mbria"/>
                <a:ea typeface="Cambria"/>
                <a:cs typeface="Cambria"/>
                <a:sym typeface="Cambria"/>
              </a:rPr>
              <a:t>It remains one of the most widely used lossless compression techniques in computing.</a:t>
            </a:r>
            <a:endParaRPr b="0" i="0" sz="1400" u="none" cap="none" strike="noStrike">
              <a:solidFill>
                <a:srgbClr val="000000"/>
              </a:solidFill>
              <a:latin typeface="Arial"/>
              <a:ea typeface="Arial"/>
              <a:cs typeface="Arial"/>
              <a:sym typeface="Arial"/>
            </a:endParaRPr>
          </a:p>
        </p:txBody>
      </p:sp>
      <p:sp>
        <p:nvSpPr>
          <p:cNvPr id="149" name="Google Shape;149;p16"/>
          <p:cNvSpPr txBox="1"/>
          <p:nvPr/>
        </p:nvSpPr>
        <p:spPr>
          <a:xfrm>
            <a:off x="1036319" y="903704"/>
            <a:ext cx="104241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b="0" i="0" lang="en-US" sz="4000" u="none" cap="none" strike="noStrike">
                <a:solidFill>
                  <a:srgbClr val="000000"/>
                </a:solidFill>
                <a:latin typeface="Cambria"/>
                <a:ea typeface="Cambria"/>
                <a:cs typeface="Cambria"/>
                <a:sym typeface="Cambria"/>
              </a:rPr>
              <a:t>Summary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17"/>
          <p:cNvSpPr txBox="1"/>
          <p:nvPr/>
        </p:nvSpPr>
        <p:spPr>
          <a:xfrm>
            <a:off x="1367790" y="1843088"/>
            <a:ext cx="9761220" cy="44602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1️⃣ Kth Largest Element in an Array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Link: </a:t>
            </a:r>
            <a:r>
              <a:rPr b="0" i="0" lang="en-US" sz="2400" u="sng" cap="none" strike="noStrike">
                <a:solidFill>
                  <a:srgbClr val="0563C1"/>
                </a:solidFill>
                <a:latin typeface="Cambria"/>
                <a:ea typeface="Cambria"/>
                <a:cs typeface="Cambria"/>
                <a:sym typeface="Cambria"/>
                <a:hlinkClick r:id="rId4">
                  <a:extLst>
                    <a:ext uri="{A12FA001-AC4F-418D-AE19-62706E023703}">
                      <ahyp:hlinkClr val="tx"/>
                    </a:ext>
                  </a:extLst>
                </a:hlinkClick>
              </a:rPr>
              <a:t>https://leetcode.com/problems/kth-largest-element-in-an-array/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sng" cap="none" strike="noStrike">
              <a:solidFill>
                <a:srgbClr val="0563C1"/>
              </a:solidFill>
              <a:latin typeface="Cambria"/>
              <a:ea typeface="Cambria"/>
              <a:cs typeface="Cambria"/>
              <a:sym typeface="Cambria"/>
              <a:hlinkClick r:id="rId5">
                <a:extLst>
                  <a:ext uri="{A12FA001-AC4F-418D-AE19-62706E023703}">
                    <ahyp:hlinkClr val="tx"/>
                  </a:ext>
                </a:extLst>
              </a:hlinkClick>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Description: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Find the k-th largest element in an unsorted array using a min-heap or priority queue.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Concept Reinforced: Heap operations, element comparison, and top-k pattern.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Difficulty: </a:t>
            </a:r>
            <a:r>
              <a:rPr b="0" i="0" lang="en-US" sz="2400" u="none" cap="none" strike="noStrike">
                <a:solidFill>
                  <a:srgbClr val="000000"/>
                </a:solidFill>
                <a:latin typeface="Helvetica Neue"/>
                <a:ea typeface="Helvetica Neue"/>
                <a:cs typeface="Helvetica Neue"/>
                <a:sym typeface="Helvetica Neue"/>
              </a:rPr>
              <a:t>🟡 </a:t>
            </a:r>
            <a:r>
              <a:rPr b="0" i="0" lang="en-US" sz="2400" u="none" cap="none" strike="noStrike">
                <a:solidFill>
                  <a:srgbClr val="000000"/>
                </a:solidFill>
                <a:latin typeface="Cambria"/>
                <a:ea typeface="Cambria"/>
                <a:cs typeface="Cambria"/>
                <a:sym typeface="Cambria"/>
              </a:rPr>
              <a:t>Medium</a:t>
            </a:r>
            <a:endParaRPr b="0" i="0" sz="1400" u="none" cap="none" strike="noStrike">
              <a:solidFill>
                <a:srgbClr val="000000"/>
              </a:solidFill>
              <a:latin typeface="Arial"/>
              <a:ea typeface="Arial"/>
              <a:cs typeface="Arial"/>
              <a:sym typeface="Arial"/>
            </a:endParaRPr>
          </a:p>
        </p:txBody>
      </p:sp>
      <p:sp>
        <p:nvSpPr>
          <p:cNvPr id="155" name="Google Shape;155;p17"/>
          <p:cNvSpPr txBox="1"/>
          <p:nvPr/>
        </p:nvSpPr>
        <p:spPr>
          <a:xfrm>
            <a:off x="1036319" y="517525"/>
            <a:ext cx="10424162" cy="1325563"/>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b="0" i="0" lang="en-US" sz="4000" u="none" cap="none" strike="noStrike">
                <a:solidFill>
                  <a:srgbClr val="000000"/>
                </a:solidFill>
                <a:latin typeface="Cambria"/>
                <a:ea typeface="Cambria"/>
                <a:cs typeface="Cambria"/>
                <a:sym typeface="Cambria"/>
              </a:rPr>
              <a:t>Practice Questions: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18"/>
          <p:cNvSpPr txBox="1"/>
          <p:nvPr/>
        </p:nvSpPr>
        <p:spPr>
          <a:xfrm>
            <a:off x="1367765" y="1470213"/>
            <a:ext cx="9761100" cy="52641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2️⃣ Top K Frequent Elements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Link: </a:t>
            </a:r>
            <a:r>
              <a:rPr b="0" i="0" lang="en-US" sz="2400" u="sng" cap="none" strike="noStrike">
                <a:solidFill>
                  <a:srgbClr val="0563C1"/>
                </a:solidFill>
                <a:latin typeface="Cambria"/>
                <a:ea typeface="Cambria"/>
                <a:cs typeface="Cambria"/>
                <a:sym typeface="Cambria"/>
                <a:hlinkClick r:id="rId4">
                  <a:extLst>
                    <a:ext uri="{A12FA001-AC4F-418D-AE19-62706E023703}">
                      <ahyp:hlinkClr val="tx"/>
                    </a:ext>
                  </a:extLst>
                </a:hlinkClick>
              </a:rPr>
              <a:t>https://leetcode.com/problems/top-k-frequent-elements/?utm_source=chatgpt.com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sng" cap="none" strike="noStrike">
              <a:solidFill>
                <a:srgbClr val="0563C1"/>
              </a:solidFill>
              <a:latin typeface="Cambria"/>
              <a:ea typeface="Cambria"/>
              <a:cs typeface="Cambria"/>
              <a:sym typeface="Cambria"/>
              <a:hlinkClick r:id="rId5">
                <a:extLst>
                  <a:ext uri="{A12FA001-AC4F-418D-AE19-62706E023703}">
                    <ahyp:hlinkClr val="tx"/>
                  </a:ext>
                </a:extLst>
              </a:hlinkClick>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Description: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Given an integer array, return the k most frequent elements using hash map + heap.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Concept Reinforced: Frequency counting, priority queue usage — similar to Huffman frequency logic.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Difficulty: </a:t>
            </a:r>
            <a:r>
              <a:rPr b="0" i="0" lang="en-US" sz="2400" u="none" cap="none" strike="noStrike">
                <a:solidFill>
                  <a:srgbClr val="000000"/>
                </a:solidFill>
                <a:latin typeface="Helvetica Neue"/>
                <a:ea typeface="Helvetica Neue"/>
                <a:cs typeface="Helvetica Neue"/>
                <a:sym typeface="Helvetica Neue"/>
              </a:rPr>
              <a:t>🟡 </a:t>
            </a:r>
            <a:r>
              <a:rPr b="0" i="0" lang="en-US" sz="2400" u="none" cap="none" strike="noStrike">
                <a:solidFill>
                  <a:srgbClr val="000000"/>
                </a:solidFill>
                <a:latin typeface="Cambria"/>
                <a:ea typeface="Cambria"/>
                <a:cs typeface="Cambria"/>
                <a:sym typeface="Cambria"/>
              </a:rPr>
              <a:t>Medium</a:t>
            </a:r>
            <a:endParaRPr b="0" i="0" sz="1400" u="none" cap="none" strike="noStrike">
              <a:solidFill>
                <a:srgbClr val="000000"/>
              </a:solidFill>
              <a:latin typeface="Arial"/>
              <a:ea typeface="Arial"/>
              <a:cs typeface="Arial"/>
              <a:sym typeface="Arial"/>
            </a:endParaRPr>
          </a:p>
        </p:txBody>
      </p:sp>
      <p:sp>
        <p:nvSpPr>
          <p:cNvPr id="161" name="Google Shape;161;p18"/>
          <p:cNvSpPr txBox="1"/>
          <p:nvPr/>
        </p:nvSpPr>
        <p:spPr>
          <a:xfrm>
            <a:off x="1036319" y="517525"/>
            <a:ext cx="104241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b="0" i="0" lang="en-US" sz="4000" u="none" cap="none" strike="noStrike">
                <a:solidFill>
                  <a:srgbClr val="000000"/>
                </a:solidFill>
                <a:latin typeface="Cambria"/>
                <a:ea typeface="Cambria"/>
                <a:cs typeface="Cambria"/>
                <a:sym typeface="Cambria"/>
              </a:rPr>
              <a:t>Practice Questions: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p19"/>
          <p:cNvSpPr txBox="1"/>
          <p:nvPr/>
        </p:nvSpPr>
        <p:spPr>
          <a:xfrm>
            <a:off x="1274565" y="1416963"/>
            <a:ext cx="9761100" cy="52641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3️⃣ Kth Smallest Element in a Sorted Matrix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Link: </a:t>
            </a:r>
            <a:r>
              <a:rPr b="0" i="0" lang="en-US" sz="2400" u="sng" cap="none" strike="noStrike">
                <a:solidFill>
                  <a:srgbClr val="0563C1"/>
                </a:solidFill>
                <a:latin typeface="Cambria"/>
                <a:ea typeface="Cambria"/>
                <a:cs typeface="Cambria"/>
                <a:sym typeface="Cambria"/>
                <a:hlinkClick r:id="rId4">
                  <a:extLst>
                    <a:ext uri="{A12FA001-AC4F-418D-AE19-62706E023703}">
                      <ahyp:hlinkClr val="tx"/>
                    </a:ext>
                  </a:extLst>
                </a:hlinkClick>
              </a:rPr>
              <a:t>https://leetcode.com/problems/kth-smallest-element-in-a-sorted-matrix/?utm_source=chatgpt.com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sng" cap="none" strike="noStrike">
              <a:solidFill>
                <a:srgbClr val="0563C1"/>
              </a:solidFill>
              <a:latin typeface="Cambria"/>
              <a:ea typeface="Cambria"/>
              <a:cs typeface="Cambria"/>
              <a:sym typeface="Cambria"/>
              <a:hlinkClick r:id="rId5">
                <a:extLst>
                  <a:ext uri="{A12FA001-AC4F-418D-AE19-62706E023703}">
                    <ahyp:hlinkClr val="tx"/>
                  </a:ext>
                </a:extLst>
              </a:hlinkClick>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Description: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Find the k-th smallest element in a sorted matrix using a min-heap or binary search approach.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Concept Reinforced: Heap-based selection and efficient traversal — extends Huffman Tree’s greedy concept.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Cambria"/>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2400"/>
              <a:buFont typeface="Cambria"/>
              <a:buNone/>
            </a:pPr>
            <a:r>
              <a:rPr b="0" i="0" lang="en-US" sz="2400" u="none" cap="none" strike="noStrike">
                <a:solidFill>
                  <a:srgbClr val="000000"/>
                </a:solidFill>
                <a:latin typeface="Cambria"/>
                <a:ea typeface="Cambria"/>
                <a:cs typeface="Cambria"/>
                <a:sym typeface="Cambria"/>
              </a:rPr>
              <a:t>Difficulty: </a:t>
            </a:r>
            <a:r>
              <a:rPr b="0" i="0" lang="en-US" sz="2400" u="none" cap="none" strike="noStrike">
                <a:solidFill>
                  <a:srgbClr val="000000"/>
                </a:solidFill>
                <a:latin typeface="Helvetica Neue"/>
                <a:ea typeface="Helvetica Neue"/>
                <a:cs typeface="Helvetica Neue"/>
                <a:sym typeface="Helvetica Neue"/>
              </a:rPr>
              <a:t>🟡 </a:t>
            </a:r>
            <a:r>
              <a:rPr b="0" i="0" lang="en-US" sz="2400" u="none" cap="none" strike="noStrike">
                <a:solidFill>
                  <a:srgbClr val="000000"/>
                </a:solidFill>
                <a:latin typeface="Cambria"/>
                <a:ea typeface="Cambria"/>
                <a:cs typeface="Cambria"/>
                <a:sym typeface="Cambria"/>
              </a:rPr>
              <a:t>Medium</a:t>
            </a:r>
            <a:endParaRPr b="0" i="0" sz="1400" u="none" cap="none" strike="noStrike">
              <a:solidFill>
                <a:srgbClr val="000000"/>
              </a:solidFill>
              <a:latin typeface="Arial"/>
              <a:ea typeface="Arial"/>
              <a:cs typeface="Arial"/>
              <a:sym typeface="Arial"/>
            </a:endParaRPr>
          </a:p>
        </p:txBody>
      </p:sp>
      <p:sp>
        <p:nvSpPr>
          <p:cNvPr id="167" name="Google Shape;167;p19"/>
          <p:cNvSpPr txBox="1"/>
          <p:nvPr/>
        </p:nvSpPr>
        <p:spPr>
          <a:xfrm>
            <a:off x="1036319" y="517525"/>
            <a:ext cx="10424100" cy="1325700"/>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000"/>
              <a:buFont typeface="Cambria"/>
              <a:buNone/>
            </a:pPr>
            <a:r>
              <a:rPr b="0" i="0" lang="en-US" sz="4000" u="none" cap="none" strike="noStrike">
                <a:solidFill>
                  <a:srgbClr val="000000"/>
                </a:solidFill>
                <a:latin typeface="Cambria"/>
                <a:ea typeface="Cambria"/>
                <a:cs typeface="Cambria"/>
                <a:sym typeface="Cambria"/>
              </a:rPr>
              <a:t>Practice Questions: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id="172" name="Google Shape;172;p20"/>
          <p:cNvSpPr txBox="1"/>
          <p:nvPr>
            <p:ph idx="4294967295" type="ctrTitle"/>
          </p:nvPr>
        </p:nvSpPr>
        <p:spPr>
          <a:xfrm>
            <a:off x="1524000" y="2026822"/>
            <a:ext cx="9144000" cy="2387601"/>
          </a:xfrm>
          <a:prstGeom prst="rect">
            <a:avLst/>
          </a:prstGeom>
          <a:noFill/>
          <a:ln>
            <a:noFill/>
          </a:ln>
        </p:spPr>
        <p:txBody>
          <a:bodyPr anchorCtr="0" anchor="b" bIns="45700" lIns="45700" spcFirstLastPara="1" rIns="45700" wrap="square" tIns="45700">
            <a:normAutofit/>
          </a:bodyPr>
          <a:lstStyle/>
          <a:p>
            <a:pPr indent="0" lvl="0" marL="0" marR="0" rtl="0" algn="ctr">
              <a:lnSpc>
                <a:spcPct val="90000"/>
              </a:lnSpc>
              <a:spcBef>
                <a:spcPts val="0"/>
              </a:spcBef>
              <a:spcAft>
                <a:spcPts val="0"/>
              </a:spcAft>
              <a:buClr>
                <a:srgbClr val="000000"/>
              </a:buClr>
              <a:buSzPts val="7000"/>
              <a:buFont typeface="Cambria"/>
              <a:buNone/>
            </a:pPr>
            <a:r>
              <a:rPr b="0" i="0" lang="en-US" sz="7000" u="none" cap="none" strike="noStrike">
                <a:solidFill>
                  <a:srgbClr val="000000"/>
                </a:solidFill>
                <a:latin typeface="Cambria"/>
                <a:ea typeface="Cambria"/>
                <a:cs typeface="Cambria"/>
                <a:sym typeface="Cambria"/>
              </a:rPr>
              <a:t>Thanks</a:t>
            </a:r>
            <a:endParaRPr b="0" i="0" sz="4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