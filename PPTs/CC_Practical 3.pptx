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jgr1qWgbN3kg1cx8IOghViQTVV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01D75C-2562-4186-BEEF-1FAA474A70BD}">
  <a:tblStyle styleId="{2501D75C-2562-4186-BEEF-1FAA474A70B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4968269a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a4968269af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0" name="Google Shape;20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leetcode.com/problems/next-greater-element-ii/" TargetMode="External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leetcode.com/problems/next-greater-element-iii/" TargetMode="External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g3a4968269af_0_12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89" name="Google Shape;89;g3a4968269af_0_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g3a4968269af_0_12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g3a4968269af_0_12"/>
          <p:cNvSpPr/>
          <p:nvPr/>
        </p:nvSpPr>
        <p:spPr>
          <a:xfrm>
            <a:off x="5" y="1955845"/>
            <a:ext cx="12184856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a4968269af_0_12"/>
          <p:cNvSpPr txBox="1"/>
          <p:nvPr/>
        </p:nvSpPr>
        <p:spPr>
          <a:xfrm>
            <a:off x="457000" y="2359252"/>
            <a:ext cx="10932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</a:pPr>
            <a:r>
              <a:rPr b="1" i="0" lang="en-IN" sz="49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Finding Next Greater Element (NGE)</a:t>
            </a:r>
            <a:endParaRPr b="1" i="0" sz="71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3" name="Google Shape;93;g3a4968269af_0_12"/>
          <p:cNvSpPr/>
          <p:nvPr/>
        </p:nvSpPr>
        <p:spPr>
          <a:xfrm>
            <a:off x="456988" y="5601409"/>
            <a:ext cx="511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I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</a:t>
            </a:r>
            <a:r>
              <a:rPr b="1" lang="en-I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Prakash Kumar Pandey</a:t>
            </a:r>
            <a:br>
              <a:rPr b="1" i="0" lang="en-IN" sz="10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Intelligence &amp; Data Science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" name="Google Shape;98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{2501D75C-2562-4186-BEEF-1FAA474A70BD}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" name="Google Shape;99;p2"/>
          <p:cNvGraphicFramePr/>
          <p:nvPr/>
        </p:nvGraphicFramePr>
        <p:xfrm>
          <a:off x="1461074" y="25201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{2501D75C-2562-4186-BEEF-1FAA474A70BD}</a:tableStyleId>
              </a:tblPr>
              <a:tblGrid>
                <a:gridCol w="2865125"/>
                <a:gridCol w="6194325"/>
              </a:tblGrid>
              <a:tr h="335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2E75B5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Finding Next Greater Element (NGE)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" name="Google Shape;100;p2"/>
          <p:cNvGraphicFramePr/>
          <p:nvPr/>
        </p:nvGraphicFramePr>
        <p:xfrm>
          <a:off x="1471065" y="33789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{2501D75C-2562-4186-BEEF-1FAA474A70BD}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understand the definition and importance of the Next Greater Element problem in programming and algorithm design.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implement both brute force and efficient stack-based  code to solve for the Next Greater Element in a given array.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analyse and compare the time and space complexity of brute force and stack-based approaches.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b="0" i="0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identify suitable scenarios in computer science or real-life where NGE solutions are applicable and efficient.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" name="Google Shape;101;p2"/>
          <p:cNvSpPr/>
          <p:nvPr/>
        </p:nvSpPr>
        <p:spPr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" name="Google Shape;102;p2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03" name="Google Shape;10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" name="Google Shape;104;p2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IN" sz="1800">
                  <a:solidFill>
                    <a:schemeClr val="dk1"/>
                  </a:solidFill>
                </a:rPr>
                <a:t>Artificial Intelligence &amp; Data Science</a:t>
              </a:r>
              <a:endParaRPr b="1" sz="180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838200" y="136386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IN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838200" y="2824363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Write a program for finding NGE NEXT GREATER ELEMENT from an array.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11" name="Google Shape;111;p3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12" name="Google Shape;112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3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IN" sz="1800">
                  <a:solidFill>
                    <a:schemeClr val="dk1"/>
                  </a:solidFill>
                </a:rPr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type="title"/>
          </p:nvPr>
        </p:nvSpPr>
        <p:spPr>
          <a:xfrm>
            <a:off x="838200" y="123069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Introduction to the Problem</a:t>
            </a:r>
            <a:endParaRPr/>
          </a:p>
        </p:txBody>
      </p:sp>
      <p:sp>
        <p:nvSpPr>
          <p:cNvPr id="119" name="Google Shape;119;p4"/>
          <p:cNvSpPr txBox="1"/>
          <p:nvPr>
            <p:ph idx="1" type="body"/>
          </p:nvPr>
        </p:nvSpPr>
        <p:spPr>
          <a:xfrm>
            <a:off x="838200" y="2556261"/>
            <a:ext cx="10515600" cy="448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10" r="-866" t="-19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grpSp>
        <p:nvGrpSpPr>
          <p:cNvPr id="120" name="Google Shape;120;p4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21" name="Google Shape;121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4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IN" sz="1800">
                  <a:solidFill>
                    <a:schemeClr val="dk1"/>
                  </a:solidFill>
                </a:rPr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838200" y="128396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Concept and Background</a:t>
            </a:r>
            <a:endParaRPr b="1" sz="40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838200" y="2744464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• The Next Greater Element problem is important in data structure learning.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• It is used in stock span problems, temperature predictions, and interval analysis. </a:t>
            </a:r>
            <a:endParaRPr/>
          </a:p>
          <a:p>
            <a:pPr indent="-22860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75B5"/>
              </a:buClr>
              <a:buSzPts val="2400"/>
              <a:buFont typeface="Noto Sans Symbols"/>
              <a:buChar char="❖"/>
            </a:pPr>
            <a:r>
              <a:rPr b="1" lang="en-IN" sz="2400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 There are mainly two ways to solve this problem: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• Naive approach or brute force method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• Stack-based approach</a:t>
            </a:r>
            <a:endParaRPr/>
          </a:p>
        </p:txBody>
      </p:sp>
      <p:grpSp>
        <p:nvGrpSpPr>
          <p:cNvPr id="129" name="Google Shape;129;p5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30" name="Google Shape;130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5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IN" sz="1800">
                  <a:solidFill>
                    <a:schemeClr val="dk1"/>
                  </a:solidFill>
                </a:rPr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>
            <p:ph type="title"/>
          </p:nvPr>
        </p:nvSpPr>
        <p:spPr>
          <a:xfrm>
            <a:off x="838200" y="136386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 </a:t>
            </a:r>
            <a:endParaRPr/>
          </a:p>
        </p:txBody>
      </p:sp>
      <p:sp>
        <p:nvSpPr>
          <p:cNvPr id="137" name="Google Shape;137;p6"/>
          <p:cNvSpPr txBox="1"/>
          <p:nvPr>
            <p:ph idx="1" type="body"/>
          </p:nvPr>
        </p:nvSpPr>
        <p:spPr>
          <a:xfrm>
            <a:off x="838200" y="2689427"/>
            <a:ext cx="10515600" cy="46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400"/>
              <a:buNone/>
            </a:pPr>
            <a:r>
              <a:rPr b="1" lang="en-IN" sz="2400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Step 1: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Initialize an empty stack. Use it to keep track of potential "next greater" candidates.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E75B5"/>
              </a:buClr>
              <a:buSzPts val="2400"/>
              <a:buNone/>
            </a:pPr>
            <a:r>
              <a:rPr b="1" lang="en-IN" sz="2400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Step 2: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Traverse the array from right to left.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E75B5"/>
              </a:buClr>
              <a:buSzPts val="2400"/>
              <a:buNone/>
            </a:pPr>
            <a:r>
              <a:rPr b="1" lang="en-IN" sz="2400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Step 3: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While stack is not empty and top ≤ current element, pop the stack.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E75B5"/>
              </a:buClr>
              <a:buSzPts val="2400"/>
              <a:buNone/>
            </a:pPr>
            <a:r>
              <a:rPr b="1" lang="en-IN" sz="2400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Step 4: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If stack is empty, NGE = -1; else NGE = top of stack.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E75B5"/>
              </a:buClr>
              <a:buSzPts val="2400"/>
              <a:buNone/>
            </a:pPr>
            <a:r>
              <a:rPr b="1" lang="en-IN" sz="2400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Step 5: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Push the current element into the stack.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E75B5"/>
              </a:buClr>
              <a:buSzPts val="2400"/>
              <a:buNone/>
            </a:pPr>
            <a:r>
              <a:rPr b="1" lang="en-IN" sz="2400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Step 6: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Continue until all elements are processed.</a:t>
            </a:r>
            <a:endParaRPr/>
          </a:p>
        </p:txBody>
      </p:sp>
      <p:grpSp>
        <p:nvGrpSpPr>
          <p:cNvPr id="138" name="Google Shape;138;p6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39" name="Google Shape;13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" name="Google Shape;140;p6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IN" sz="1800">
                  <a:solidFill>
                    <a:schemeClr val="dk1"/>
                  </a:solidFill>
                </a:rPr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>
            <p:ph type="title"/>
          </p:nvPr>
        </p:nvSpPr>
        <p:spPr>
          <a:xfrm>
            <a:off x="838200" y="69803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838200" y="1769784"/>
            <a:ext cx="81654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400"/>
              <a:buFont typeface="Noto Sans Symbols"/>
              <a:buChar char="❑"/>
            </a:pPr>
            <a:r>
              <a:rPr b="0" i="0" lang="en-IN" sz="2400" u="none" cap="none" strike="noStrike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Example:</a:t>
            </a:r>
            <a:b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Let’s try to find NGE for all the elements present in the given array : arr = [6][8][0][1][3]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400"/>
              <a:buFont typeface="Noto Sans Symbols"/>
              <a:buChar char="❑"/>
            </a:pPr>
            <a:r>
              <a:rPr b="0" i="0" lang="en-IN" sz="2400" u="none" cap="none" strike="noStrike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Step-by-Step Stack Approach</a:t>
            </a:r>
            <a:b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We process array elements from right to left and maintain a stack where the potential next greater elements are stored.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400"/>
              <a:buFont typeface="Noto Sans Symbols"/>
              <a:buChar char="❑"/>
            </a:pPr>
            <a:r>
              <a:rPr b="0" i="0" lang="en-IN" sz="2400" u="none" cap="none" strike="noStrike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Initialization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Stack: []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Result: [_, _, _, _, _]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" name="Google Shape;147;p7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48" name="Google Shape;148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" name="Google Shape;149;p7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IN" sz="1800">
                  <a:solidFill>
                    <a:schemeClr val="dk1"/>
                  </a:solidFill>
                </a:rPr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>
            <p:ph type="title"/>
          </p:nvPr>
        </p:nvSpPr>
        <p:spPr>
          <a:xfrm>
            <a:off x="838200" y="140381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838200" y="2729375"/>
            <a:ext cx="39582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(A) 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 = 4, value = 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 is empty. So, NGE for 3 is -1.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Push 3 to stack.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Result: [_, _, _, _, -1]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Stack: [3]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7025640" y="2729375"/>
            <a:ext cx="43281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(B) 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 = 3, value = 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Stack's top (3) &gt; 1, so NGE for 1 is 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Push 1 to stack.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Result: [_, _, _, 3, -1]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Stack: [3][1]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" name="Google Shape;157;p8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58" name="Google Shape;158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8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IN" sz="1800">
                  <a:solidFill>
                    <a:schemeClr val="dk1"/>
                  </a:solidFill>
                </a:rPr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>
            <p:ph type="title"/>
          </p:nvPr>
        </p:nvSpPr>
        <p:spPr>
          <a:xfrm>
            <a:off x="838200" y="131059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838200" y="2650611"/>
            <a:ext cx="39582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(C)  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 = 2, value = 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Stack's top (1) &gt; 0, so NGE for 0 is 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Push 0 to stack.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Result: [_, _, 1, 3, -1]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Stack: [3][1][0]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7025640" y="2516007"/>
            <a:ext cx="43281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(D)  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 = 1, value = 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Stack's top (0) ≤ 8; pop 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Next top (1) ≤ 8; pop 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Next top (3) ≤ 8; pop 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Now, stack is empty: NGE for 8 is -1.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Push 8.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Result: [_, -1, 1, 3, -1]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Stack: [8]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" name="Google Shape;167;p9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68" name="Google Shape;168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9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IN" sz="1800">
                  <a:solidFill>
                    <a:schemeClr val="dk1"/>
                  </a:solidFill>
                </a:rPr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/>
          <p:nvPr>
            <p:ph type="title"/>
          </p:nvPr>
        </p:nvSpPr>
        <p:spPr>
          <a:xfrm>
            <a:off x="838200" y="127064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5" name="Google Shape;175;p10"/>
          <p:cNvSpPr txBox="1"/>
          <p:nvPr/>
        </p:nvSpPr>
        <p:spPr>
          <a:xfrm>
            <a:off x="838199" y="2596210"/>
            <a:ext cx="66048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(E)  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 = 0, value = 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Stack's top (8) &gt; 6, so NGE for 6 is 8.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Push 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Result: [8, -1, 1, 3, -1]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Stack: [8][6]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838200" y="5543479"/>
            <a:ext cx="4328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400"/>
              <a:buFont typeface="Noto Sans Symbols"/>
              <a:buChar char="✔"/>
            </a:pPr>
            <a:r>
              <a:rPr b="0" i="0" lang="en-IN" sz="2400" u="none" cap="none" strike="noStrike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Final Answer: [8, -1, 1, 3, -1]</a:t>
            </a:r>
            <a:endParaRPr b="0" i="0" sz="4000" u="none" cap="none" strike="noStrike">
              <a:solidFill>
                <a:srgbClr val="2E75B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p10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78" name="Google Shape;17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10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IN" sz="1800">
                  <a:solidFill>
                    <a:schemeClr val="dk1"/>
                  </a:solidFill>
                </a:rPr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>
            <p:ph type="title"/>
          </p:nvPr>
        </p:nvSpPr>
        <p:spPr>
          <a:xfrm>
            <a:off x="838200" y="71135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85" name="Google Shape;18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4489" y="1891006"/>
            <a:ext cx="9549847" cy="4791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11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87" name="Google Shape;187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11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IN" sz="1800">
                  <a:solidFill>
                    <a:schemeClr val="dk1"/>
                  </a:solidFill>
                </a:rPr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/>
          <p:nvPr>
            <p:ph type="title"/>
          </p:nvPr>
        </p:nvSpPr>
        <p:spPr>
          <a:xfrm>
            <a:off x="838200" y="1070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94" name="Google Shape;19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0520" y="2913130"/>
            <a:ext cx="9030961" cy="1991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Google Shape;195;p12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96" name="Google Shape;19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12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IN" sz="1800">
                  <a:solidFill>
                    <a:schemeClr val="dk1"/>
                  </a:solidFill>
                </a:rPr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 txBox="1"/>
          <p:nvPr>
            <p:ph type="title"/>
          </p:nvPr>
        </p:nvSpPr>
        <p:spPr>
          <a:xfrm>
            <a:off x="838200" y="11108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1720646" y="2751506"/>
            <a:ext cx="8111700" cy="31563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1848466" y="2948151"/>
            <a:ext cx="7747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Next Greater Elements: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4 →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5 → 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 → 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25 → 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p13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06" name="Google Shape;206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13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IN" sz="1800">
                  <a:solidFill>
                    <a:schemeClr val="dk1"/>
                  </a:solidFill>
                </a:rPr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 txBox="1"/>
          <p:nvPr>
            <p:ph type="title"/>
          </p:nvPr>
        </p:nvSpPr>
        <p:spPr>
          <a:xfrm>
            <a:off x="838200" y="93773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graphicFrame>
        <p:nvGraphicFramePr>
          <p:cNvPr id="213" name="Google Shape;213;p14"/>
          <p:cNvGraphicFramePr/>
          <p:nvPr/>
        </p:nvGraphicFramePr>
        <p:xfrm>
          <a:off x="838200" y="23982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{2501D75C-2562-4186-BEEF-1FAA474A70BD}</a:tableStyleId>
              </a:tblPr>
              <a:tblGrid>
                <a:gridCol w="1700425"/>
                <a:gridCol w="2015425"/>
                <a:gridCol w="2054575"/>
                <a:gridCol w="1984225"/>
                <a:gridCol w="2315800"/>
              </a:tblGrid>
              <a:tr h="151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Method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Approach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Example Output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51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Brute Force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Nested Loops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[8, -1, 1, 3, -1]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7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Stack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Monotonic Stack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[8, -1, 1, 3, -1]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14" name="Google Shape;214;p14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15" name="Google Shape;215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14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IN" sz="1800">
                  <a:solidFill>
                    <a:schemeClr val="dk1"/>
                  </a:solidFill>
                </a:rPr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"/>
          <p:cNvSpPr txBox="1"/>
          <p:nvPr>
            <p:ph type="title"/>
          </p:nvPr>
        </p:nvSpPr>
        <p:spPr>
          <a:xfrm>
            <a:off x="838200" y="109753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222" name="Google Shape;222;p15"/>
          <p:cNvSpPr txBox="1"/>
          <p:nvPr>
            <p:ph idx="1" type="body"/>
          </p:nvPr>
        </p:nvSpPr>
        <p:spPr>
          <a:xfrm>
            <a:off x="838200" y="2558033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Implemented a program to find the Next Greater Element for each element in an array.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Used a stack to efficiently track elements and determine the next greater value on the right side.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Improved efficiency from the brute-force O(n²) approach to an optimized O(n) solution.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Demonstrated the use of stack operations in solving array-based problems where relative ordering matters.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Reinforced understanding of LIFO behaviour and real-time element comparison in algorithmic problems.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23" name="Google Shape;223;p15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24" name="Google Shape;22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" name="Google Shape;225;p15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IN" sz="1800">
                  <a:solidFill>
                    <a:schemeClr val="dk1"/>
                  </a:solidFill>
                </a:rPr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"/>
          <p:cNvSpPr txBox="1"/>
          <p:nvPr>
            <p:ph type="title"/>
          </p:nvPr>
        </p:nvSpPr>
        <p:spPr>
          <a:xfrm>
            <a:off x="838200" y="108421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31" name="Google Shape;231;p16"/>
          <p:cNvSpPr txBox="1"/>
          <p:nvPr>
            <p:ph idx="1" type="body"/>
          </p:nvPr>
        </p:nvSpPr>
        <p:spPr>
          <a:xfrm>
            <a:off x="838200" y="254471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1.Next Greater Element II (Problem 503):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E75B5"/>
              </a:buClr>
              <a:buSzPts val="2800"/>
              <a:buChar char="•"/>
            </a:pPr>
            <a:r>
              <a:rPr lang="en-IN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IN" u="sng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https://leetcode.com/problems/next-greater-element-ii/</a:t>
            </a:r>
            <a:endParaRPr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IN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The "Next Greater Element II" problem extends the concept of finding the next greater element in a linear array to a circular array.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IN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Same as our class example — perfect for reinforcement.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32" name="Google Shape;232;p16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33" name="Google Shape;233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16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IN" sz="1800">
                  <a:solidFill>
                    <a:schemeClr val="dk1"/>
                  </a:solidFill>
                </a:rPr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/>
          <p:nvPr>
            <p:ph type="title"/>
          </p:nvPr>
        </p:nvSpPr>
        <p:spPr>
          <a:xfrm>
            <a:off x="838200" y="85783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40" name="Google Shape;240;p17"/>
          <p:cNvSpPr txBox="1"/>
          <p:nvPr>
            <p:ph idx="1" type="body"/>
          </p:nvPr>
        </p:nvSpPr>
        <p:spPr>
          <a:xfrm>
            <a:off x="838200" y="231833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2.Next Greater Element III (Problem 556):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E75B5"/>
              </a:buClr>
              <a:buSzPts val="2800"/>
              <a:buChar char="•"/>
            </a:pPr>
            <a:r>
              <a:rPr lang="en-IN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IN" u="sng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https://leetcode.com/problems/next-greater-element-iii/</a:t>
            </a:r>
            <a:endParaRPr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2E75B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-IN" sz="2600">
                <a:latin typeface="Cambria"/>
                <a:ea typeface="Cambria"/>
                <a:cs typeface="Cambria"/>
                <a:sym typeface="Cambria"/>
              </a:rPr>
              <a:t>The "Next Greater Element III" problem asks for the smallest integer greater than a given integer n that uses exactly the same digits as n, while fitting within a 32-bit integer; if no such number exists, return -1.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IN" sz="2600">
                <a:latin typeface="Cambria"/>
                <a:ea typeface="Cambria"/>
                <a:cs typeface="Cambria"/>
                <a:sym typeface="Cambria"/>
              </a:rPr>
              <a:t>Strengthens your understanding of NGE problems logic.</a:t>
            </a:r>
            <a:endParaRPr/>
          </a:p>
        </p:txBody>
      </p:sp>
      <p:grpSp>
        <p:nvGrpSpPr>
          <p:cNvPr id="241" name="Google Shape;241;p17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42" name="Google Shape;242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" name="Google Shape;243;p17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IN" sz="1800">
                  <a:solidFill>
                    <a:schemeClr val="dk1"/>
                  </a:solidFill>
                </a:rPr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49" name="Google Shape;249;p18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50" name="Google Shape;250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" name="Google Shape;251;p18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IN" sz="1800">
                  <a:solidFill>
                    <a:schemeClr val="dk1"/>
                  </a:solidFill>
                </a:rPr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