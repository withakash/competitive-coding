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FPUFuuMigku5PO/e/wxp79kXG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9AF233-E501-40E9-846D-D70BAAA75F94}">
  <a:tblStyle styleId="{6F9AF233-E501-40E9-846D-D70BAAA75F94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  <a:tcStyle>
        <a:fill>
          <a:solidFill>
            <a:srgbClr val="FFFFFF"/>
          </a:solidFill>
        </a:fill>
      </a:tcStyle>
    </a:band2H>
    <a:band1V>
      <a:tcTxStyle b="off" i="off"/>
    </a:band1V>
    <a:band2V>
      <a:tcTxStyle b="off" i="off"/>
    </a:band2V>
    <a:lastCol>
      <a:tcTxStyle b="off" i="off"/>
    </a:lastCol>
    <a:firstCo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4a1a9ff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g3a4a1a9ffc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2" type="body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" type="body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2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30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30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12" type="sldNum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hyperlink" Target="https://leetcode.com/problems/implement-trie-prefix-tree/" TargetMode="External"/><Relationship Id="rId5" Type="http://schemas.openxmlformats.org/officeDocument/2006/relationships/hyperlink" Target="https://leetcode.com/problems/implement-trie-prefix-tree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hyperlink" Target="https://leetcode.com/problems/implement-trie-ii-prefix-tree/" TargetMode="External"/><Relationship Id="rId5" Type="http://schemas.openxmlformats.org/officeDocument/2006/relationships/hyperlink" Target="https://leetcode.com/problems/implement-trie-ii-prefix-tree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g3a4a1a9ffc3_0_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50" name="Google Shape;50;g3a4a1a9ffc3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51;g3a4a1a9ffc3_0_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US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g3a4a1a9ffc3_0_0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a4a1a9ffc3_0_0"/>
          <p:cNvSpPr txBox="1"/>
          <p:nvPr/>
        </p:nvSpPr>
        <p:spPr>
          <a:xfrm>
            <a:off x="457000" y="2217978"/>
            <a:ext cx="10932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Implementation of he NO OF WORDS IN A TRIE.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4" name="Google Shape;54;g3a4a1a9ffc3_0_0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US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{6F9AF233-E501-40E9-846D-D70BAAA75F94}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" name="Google Shape;60;p2"/>
          <p:cNvGraphicFramePr/>
          <p:nvPr/>
        </p:nvGraphicFramePr>
        <p:xfrm>
          <a:off x="1461073" y="274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{6F9AF233-E501-40E9-846D-D70BAAA75F94}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chemeClr val="accen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Implementation of he NO OF WORDS IN A TRIE.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Google Shape;61;p2"/>
          <p:cNvGraphicFramePr/>
          <p:nvPr/>
        </p:nvGraphicFramePr>
        <p:xfrm>
          <a:off x="1471064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{6F9AF233-E501-40E9-846D-D70BAAA75F94}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build a Trie data structure for efficient word storage.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insert multiple words and mark the end of each word node.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traverse the Trie and count all nodes where isEndOfWord = true.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display the total number of distinct words stored in the Trie.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838200" y="75130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/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838200" y="2211804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Write a program to count the total number of words stored in a Trie data structure.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1. Create Trie Node Structure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2. Insert Words into the Trie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3 . Define the Counting Function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4. Count Total Words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5. Return the total number of words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/>
          </a:p>
        </p:txBody>
      </p:sp>
      <p:sp>
        <p:nvSpPr>
          <p:cNvPr id="73" name="Google Shape;73;p4"/>
          <p:cNvSpPr txBox="1"/>
          <p:nvPr>
            <p:ph idx="1" type="body"/>
          </p:nvPr>
        </p:nvSpPr>
        <p:spPr>
          <a:xfrm>
            <a:off x="838200" y="2103500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4"/>
              <a:buNone/>
            </a:pPr>
            <a:r>
              <a:rPr lang="en-US" sz="2744">
                <a:latin typeface="Cambria"/>
                <a:ea typeface="Cambria"/>
                <a:cs typeface="Cambria"/>
                <a:sym typeface="Cambria"/>
              </a:rPr>
              <a:t>What is a Trie?</a:t>
            </a:r>
            <a:endParaRPr/>
          </a:p>
          <a:p>
            <a:pPr indent="-224027" lvl="0" marL="224027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A Trie (Prefix Tree) is a tree-like data structure used to store strings or words efficiently.</a:t>
            </a:r>
            <a:endParaRPr/>
          </a:p>
          <a:p>
            <a:pPr indent="-224027" lvl="0" marL="224027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Each node represents a character, and paths from the root form words.</a:t>
            </a:r>
            <a:endParaRPr/>
          </a:p>
          <a:p>
            <a:pPr indent="-224027" lvl="0" marL="224027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Each word ends at a node marked as endOfWord = 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352"/>
              <a:buNone/>
            </a:pPr>
            <a:br>
              <a:rPr lang="en-US" sz="2352">
                <a:latin typeface="Cambria"/>
                <a:ea typeface="Cambria"/>
                <a:cs typeface="Cambria"/>
                <a:sym typeface="Cambria"/>
              </a:rPr>
            </a:br>
            <a:r>
              <a:rPr lang="en-US" sz="2744"/>
              <a:t>Key Operations</a:t>
            </a:r>
            <a:endParaRPr sz="2744"/>
          </a:p>
          <a:p>
            <a:pPr indent="-224027" lvl="1" marL="672084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Insert(word) – Add a word to the Trie.</a:t>
            </a:r>
            <a:endParaRPr/>
          </a:p>
          <a:p>
            <a:pPr indent="-224027" lvl="1" marL="672084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Search(word) – Check if a word exists.</a:t>
            </a:r>
            <a:endParaRPr/>
          </a:p>
          <a:p>
            <a:pPr indent="-224027" lvl="1" marL="672084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CountWords() – Traverse the Trie to count how many words are stored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/>
          </a:p>
        </p:txBody>
      </p:sp>
      <p:sp>
        <p:nvSpPr>
          <p:cNvPr id="79" name="Google Shape;79;p5"/>
          <p:cNvSpPr txBox="1"/>
          <p:nvPr>
            <p:ph idx="1" type="body"/>
          </p:nvPr>
        </p:nvSpPr>
        <p:spPr>
          <a:xfrm>
            <a:off x="838200" y="2103500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Why Use Trie?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Provides fast prefix-based searching (O(L), where L = word length).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Useful for word auto-completion, spell checking, and dictionary applications.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>
            <p:ph idx="1" type="body"/>
          </p:nvPr>
        </p:nvSpPr>
        <p:spPr>
          <a:xfrm>
            <a:off x="838199" y="1734200"/>
            <a:ext cx="10655700" cy="4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4"/>
              <a:buNone/>
            </a:pPr>
            <a:r>
              <a:rPr lang="en-US" sz="2744">
                <a:latin typeface="Cambria"/>
                <a:ea typeface="Cambria"/>
                <a:cs typeface="Cambria"/>
                <a:sym typeface="Cambria"/>
              </a:rPr>
              <a:t>1. Create Trie Node Structure</a:t>
            </a:r>
            <a:endParaRPr/>
          </a:p>
          <a:p>
            <a:pPr indent="-224027" lvl="0" marL="224027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Each Trie node contains:</a:t>
            </a:r>
            <a:endParaRPr/>
          </a:p>
          <a:p>
            <a:pPr indent="-224027" lvl="1" marL="672084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children[26] → to store references for each alphabet letter (a–z)</a:t>
            </a:r>
            <a:endParaRPr/>
          </a:p>
          <a:p>
            <a:pPr indent="-224027" lvl="1" marL="672084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isEndOfWord → boolean flag to mark the end of a word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44"/>
              <a:buNone/>
            </a:pPr>
            <a:r>
              <a:rPr lang="en-US" sz="2744">
                <a:latin typeface="Cambria"/>
                <a:ea typeface="Cambria"/>
                <a:cs typeface="Cambria"/>
                <a:sym typeface="Cambria"/>
              </a:rPr>
              <a:t>2. Insert Words into the Trie</a:t>
            </a:r>
            <a:endParaRPr/>
          </a:p>
          <a:p>
            <a:pPr indent="-224027" lvl="0" marL="224027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For each word in the list:</a:t>
            </a:r>
            <a:endParaRPr/>
          </a:p>
          <a:p>
            <a:pPr indent="-224027" lvl="1" marL="672084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Start from the root node.</a:t>
            </a:r>
            <a:endParaRPr/>
          </a:p>
          <a:p>
            <a:pPr indent="-224027" lvl="1" marL="672084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For each character in the word:</a:t>
            </a:r>
            <a:endParaRPr/>
          </a:p>
          <a:p>
            <a:pPr indent="-224025" lvl="2" marL="112014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Check if the child node for that character exists.</a:t>
            </a:r>
            <a:endParaRPr sz="1960"/>
          </a:p>
          <a:p>
            <a:pPr indent="-224025" lvl="2" marL="112014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If not, create a new Trie node.</a:t>
            </a:r>
            <a:endParaRPr sz="1960"/>
          </a:p>
          <a:p>
            <a:pPr indent="-224025" lvl="2" marL="112014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Move to the child node.</a:t>
            </a:r>
            <a:endParaRPr sz="1960"/>
          </a:p>
          <a:p>
            <a:pPr indent="-224027" lvl="1" marL="672084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52"/>
              <a:buChar char="•"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After the last character, mark isEndOfWord = true.</a:t>
            </a:r>
            <a:endParaRPr/>
          </a:p>
        </p:txBody>
      </p:sp>
      <p:sp>
        <p:nvSpPr>
          <p:cNvPr id="85" name="Google Shape;85;p6"/>
          <p:cNvSpPr txBox="1"/>
          <p:nvPr/>
        </p:nvSpPr>
        <p:spPr>
          <a:xfrm>
            <a:off x="883919" y="604822"/>
            <a:ext cx="10424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838200" y="76462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/>
          </a:p>
        </p:txBody>
      </p:sp>
      <p:sp>
        <p:nvSpPr>
          <p:cNvPr id="91" name="Google Shape;91;p7"/>
          <p:cNvSpPr txBox="1"/>
          <p:nvPr>
            <p:ph idx="1" type="body"/>
          </p:nvPr>
        </p:nvSpPr>
        <p:spPr>
          <a:xfrm>
            <a:off x="838200" y="195964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3. Define the Counting Function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Create a recursive function countWords(node) that: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Initializes count = 0.</a:t>
            </a:r>
            <a:endParaRPr sz="20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If node.isEndOfWord == true, increment count.</a:t>
            </a:r>
            <a:endParaRPr sz="20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Recursively call countWords() for all non-null child nodes.</a:t>
            </a:r>
            <a:endParaRPr sz="20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Add up all returned counts and return the total.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4. Count Total Words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Call countWords(root) on the root node of the Trie.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The function will return the total number of distinct words stored in the Trie.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8"/>
          <p:cNvGraphicFramePr/>
          <p:nvPr/>
        </p:nvGraphicFramePr>
        <p:xfrm>
          <a:off x="987284" y="339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{6F9AF233-E501-40E9-846D-D70BAAA75F94}</a:tableStyleId>
              </a:tblPr>
              <a:tblGrid>
                <a:gridCol w="2038850"/>
                <a:gridCol w="2038850"/>
                <a:gridCol w="2038850"/>
                <a:gridCol w="2038850"/>
              </a:tblGrid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Word Inserted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/>
                        <a:t>Trie Path Created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/>
                        <a:t>isEndOfWord Set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/>
                        <a:t>Total Words So Far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a → p → p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Yes (at last p)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apple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a → p → p → l → e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Yes (at e)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bat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b → a → t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Yes (at t)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ball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b → a → l → l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Yes (at last l)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</a:tbl>
          </a:graphicData>
        </a:graphic>
      </p:graphicFrame>
      <p:sp>
        <p:nvSpPr>
          <p:cNvPr id="97" name="Google Shape;97;p8"/>
          <p:cNvSpPr txBox="1"/>
          <p:nvPr/>
        </p:nvSpPr>
        <p:spPr>
          <a:xfrm>
            <a:off x="933614" y="2540172"/>
            <a:ext cx="99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Let’s insert → app, apple, bat, ball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8"/>
          <p:cNvSpPr txBox="1"/>
          <p:nvPr>
            <p:ph type="title"/>
          </p:nvPr>
        </p:nvSpPr>
        <p:spPr>
          <a:xfrm>
            <a:off x="838200" y="85783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>
            <p:ph type="title"/>
          </p:nvPr>
        </p:nvSpPr>
        <p:spPr>
          <a:xfrm>
            <a:off x="838200" y="6847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/>
          </a:p>
        </p:txBody>
      </p:sp>
      <p:sp>
        <p:nvSpPr>
          <p:cNvPr id="104" name="Google Shape;104;p9"/>
          <p:cNvSpPr txBox="1"/>
          <p:nvPr>
            <p:ph idx="1" type="body"/>
          </p:nvPr>
        </p:nvSpPr>
        <p:spPr>
          <a:xfrm>
            <a:off x="838200" y="214522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rPr lang="en-US" sz="1608">
                <a:latin typeface="Cambria"/>
                <a:ea typeface="Cambria"/>
                <a:cs typeface="Cambria"/>
                <a:sym typeface="Cambria"/>
              </a:rPr>
              <a:t>class TrieNode {</a:t>
            </a:r>
            <a:endParaRPr/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rPr lang="en-US" sz="1608">
                <a:latin typeface="Cambria"/>
                <a:ea typeface="Cambria"/>
                <a:cs typeface="Cambria"/>
                <a:sym typeface="Cambria"/>
              </a:rPr>
              <a:t>    TrieNode[] children;</a:t>
            </a:r>
            <a:endParaRPr/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rPr lang="en-US" sz="1608">
                <a:latin typeface="Cambria"/>
                <a:ea typeface="Cambria"/>
                <a:cs typeface="Cambria"/>
                <a:sym typeface="Cambria"/>
              </a:rPr>
              <a:t>    boolean isEndOfWord;</a:t>
            </a:r>
            <a:endParaRPr/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t/>
            </a:r>
            <a:endParaRPr sz="1608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rPr lang="en-US" sz="1608">
                <a:latin typeface="Cambria"/>
                <a:ea typeface="Cambria"/>
                <a:cs typeface="Cambria"/>
                <a:sym typeface="Cambria"/>
              </a:rPr>
              <a:t>    public TrieNode() {</a:t>
            </a:r>
            <a:endParaRPr/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rPr lang="en-US" sz="1608">
                <a:latin typeface="Cambria"/>
                <a:ea typeface="Cambria"/>
                <a:cs typeface="Cambria"/>
                <a:sym typeface="Cambria"/>
              </a:rPr>
              <a:t>        children = new TrieNode[26];</a:t>
            </a:r>
            <a:endParaRPr/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rPr lang="en-US" sz="1608">
                <a:latin typeface="Cambria"/>
                <a:ea typeface="Cambria"/>
                <a:cs typeface="Cambria"/>
                <a:sym typeface="Cambria"/>
              </a:rPr>
              <a:t>        isEndOfWord = false;</a:t>
            </a:r>
            <a:endParaRPr/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rPr lang="en-US" sz="1608">
                <a:latin typeface="Cambria"/>
                <a:ea typeface="Cambria"/>
                <a:cs typeface="Cambria"/>
                <a:sym typeface="Cambria"/>
              </a:rPr>
              <a:t>    }</a:t>
            </a:r>
            <a:endParaRPr/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rPr lang="en-US" sz="1608">
                <a:latin typeface="Cambria"/>
                <a:ea typeface="Cambria"/>
                <a:cs typeface="Cambria"/>
                <a:sym typeface="Cambria"/>
              </a:rPr>
              <a:t>}</a:t>
            </a:r>
            <a:endParaRPr/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t/>
            </a:r>
            <a:endParaRPr sz="1608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rPr lang="en-US" sz="1608">
                <a:latin typeface="Cambria"/>
                <a:ea typeface="Cambria"/>
                <a:cs typeface="Cambria"/>
                <a:sym typeface="Cambria"/>
              </a:rPr>
              <a:t>class Trie {</a:t>
            </a:r>
            <a:endParaRPr/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rPr lang="en-US" sz="1608">
                <a:latin typeface="Cambria"/>
                <a:ea typeface="Cambria"/>
                <a:cs typeface="Cambria"/>
                <a:sym typeface="Cambria"/>
              </a:rPr>
              <a:t>    private TrieNode root;</a:t>
            </a:r>
            <a:endParaRPr/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t/>
            </a:r>
            <a:endParaRPr sz="1608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rPr lang="en-US" sz="1608">
                <a:latin typeface="Cambria"/>
                <a:ea typeface="Cambria"/>
                <a:cs typeface="Cambria"/>
                <a:sym typeface="Cambria"/>
              </a:rPr>
              <a:t>    public Trie() {</a:t>
            </a:r>
            <a:endParaRPr/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rPr lang="en-US" sz="1608">
                <a:latin typeface="Cambria"/>
                <a:ea typeface="Cambria"/>
                <a:cs typeface="Cambria"/>
                <a:sym typeface="Cambria"/>
              </a:rPr>
              <a:t>        root = new TrieNode();</a:t>
            </a:r>
            <a:endParaRPr/>
          </a:p>
          <a:p>
            <a:pPr indent="0" lvl="0" marL="0" rtl="0" algn="l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8"/>
              <a:buNone/>
            </a:pPr>
            <a:r>
              <a:rPr lang="en-US" sz="1608">
                <a:latin typeface="Cambria"/>
                <a:ea typeface="Cambria"/>
                <a:cs typeface="Cambria"/>
                <a:sym typeface="Cambria"/>
              </a:rPr>
              <a:t>    }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idx="1" type="body"/>
          </p:nvPr>
        </p:nvSpPr>
        <p:spPr>
          <a:xfrm>
            <a:off x="717754" y="1023652"/>
            <a:ext cx="10635900" cy="56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rPr lang="en-US" sz="2016">
                <a:latin typeface="Cambria"/>
                <a:ea typeface="Cambria"/>
                <a:cs typeface="Cambria"/>
                <a:sym typeface="Cambria"/>
              </a:rPr>
              <a:t>public void insert(String word)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rPr lang="en-US" sz="2016">
                <a:latin typeface="Cambria"/>
                <a:ea typeface="Cambria"/>
                <a:cs typeface="Cambria"/>
                <a:sym typeface="Cambria"/>
              </a:rPr>
              <a:t>        TrieNode node = root;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rPr lang="en-US" sz="2016">
                <a:latin typeface="Cambria"/>
                <a:ea typeface="Cambria"/>
                <a:cs typeface="Cambria"/>
                <a:sym typeface="Cambria"/>
              </a:rPr>
              <a:t>        for (char ch : word.toCharArray())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rPr lang="en-US" sz="2016">
                <a:latin typeface="Cambria"/>
                <a:ea typeface="Cambria"/>
                <a:cs typeface="Cambria"/>
                <a:sym typeface="Cambria"/>
              </a:rPr>
              <a:t>            int index = ch - 'a';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rPr lang="en-US" sz="2016">
                <a:latin typeface="Cambria"/>
                <a:ea typeface="Cambria"/>
                <a:cs typeface="Cambria"/>
                <a:sym typeface="Cambria"/>
              </a:rPr>
              <a:t>            if (node.children[index] == null)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rPr lang="en-US" sz="2016">
                <a:latin typeface="Cambria"/>
                <a:ea typeface="Cambria"/>
                <a:cs typeface="Cambria"/>
                <a:sym typeface="Cambria"/>
              </a:rPr>
              <a:t>                node.children[index] = new TrieNode();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rPr lang="en-US" sz="2016">
                <a:latin typeface="Cambria"/>
                <a:ea typeface="Cambria"/>
                <a:cs typeface="Cambria"/>
                <a:sym typeface="Cambria"/>
              </a:rPr>
              <a:t>            node = node.children[index];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rPr lang="en-US" sz="2016">
                <a:latin typeface="Cambria"/>
                <a:ea typeface="Cambria"/>
                <a:cs typeface="Cambria"/>
                <a:sym typeface="Cambria"/>
              </a:rPr>
              <a:t>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rPr lang="en-US" sz="2016">
                <a:latin typeface="Cambria"/>
                <a:ea typeface="Cambria"/>
                <a:cs typeface="Cambria"/>
                <a:sym typeface="Cambria"/>
              </a:rPr>
              <a:t>        node.isEndOfWord = true;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rPr lang="en-US" sz="2016">
                <a:latin typeface="Cambria"/>
                <a:ea typeface="Cambria"/>
                <a:cs typeface="Cambria"/>
                <a:sym typeface="Cambria"/>
              </a:rPr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t/>
            </a:r>
            <a:endParaRPr sz="2016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rPr lang="en-US" sz="2016">
                <a:latin typeface="Cambria"/>
                <a:ea typeface="Cambria"/>
                <a:cs typeface="Cambria"/>
                <a:sym typeface="Cambria"/>
              </a:rPr>
              <a:t>    // Count total words stored in the Trie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rPr lang="en-US" sz="2016">
                <a:latin typeface="Cambria"/>
                <a:ea typeface="Cambria"/>
                <a:cs typeface="Cambria"/>
                <a:sym typeface="Cambria"/>
              </a:rPr>
              <a:t>    public int countWords()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rPr lang="en-US" sz="2016">
                <a:latin typeface="Cambria"/>
                <a:ea typeface="Cambria"/>
                <a:cs typeface="Cambria"/>
                <a:sym typeface="Cambria"/>
              </a:rPr>
              <a:t>        return countWordsUtil(root);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None/>
            </a:pPr>
            <a:r>
              <a:rPr lang="en-US" sz="2016">
                <a:latin typeface="Cambria"/>
                <a:ea typeface="Cambria"/>
                <a:cs typeface="Cambria"/>
                <a:sym typeface="Cambria"/>
              </a:rPr>
              <a:t>    }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/>
        </p:nvSpPr>
        <p:spPr>
          <a:xfrm>
            <a:off x="812636" y="987807"/>
            <a:ext cx="69048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private int countWordsUtil(TrieNode node)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if (node == null)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int count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if (node.isEndOfWord)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count++;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for (int i = 0; i &lt; 26;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count += countWordsUtil(node.children[i]);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return count;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 txBox="1"/>
          <p:nvPr/>
        </p:nvSpPr>
        <p:spPr>
          <a:xfrm>
            <a:off x="724144" y="1195526"/>
            <a:ext cx="63954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public class Main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public static void main(String[] args)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Trie trie = new Trie();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trie.insert("apple");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trie.insert("app");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trie.insert("bat");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trie.insert("ball");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System.out.println("Number of words in Trie: " + trie.countWords());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 txBox="1"/>
          <p:nvPr>
            <p:ph type="title"/>
          </p:nvPr>
        </p:nvSpPr>
        <p:spPr>
          <a:xfrm>
            <a:off x="838200" y="92441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/>
          </a:p>
        </p:txBody>
      </p:sp>
      <p:pic>
        <p:nvPicPr>
          <p:cNvPr descr="Content Placeholder 7" id="125" name="Google Shape;125;p13"/>
          <p:cNvPicPr preferRelativeResize="0"/>
          <p:nvPr/>
        </p:nvPicPr>
        <p:blipFill rotWithShape="1">
          <a:blip r:embed="rId4">
            <a:alphaModFix/>
          </a:blip>
          <a:srcRect b="62610" l="0" r="0" t="0"/>
          <a:stretch/>
        </p:blipFill>
        <p:spPr>
          <a:xfrm>
            <a:off x="1592495" y="2615102"/>
            <a:ext cx="8065876" cy="934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Google Shape;130;p14"/>
          <p:cNvGraphicFramePr/>
          <p:nvPr/>
        </p:nvGraphicFramePr>
        <p:xfrm>
          <a:off x="987284" y="34633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{6F9AF233-E501-40E9-846D-D70BAAA75F94}</a:tableStyleId>
              </a:tblPr>
              <a:tblGrid>
                <a:gridCol w="2038850"/>
                <a:gridCol w="2038850"/>
                <a:gridCol w="2038850"/>
                <a:gridCol w="2038850"/>
              </a:tblGrid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/>
                        <a:t>Word Inserted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/>
                        <a:t>Path Created in Trie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/>
                        <a:t>Path Created in Trie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/>
                        <a:t>Total Words So Far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cat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c → a → t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 Yes (at ‘t’)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can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c → a → n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 Yes (at ‘n’)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dog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d → o → g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 Yes (at ‘g’)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dot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d → o → t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 Yes (at ‘t’)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door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d → o → o → r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 Yes (at ‘r’)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</a:tbl>
          </a:graphicData>
        </a:graphic>
      </p:graphicFrame>
      <p:sp>
        <p:nvSpPr>
          <p:cNvPr id="131" name="Google Shape;131;p14"/>
          <p:cNvSpPr txBox="1"/>
          <p:nvPr/>
        </p:nvSpPr>
        <p:spPr>
          <a:xfrm>
            <a:off x="933614" y="2606754"/>
            <a:ext cx="991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Let’s insert -&gt; cat, can , dog, dot, door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 txBox="1"/>
          <p:nvPr>
            <p:ph type="title"/>
          </p:nvPr>
        </p:nvSpPr>
        <p:spPr>
          <a:xfrm>
            <a:off x="838200" y="92441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Example walkthrough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138" name="Google Shape;138;p15"/>
          <p:cNvGraphicFramePr/>
          <p:nvPr/>
        </p:nvGraphicFramePr>
        <p:xfrm>
          <a:off x="1043608" y="26449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{6F9AF233-E501-40E9-846D-D70BAAA75F94}</a:tableStyleId>
              </a:tblPr>
              <a:tblGrid>
                <a:gridCol w="1921000"/>
                <a:gridCol w="1739350"/>
                <a:gridCol w="2345775"/>
                <a:gridCol w="3470775"/>
              </a:tblGrid>
              <a:tr h="5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Insertion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O(L)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O(L) (for new nodes)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Insert one word of length L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Counting Words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 (recursion stack, h = height of Trie)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Traverse all nodes to count words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Search (optional)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O(L)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O(1)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Check if a word exists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Total Space Used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 * alphabet size)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"/>
                        <a:buNone/>
                      </a:pPr>
                      <a:r>
                        <a:rPr lang="en-US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For all nodes in the Trie (26 pointers per node)</a:t>
                      </a:r>
                      <a:endParaRPr sz="1400" u="none" cap="none" strike="noStrike"/>
                    </a:p>
                  </a:txBody>
                  <a:tcPr marT="45725" marB="45725" marR="45725" marL="457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>
            <p:ph type="title"/>
          </p:nvPr>
        </p:nvSpPr>
        <p:spPr>
          <a:xfrm>
            <a:off x="838200" y="6847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44" name="Google Shape;144;p16"/>
          <p:cNvSpPr txBox="1"/>
          <p:nvPr>
            <p:ph idx="1" type="body"/>
          </p:nvPr>
        </p:nvSpPr>
        <p:spPr>
          <a:xfrm>
            <a:off x="838200" y="214522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A Trie (prefix tree) is a tree-based data structure used to store and search strings efficiently.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Each node represents a character, and paths from root to terminal nodes form words.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To count words, we traverse the Trie — each node that marks the end of a word increases the count.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The algorithm uses: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insert() – adds words letter by letter.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countWords() – recursively or iteratively counts nodes marked as end-of-word.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This provides fast insertion and word counting in O(n) time, where n is the total number of characters.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title"/>
          </p:nvPr>
        </p:nvSpPr>
        <p:spPr>
          <a:xfrm>
            <a:off x="838200" y="85783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50" name="Google Shape;150;p17"/>
          <p:cNvSpPr txBox="1"/>
          <p:nvPr>
            <p:ph idx="1" type="body"/>
          </p:nvPr>
        </p:nvSpPr>
        <p:spPr>
          <a:xfrm>
            <a:off x="838200" y="231833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This approach keeps all operations efficient (O(n) time, O(k) space).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Advantage: Quick word insertion and counting without repeated string comparisons.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Use Case: Ideal for dictionary-based applications like autocomplete or spell check.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>
            <p:ph type="title"/>
          </p:nvPr>
        </p:nvSpPr>
        <p:spPr>
          <a:xfrm>
            <a:off x="731675" y="7379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56" name="Google Shape;156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4"/>
              <a:buNone/>
            </a:pPr>
            <a:r>
              <a:rPr lang="en-US" sz="2744">
                <a:latin typeface="Cambria"/>
                <a:ea typeface="Cambria"/>
                <a:cs typeface="Cambria"/>
                <a:sym typeface="Cambria"/>
              </a:rPr>
              <a:t>1. Implement Trie (prefix Tree)— </a:t>
            </a:r>
            <a:r>
              <a:rPr lang="en-US">
                <a:solidFill>
                  <a:srgbClr val="196391"/>
                </a:solidFill>
              </a:rPr>
              <a:t>LeetCode #208</a:t>
            </a:r>
            <a:endParaRPr>
              <a:solidFill>
                <a:srgbClr val="19639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>
              <a:solidFill>
                <a:srgbClr val="19639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352"/>
              <a:buNone/>
            </a:pPr>
            <a:r>
              <a:rPr lang="en-US" sz="2352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US" u="sng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https://leetcode.com/problems/implement-trie-prefix-tree/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352"/>
              <a:buNone/>
            </a:pPr>
            <a:r>
              <a:t/>
            </a:r>
            <a:endParaRPr u="sng">
              <a:solidFill>
                <a:srgbClr val="0563C1"/>
              </a:solidFill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just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196391"/>
              </a:buClr>
              <a:buSzPts val="2352"/>
              <a:buNone/>
            </a:pPr>
            <a:r>
              <a:rPr lang="en-US" sz="2352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US">
                <a:solidFill>
                  <a:srgbClr val="000000"/>
                </a:solidFill>
              </a:rPr>
              <a:t>Implement a Trie data structure that efficiently stores and counts words.</a:t>
            </a:r>
            <a:endParaRPr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196391"/>
              </a:buClr>
              <a:buSzPts val="2352"/>
              <a:buNone/>
            </a:pPr>
            <a:r>
              <a:rPr lang="en-US" sz="2352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>
                <a:solidFill>
                  <a:srgbClr val="000000"/>
                </a:solidFill>
              </a:rPr>
              <a:t>This problem strengthens understanding of tree traversal and string storage optimization.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It’s also useful for applications like autocomplete, dictionary word count, and spell checking.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>
            <p:ph type="title"/>
          </p:nvPr>
        </p:nvSpPr>
        <p:spPr>
          <a:xfrm>
            <a:off x="838200" y="7113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62" name="Google Shape;162;p19"/>
          <p:cNvSpPr txBox="1"/>
          <p:nvPr>
            <p:ph idx="1" type="body"/>
          </p:nvPr>
        </p:nvSpPr>
        <p:spPr>
          <a:xfrm>
            <a:off x="838200" y="1435510"/>
            <a:ext cx="10515600" cy="4741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2. Implement Trie – ii – prefix tree— </a:t>
            </a:r>
            <a:r>
              <a:rPr lang="en-US">
                <a:solidFill>
                  <a:srgbClr val="196391"/>
                </a:solidFill>
              </a:rPr>
              <a:t>LeetCode #1804</a:t>
            </a:r>
            <a:endParaRPr>
              <a:solidFill>
                <a:srgbClr val="19639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>
              <a:solidFill>
                <a:srgbClr val="19639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US" u="sng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https://leetcode.com/problems/implement-trie-ii-prefix-tree/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u="sng">
              <a:solidFill>
                <a:srgbClr val="0563C1"/>
              </a:solidFill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US">
                <a:solidFill>
                  <a:srgbClr val="000000"/>
                </a:solidFill>
              </a:rPr>
              <a:t>: 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 exact words and prefixes using Trie nodes with word and prefix counters.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Strengthens understanding of efficient word storage, prefix counting, and Trie traversal.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>
            <p:ph idx="4294967295" type="ctrTitle"/>
          </p:nvPr>
        </p:nvSpPr>
        <p:spPr>
          <a:xfrm>
            <a:off x="1524000" y="202682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Cambria"/>
              <a:buNone/>
            </a:pPr>
            <a:r>
              <a:rPr b="0" i="0" lang="en-US" sz="7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