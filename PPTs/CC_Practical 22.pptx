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hy8dkd7A2RraLrOL/IVPAFVa/lQ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ADC5AE1-67F6-49AA-8E5F-5AF2E29E9A78}">
  <a:tblStyle styleId="{6ADC5AE1-67F6-49AA-8E5F-5AF2E29E9A7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a4a248395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4" name="Google Shape;84;g3a4a2483953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" name="Google Shape;11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0" name="Google Shape;12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" name="Google Shape;12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" name="Google Shape;13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8" name="Google Shape;13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0" name="Google Shape;15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6" name="Google Shape;15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2" name="Google Shape;16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8" name="Google Shape;16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4" name="Google Shape;17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0" name="Google Shape;180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 showMasterSp="0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a4a2483953_0_56"/>
          <p:cNvSpPr txBox="1"/>
          <p:nvPr>
            <p:ph idx="12" type="sldNum"/>
          </p:nvPr>
        </p:nvSpPr>
        <p:spPr>
          <a:xfrm>
            <a:off x="11095176" y="6414760"/>
            <a:ext cx="258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2" name="Google Shape;22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8" name="Google Shape;28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2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9" name="Google Shape;59;p2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0" name="Google Shape;60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2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hyperlink" Target="https://leetcode.com/problems/repeated-substring-pattern/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hyperlink" Target="https://leetcode.com/problems/longest-substring-without-repeating-characters/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hyperlink" Target="https://leetcode.com/problems/number-of-distinct-substrings-in-a-string/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oogle Shape;86;g3a4a2483953_0_0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87" name="Google Shape;87;g3a4a2483953_0_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" name="Google Shape;88;g3a4a2483953_0_0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US" sz="1800"/>
                <a:t>Artificial Intelligence &amp; Data Science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9" name="Google Shape;89;g3a4a2483953_0_0"/>
          <p:cNvSpPr/>
          <p:nvPr/>
        </p:nvSpPr>
        <p:spPr>
          <a:xfrm>
            <a:off x="5" y="1955845"/>
            <a:ext cx="12184856" cy="1938814"/>
          </a:xfrm>
          <a:custGeom>
            <a:rect b="b" l="l" r="r" t="t"/>
            <a:pathLst>
              <a:path extrusionOk="0" h="2628900" w="7556500">
                <a:moveTo>
                  <a:pt x="0" y="2628900"/>
                </a:moveTo>
                <a:lnTo>
                  <a:pt x="0" y="0"/>
                </a:lnTo>
                <a:lnTo>
                  <a:pt x="7556500" y="0"/>
                </a:lnTo>
                <a:lnTo>
                  <a:pt x="7556500" y="2628900"/>
                </a:lnTo>
                <a:lnTo>
                  <a:pt x="0" y="2628900"/>
                </a:lnTo>
                <a:close/>
              </a:path>
            </a:pathLst>
          </a:custGeom>
          <a:solidFill>
            <a:srgbClr val="1F487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4"/>
              <a:buFont typeface="Arial"/>
              <a:buNone/>
            </a:pPr>
            <a:r>
              <a:t/>
            </a:r>
            <a:endParaRPr b="0" i="0" sz="86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g3a4a2483953_0_0"/>
          <p:cNvSpPr txBox="1"/>
          <p:nvPr/>
        </p:nvSpPr>
        <p:spPr>
          <a:xfrm>
            <a:off x="457000" y="2217978"/>
            <a:ext cx="109320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Program to Find the Count of Distinct Substrings</a:t>
            </a:r>
            <a:endParaRPr b="1" i="0" sz="4000" u="none" cap="none" strike="noStrik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1" name="Google Shape;91;g3a4a2483953_0_0"/>
          <p:cNvSpPr/>
          <p:nvPr/>
        </p:nvSpPr>
        <p:spPr>
          <a:xfrm>
            <a:off x="456988" y="5601409"/>
            <a:ext cx="5110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Mr. Prakash Kumar Pandey</a:t>
            </a:r>
            <a:br>
              <a:rPr b="1" i="0" lang="en-US" sz="10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Assistant Professor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Artificial Intelligence &amp; Data Science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6" name="Google Shape;96;p2"/>
          <p:cNvGraphicFramePr/>
          <p:nvPr/>
        </p:nvGraphicFramePr>
        <p:xfrm>
          <a:off x="3309539" y="126583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{6ADC5AE1-67F6-49AA-8E5F-5AF2E29E9A78}</a:tableStyleId>
              </a:tblPr>
              <a:tblGrid>
                <a:gridCol w="5342850"/>
              </a:tblGrid>
              <a:tr h="35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mbria"/>
                        <a:buNone/>
                      </a:pPr>
                      <a:r>
                        <a:rPr b="1" i="0" lang="en-US" sz="24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Plan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7" name="Google Shape;97;p2"/>
          <p:cNvGraphicFramePr/>
          <p:nvPr/>
        </p:nvGraphicFramePr>
        <p:xfrm>
          <a:off x="1461074" y="27462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{6ADC5AE1-67F6-49AA-8E5F-5AF2E29E9A78}</a:tableStyleId>
              </a:tblPr>
              <a:tblGrid>
                <a:gridCol w="2865125"/>
                <a:gridCol w="6194325"/>
              </a:tblGrid>
              <a:tr h="16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Subject/Course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70C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Competitive Coding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6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Title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070C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Program to Find the Count of Distinct Substrings</a:t>
                      </a:r>
                      <a:endParaRPr sz="1400" u="none" cap="none" strike="noStrike"/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8" name="Google Shape;98;p2"/>
          <p:cNvGraphicFramePr/>
          <p:nvPr/>
        </p:nvGraphicFramePr>
        <p:xfrm>
          <a:off x="1471065" y="35952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{6ADC5AE1-67F6-49AA-8E5F-5AF2E29E9A78}</a:tableStyleId>
              </a:tblPr>
              <a:tblGrid>
                <a:gridCol w="9039450"/>
              </a:tblGrid>
              <a:tr h="20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C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Objectives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Understand what substrings are and how to count them.</a:t>
                      </a:r>
                      <a:endParaRPr sz="1400" u="none" cap="none" strike="noStrike"/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Learn how to find all distinct substrings in a given string.</a:t>
                      </a:r>
                      <a:endParaRPr sz="1400" u="none" cap="none" strike="noStrike"/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Explore efficient methods using hashing or Trie.</a:t>
                      </a:r>
                      <a:endParaRPr sz="1400" u="none" cap="none" strike="noStrike"/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US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Analyze time and space complexity of substring counting</a:t>
                      </a:r>
                      <a:endParaRPr sz="1400" u="none" cap="none" strike="noStrike"/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9" name="Google Shape;99;p2"/>
          <p:cNvSpPr/>
          <p:nvPr/>
        </p:nvSpPr>
        <p:spPr>
          <a:xfrm>
            <a:off x="3230880" y="4523264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>
            <p:ph type="title"/>
          </p:nvPr>
        </p:nvSpPr>
        <p:spPr>
          <a:xfrm>
            <a:off x="838200" y="88446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mbria"/>
              <a:buNone/>
            </a:pPr>
            <a:r>
              <a:rPr b="1" lang="en-US" sz="4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Problem Statement: </a:t>
            </a:r>
            <a:endParaRPr sz="4000"/>
          </a:p>
        </p:txBody>
      </p:sp>
      <p:sp>
        <p:nvSpPr>
          <p:cNvPr id="105" name="Google Shape;105;p3"/>
          <p:cNvSpPr txBox="1"/>
          <p:nvPr>
            <p:ph idx="1" type="body"/>
          </p:nvPr>
        </p:nvSpPr>
        <p:spPr>
          <a:xfrm>
            <a:off x="838200" y="2344969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Write a program to count the number of distinct substrings 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in a given string.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The program should: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1. Take a string as input.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2. Find all unique substrings.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3. Return the count of those distinct substrings.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/>
          <p:nvPr>
            <p:ph type="title"/>
          </p:nvPr>
        </p:nvSpPr>
        <p:spPr>
          <a:xfrm>
            <a:off x="838200" y="698038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US" sz="4000">
                <a:latin typeface="Cambria"/>
                <a:ea typeface="Cambria"/>
                <a:cs typeface="Cambria"/>
                <a:sym typeface="Cambria"/>
              </a:rPr>
              <a:t>Concept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1" name="Google Shape;111;p4"/>
          <p:cNvSpPr txBox="1"/>
          <p:nvPr>
            <p:ph idx="1" type="body"/>
          </p:nvPr>
        </p:nvSpPr>
        <p:spPr>
          <a:xfrm>
            <a:off x="838200" y="2023601"/>
            <a:ext cx="10515600" cy="44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>
                <a:latin typeface="Cambria"/>
                <a:ea typeface="Cambria"/>
                <a:cs typeface="Cambria"/>
                <a:sym typeface="Cambria"/>
              </a:rPr>
              <a:t>What is a Substring?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A </a:t>
            </a:r>
            <a:r>
              <a:rPr b="1" lang="en-US" sz="2400">
                <a:latin typeface="Cambria"/>
                <a:ea typeface="Cambria"/>
                <a:cs typeface="Cambria"/>
                <a:sym typeface="Cambria"/>
              </a:rPr>
              <a:t>substring</a:t>
            </a: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 is a continuous sequence of characters within a string.</a:t>
            </a:r>
            <a:br>
              <a:rPr lang="en-US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Example: For </a:t>
            </a:r>
            <a:r>
              <a:rPr lang="en-US">
                <a:latin typeface="Cambria"/>
                <a:ea typeface="Cambria"/>
                <a:cs typeface="Cambria"/>
                <a:sym typeface="Cambria"/>
              </a:rPr>
              <a:t>"abc"</a:t>
            </a: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, substrings are</a:t>
            </a:r>
            <a:br>
              <a:rPr lang="en-US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US">
                <a:latin typeface="Cambria"/>
                <a:ea typeface="Cambria"/>
                <a:cs typeface="Cambria"/>
                <a:sym typeface="Cambria"/>
              </a:rPr>
              <a:t>a</a:t>
            </a: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lang="en-US">
                <a:latin typeface="Cambria"/>
                <a:ea typeface="Cambria"/>
                <a:cs typeface="Cambria"/>
                <a:sym typeface="Cambria"/>
              </a:rPr>
              <a:t>b</a:t>
            </a: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lang="en-US">
                <a:latin typeface="Cambria"/>
                <a:ea typeface="Cambria"/>
                <a:cs typeface="Cambria"/>
                <a:sym typeface="Cambria"/>
              </a:rPr>
              <a:t>c</a:t>
            </a: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lang="en-US">
                <a:latin typeface="Cambria"/>
                <a:ea typeface="Cambria"/>
                <a:cs typeface="Cambria"/>
                <a:sym typeface="Cambria"/>
              </a:rPr>
              <a:t>ab</a:t>
            </a: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lang="en-US">
                <a:latin typeface="Cambria"/>
                <a:ea typeface="Cambria"/>
                <a:cs typeface="Cambria"/>
                <a:sym typeface="Cambria"/>
              </a:rPr>
              <a:t>bc</a:t>
            </a: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lang="en-US">
                <a:latin typeface="Cambria"/>
                <a:ea typeface="Cambria"/>
                <a:cs typeface="Cambria"/>
                <a:sym typeface="Cambria"/>
              </a:rPr>
              <a:t>abc</a:t>
            </a: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Total substrings = </a:t>
            </a:r>
            <a:r>
              <a:rPr i="1" lang="en-US" sz="2400">
                <a:latin typeface="Cambria"/>
                <a:ea typeface="Cambria"/>
                <a:cs typeface="Cambria"/>
                <a:sym typeface="Cambria"/>
              </a:rPr>
              <a:t>n × (n + 1) / 2</a:t>
            </a: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 for a string of length </a:t>
            </a:r>
            <a:r>
              <a:rPr i="1" lang="en-US" sz="2400">
                <a:latin typeface="Cambria"/>
                <a:ea typeface="Cambria"/>
                <a:cs typeface="Cambria"/>
                <a:sym typeface="Cambria"/>
              </a:rPr>
              <a:t>n</a:t>
            </a: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But we only want </a:t>
            </a:r>
            <a:r>
              <a:rPr b="1" lang="en-US" sz="2400">
                <a:latin typeface="Cambria"/>
                <a:ea typeface="Cambria"/>
                <a:cs typeface="Cambria"/>
                <a:sym typeface="Cambria"/>
              </a:rPr>
              <a:t>distinct substrings</a:t>
            </a: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 (no duplicates).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/>
          <p:cNvSpPr txBox="1"/>
          <p:nvPr>
            <p:ph type="title"/>
          </p:nvPr>
        </p:nvSpPr>
        <p:spPr>
          <a:xfrm>
            <a:off x="838200" y="73798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US" sz="4000">
                <a:latin typeface="Cambria"/>
                <a:ea typeface="Cambria"/>
                <a:cs typeface="Cambria"/>
                <a:sym typeface="Cambria"/>
              </a:rPr>
              <a:t>Concept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7" name="Google Shape;117;p5"/>
          <p:cNvSpPr txBox="1"/>
          <p:nvPr>
            <p:ph idx="1" type="body"/>
          </p:nvPr>
        </p:nvSpPr>
        <p:spPr>
          <a:xfrm>
            <a:off x="838200" y="2063550"/>
            <a:ext cx="10515600" cy="44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>
                <a:latin typeface="Cambria"/>
                <a:ea typeface="Cambria"/>
                <a:cs typeface="Cambria"/>
                <a:sym typeface="Cambria"/>
              </a:rPr>
              <a:t>⚙️ Approaches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1" lang="en-US" sz="2400">
                <a:latin typeface="Cambria"/>
                <a:ea typeface="Cambria"/>
                <a:cs typeface="Cambria"/>
                <a:sym typeface="Cambria"/>
              </a:rPr>
              <a:t>Brute Force:</a:t>
            </a: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 Generate all substrings and use a set — O(n²) substrings, O(n³) time (inefficient).</a:t>
            </a:r>
            <a:endParaRPr/>
          </a:p>
          <a:p>
            <a:pPr indent="-3619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1" lang="en-US" sz="2400">
                <a:latin typeface="Cambria"/>
                <a:ea typeface="Cambria"/>
                <a:cs typeface="Cambria"/>
                <a:sym typeface="Cambria"/>
              </a:rPr>
              <a:t>Trie-based Approach: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Insert all suffixes of the string into a Trie.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Each new branch in the Trie represents a </a:t>
            </a:r>
            <a:r>
              <a:rPr b="1" lang="en-US">
                <a:latin typeface="Cambria"/>
                <a:ea typeface="Cambria"/>
                <a:cs typeface="Cambria"/>
                <a:sym typeface="Cambria"/>
              </a:rPr>
              <a:t>new distinct substring</a:t>
            </a:r>
            <a:r>
              <a:rPr lang="en-US">
                <a:latin typeface="Cambria"/>
                <a:ea typeface="Cambria"/>
                <a:cs typeface="Cambria"/>
                <a:sym typeface="Cambria"/>
              </a:rPr>
              <a:t>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Count total Trie nodes = total distinct substrings + 1 (for empty string).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"/>
          <p:cNvSpPr txBox="1"/>
          <p:nvPr>
            <p:ph type="title"/>
          </p:nvPr>
        </p:nvSpPr>
        <p:spPr>
          <a:xfrm>
            <a:off x="838200" y="72467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US" sz="4000">
                <a:latin typeface="Cambria"/>
                <a:ea typeface="Cambria"/>
                <a:cs typeface="Cambria"/>
                <a:sym typeface="Cambria"/>
              </a:rPr>
              <a:t>Algorithm/Logic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6"/>
          <p:cNvSpPr txBox="1"/>
          <p:nvPr>
            <p:ph idx="1" type="body"/>
          </p:nvPr>
        </p:nvSpPr>
        <p:spPr>
          <a:xfrm>
            <a:off x="838200" y="2185171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1. Initialize an empty HashSet.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2. Generate all substrings using two loops: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   - Outer loop for start index.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   - Inner loop for end index.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3. Add each substring to the HashSet.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4. The size of the HashSet gives the distinct substring count.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"/>
          <p:cNvSpPr txBox="1"/>
          <p:nvPr/>
        </p:nvSpPr>
        <p:spPr>
          <a:xfrm>
            <a:off x="887895" y="2460273"/>
            <a:ext cx="100053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Example: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Input: "aba"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All substrings: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a, b, a, ab, ba, aba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Distinct substrings: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a, b, ab, ba, aba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Count =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7"/>
          <p:cNvSpPr txBox="1"/>
          <p:nvPr>
            <p:ph type="title"/>
          </p:nvPr>
        </p:nvSpPr>
        <p:spPr>
          <a:xfrm>
            <a:off x="838200" y="77793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US" sz="4000">
                <a:latin typeface="Cambria"/>
                <a:ea typeface="Cambria"/>
                <a:cs typeface="Cambria"/>
                <a:sym typeface="Cambria"/>
              </a:rPr>
              <a:t>Visualization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"/>
          <p:cNvSpPr txBox="1"/>
          <p:nvPr>
            <p:ph type="title"/>
          </p:nvPr>
        </p:nvSpPr>
        <p:spPr>
          <a:xfrm>
            <a:off x="838200" y="67140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US" sz="4000">
                <a:latin typeface="Cambria"/>
                <a:ea typeface="Cambria"/>
                <a:cs typeface="Cambria"/>
                <a:sym typeface="Cambria"/>
              </a:rPr>
              <a:t>Code Implementation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35" name="Google Shape;135;p8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4430" y="1692485"/>
            <a:ext cx="9195300" cy="501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"/>
          <p:cNvSpPr txBox="1"/>
          <p:nvPr>
            <p:ph type="title"/>
          </p:nvPr>
        </p:nvSpPr>
        <p:spPr>
          <a:xfrm>
            <a:off x="838200" y="99100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US" sz="4000">
                <a:latin typeface="Cambria"/>
                <a:ea typeface="Cambria"/>
                <a:cs typeface="Cambria"/>
                <a:sym typeface="Cambria"/>
              </a:rPr>
              <a:t>Output</a:t>
            </a:r>
            <a:endParaRPr sz="400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41" name="Google Shape;141;p9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73682" y="2316564"/>
            <a:ext cx="6855600" cy="158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"/>
          <p:cNvSpPr txBox="1"/>
          <p:nvPr>
            <p:ph type="title"/>
          </p:nvPr>
        </p:nvSpPr>
        <p:spPr>
          <a:xfrm>
            <a:off x="838200" y="911102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US" sz="4000">
                <a:latin typeface="Cambria"/>
                <a:ea typeface="Cambria"/>
                <a:cs typeface="Cambria"/>
                <a:sym typeface="Cambria"/>
              </a:rPr>
              <a:t>Example Walkthrough</a:t>
            </a:r>
            <a:endParaRPr/>
          </a:p>
        </p:txBody>
      </p:sp>
      <p:sp>
        <p:nvSpPr>
          <p:cNvPr id="147" name="Google Shape;147;p10"/>
          <p:cNvSpPr txBox="1"/>
          <p:nvPr>
            <p:ph idx="1" type="body"/>
          </p:nvPr>
        </p:nvSpPr>
        <p:spPr>
          <a:xfrm>
            <a:off x="838200" y="2371602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1. Start = 0 → Substrings: a, ab, aba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2. Start = 1 → Substrings: b, ba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3. Start = 2 → Substrings: a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4. Unique ones stored in HashSet.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5. Final count = 5.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"/>
          <p:cNvSpPr txBox="1"/>
          <p:nvPr>
            <p:ph type="title"/>
          </p:nvPr>
        </p:nvSpPr>
        <p:spPr>
          <a:xfrm>
            <a:off x="838200" y="977684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US" sz="4000">
                <a:latin typeface="Cambria"/>
                <a:ea typeface="Cambria"/>
                <a:cs typeface="Cambria"/>
                <a:sym typeface="Cambria"/>
              </a:rPr>
              <a:t>Time &amp; Space Complexity</a:t>
            </a:r>
            <a:endParaRPr/>
          </a:p>
        </p:txBody>
      </p:sp>
      <p:sp>
        <p:nvSpPr>
          <p:cNvPr id="153" name="Google Shape;153;p11"/>
          <p:cNvSpPr txBox="1"/>
          <p:nvPr>
            <p:ph idx="1" type="body"/>
          </p:nvPr>
        </p:nvSpPr>
        <p:spPr>
          <a:xfrm>
            <a:off x="838200" y="2438184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Time Complexity: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O(n²) – two nested loops for substring generation.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Space Complexity: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O(n²) – storing all substrings in the HashSet.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"/>
          <p:cNvSpPr txBox="1"/>
          <p:nvPr>
            <p:ph type="title"/>
          </p:nvPr>
        </p:nvSpPr>
        <p:spPr>
          <a:xfrm>
            <a:off x="838200" y="99100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US" sz="4000">
                <a:latin typeface="Cambria"/>
                <a:ea typeface="Cambria"/>
                <a:cs typeface="Cambria"/>
                <a:sym typeface="Cambria"/>
              </a:rPr>
              <a:t>Summary</a:t>
            </a:r>
            <a:endParaRPr/>
          </a:p>
        </p:txBody>
      </p:sp>
      <p:sp>
        <p:nvSpPr>
          <p:cNvPr id="159" name="Google Shape;159;p12"/>
          <p:cNvSpPr txBox="1"/>
          <p:nvPr>
            <p:ph idx="1" type="body"/>
          </p:nvPr>
        </p:nvSpPr>
        <p:spPr>
          <a:xfrm>
            <a:off x="838200" y="2451501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1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1. Substrings are continuous character sequences.</a:t>
            </a:r>
            <a:endParaRPr/>
          </a:p>
          <a:p>
            <a:pPr indent="0" lvl="1" marL="45720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2. Use HashSet to remove duplicates automatically.</a:t>
            </a:r>
            <a:endParaRPr/>
          </a:p>
          <a:p>
            <a:pPr indent="0" lvl="1" marL="45720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3. Total time complexity is O(n²).</a:t>
            </a:r>
            <a:endParaRPr/>
          </a:p>
          <a:p>
            <a:pPr indent="0" lvl="1" marL="45720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4. Simple and effective approach for small strings.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"/>
          <p:cNvSpPr txBox="1"/>
          <p:nvPr>
            <p:ph type="title"/>
          </p:nvPr>
        </p:nvSpPr>
        <p:spPr>
          <a:xfrm>
            <a:off x="838200" y="10709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US" sz="4000">
                <a:latin typeface="Cambria"/>
                <a:ea typeface="Cambria"/>
                <a:cs typeface="Cambria"/>
                <a:sym typeface="Cambria"/>
              </a:rPr>
              <a:t>Practice Questions:</a:t>
            </a:r>
            <a:endParaRPr/>
          </a:p>
        </p:txBody>
      </p:sp>
      <p:sp>
        <p:nvSpPr>
          <p:cNvPr id="165" name="Google Shape;165;p13"/>
          <p:cNvSpPr txBox="1"/>
          <p:nvPr>
            <p:ph idx="1" type="body"/>
          </p:nvPr>
        </p:nvSpPr>
        <p:spPr>
          <a:xfrm>
            <a:off x="838200" y="253140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>
                <a:latin typeface="Cambria"/>
                <a:ea typeface="Cambria"/>
                <a:cs typeface="Cambria"/>
                <a:sym typeface="Cambria"/>
              </a:rPr>
              <a:t>1. Repeated Substring Pattern </a:t>
            </a: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— </a:t>
            </a:r>
            <a:r>
              <a:rPr lang="en-US" sz="2400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LeetCode #459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🔗 </a:t>
            </a:r>
            <a:r>
              <a:rPr lang="en-US" sz="2400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4"/>
              </a:rPr>
              <a:t>https://leetcode.com/problems/repeated-substring-pattern/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96391"/>
              </a:buClr>
              <a:buSzPts val="2400"/>
              <a:buNone/>
            </a:pPr>
            <a:r>
              <a:rPr b="1" lang="en-US" sz="2400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Concept: </a:t>
            </a: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Check if the given string can be formed by repeating a substring.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96391"/>
              </a:buClr>
              <a:buSzPts val="2400"/>
              <a:buNone/>
            </a:pPr>
            <a:r>
              <a:rPr b="1" lang="en-US" sz="2400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Why Practice: </a:t>
            </a: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Related to substring structure and repetition detection.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4"/>
          <p:cNvSpPr txBox="1"/>
          <p:nvPr>
            <p:ph type="title"/>
          </p:nvPr>
        </p:nvSpPr>
        <p:spPr>
          <a:xfrm>
            <a:off x="838200" y="73798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US" sz="4000">
                <a:latin typeface="Cambria"/>
                <a:ea typeface="Cambria"/>
                <a:cs typeface="Cambria"/>
                <a:sym typeface="Cambria"/>
              </a:rPr>
              <a:t>Practice Questions:</a:t>
            </a:r>
            <a:endParaRPr/>
          </a:p>
        </p:txBody>
      </p:sp>
      <p:sp>
        <p:nvSpPr>
          <p:cNvPr id="171" name="Google Shape;171;p14"/>
          <p:cNvSpPr txBox="1"/>
          <p:nvPr>
            <p:ph idx="1" type="body"/>
          </p:nvPr>
        </p:nvSpPr>
        <p:spPr>
          <a:xfrm>
            <a:off x="838200" y="2198487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>
                <a:latin typeface="Cambria"/>
                <a:ea typeface="Cambria"/>
                <a:cs typeface="Cambria"/>
                <a:sym typeface="Cambria"/>
              </a:rPr>
              <a:t>2. Longest Substring Without Repeating Characters — </a:t>
            </a:r>
            <a:r>
              <a:rPr lang="en-US" sz="2400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LeetCode #3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🔗</a:t>
            </a:r>
            <a:r>
              <a:rPr lang="en-US" sz="2400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4"/>
              </a:rPr>
              <a:t>https://leetcode.com/problems/longest-substring-without-repeating-characters/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96391"/>
              </a:buClr>
              <a:buSzPts val="2400"/>
              <a:buNone/>
            </a:pPr>
            <a:r>
              <a:rPr b="1" lang="en-US" sz="2400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Concept</a:t>
            </a: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: Sliding window and unique substring logic.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96391"/>
              </a:buClr>
              <a:buSzPts val="2400"/>
              <a:buNone/>
            </a:pPr>
            <a:r>
              <a:rPr b="1" lang="en-US" sz="2400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Why Practice: </a:t>
            </a: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Reinforces unique substring concepts.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5"/>
          <p:cNvSpPr txBox="1"/>
          <p:nvPr>
            <p:ph type="title"/>
          </p:nvPr>
        </p:nvSpPr>
        <p:spPr>
          <a:xfrm>
            <a:off x="838200" y="80457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US" sz="4000">
                <a:latin typeface="Cambria"/>
                <a:ea typeface="Cambria"/>
                <a:cs typeface="Cambria"/>
                <a:sym typeface="Cambria"/>
              </a:rPr>
              <a:t>Practice Questions:</a:t>
            </a:r>
            <a:endParaRPr/>
          </a:p>
        </p:txBody>
      </p:sp>
      <p:sp>
        <p:nvSpPr>
          <p:cNvPr id="177" name="Google Shape;177;p15"/>
          <p:cNvSpPr txBox="1"/>
          <p:nvPr>
            <p:ph idx="1" type="body"/>
          </p:nvPr>
        </p:nvSpPr>
        <p:spPr>
          <a:xfrm>
            <a:off x="838200" y="226507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>
                <a:latin typeface="Cambria"/>
                <a:ea typeface="Cambria"/>
                <a:cs typeface="Cambria"/>
                <a:sym typeface="Cambria"/>
              </a:rPr>
              <a:t>3. Count Unique Substrings – LeetCode #1698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🔗 </a:t>
            </a:r>
            <a:r>
              <a:rPr lang="en-US" sz="2400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4"/>
              </a:rPr>
              <a:t>https://leetcode.com/problems/number-of-distinct-substrings-in-a-string/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400"/>
              <a:buNone/>
            </a:pPr>
            <a:r>
              <a:rPr b="1" lang="en-US" sz="240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Concept:</a:t>
            </a:r>
            <a:br>
              <a:rPr lang="en-US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Use Trie (Prefix Tree) or Suffix Array to count the number of distinct substrings efficiently.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400"/>
              <a:buNone/>
            </a:pPr>
            <a:r>
              <a:rPr b="1" lang="en-US" sz="240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Why Practice:</a:t>
            </a:r>
            <a:br>
              <a:rPr lang="en-US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This problem is a </a:t>
            </a:r>
            <a:r>
              <a:rPr b="1" lang="en-US" sz="2400">
                <a:latin typeface="Cambria"/>
                <a:ea typeface="Cambria"/>
                <a:cs typeface="Cambria"/>
                <a:sym typeface="Cambria"/>
              </a:rPr>
              <a:t>direct application</a:t>
            </a: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 of the practical — it strengthens understanding of </a:t>
            </a:r>
            <a:r>
              <a:rPr b="1" lang="en-US" sz="2400">
                <a:latin typeface="Cambria"/>
                <a:ea typeface="Cambria"/>
                <a:cs typeface="Cambria"/>
                <a:sym typeface="Cambria"/>
              </a:rPr>
              <a:t>Trie-based substring counting</a:t>
            </a: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b="1" lang="en-US" sz="2400">
                <a:latin typeface="Cambria"/>
                <a:ea typeface="Cambria"/>
                <a:cs typeface="Cambria"/>
                <a:sym typeface="Cambria"/>
              </a:rPr>
              <a:t>suffix generation</a:t>
            </a: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, and </a:t>
            </a:r>
            <a:r>
              <a:rPr b="1" lang="en-US" sz="2400">
                <a:latin typeface="Cambria"/>
                <a:ea typeface="Cambria"/>
                <a:cs typeface="Cambria"/>
                <a:sym typeface="Cambria"/>
              </a:rPr>
              <a:t>string manipulation</a:t>
            </a: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6"/>
          <p:cNvSpPr txBox="1"/>
          <p:nvPr>
            <p:ph type="ctrTitle"/>
          </p:nvPr>
        </p:nvSpPr>
        <p:spPr>
          <a:xfrm>
            <a:off x="1524000" y="2026822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Cambria"/>
              <a:buNone/>
            </a:pPr>
            <a:r>
              <a:rPr b="1" lang="en-US" sz="7000">
                <a:latin typeface="Cambria"/>
                <a:ea typeface="Cambria"/>
                <a:cs typeface="Cambria"/>
                <a:sym typeface="Cambria"/>
              </a:rPr>
              <a:t>Thanks</a:t>
            </a:r>
            <a:endParaRPr b="1" sz="70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2025-10-28T09:21:00Z</dcterms:created>
  <dc:creator>Prakash K. P.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B111CD9F77DE4BB6B11444A85B8E3E7C_13</vt:lpwstr>
  </property>
  <property fmtid="{D5CDD505-2E9C-101B-9397-08002B2CF9AE}" pid="3" name="KSOProductBuildVer">
    <vt:lpwstr>1033-12.2.0.23155</vt:lpwstr>
  </property>
</Properties>
</file>