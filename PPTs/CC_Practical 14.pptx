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75m9I79k0A1/+tFA78UV7Ki7y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E41D754-B2C6-4D7E-9640-B15741D0DF5E}">
  <a:tblStyle styleId="{6E41D754-B2C6-4D7E-9640-B15741D0DF5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4a0af61d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g3a4a0af61d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2" name="Google Shape;13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hyperlink" Target="https://leetcode.com/problems/boundary-of-binary-tree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3a4a0af61d8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2100"/>
            <a:ext cx="4684225" cy="102877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3a4a0af61d8_0_0"/>
          <p:cNvSpPr/>
          <p:nvPr/>
        </p:nvSpPr>
        <p:spPr>
          <a:xfrm>
            <a:off x="5" y="1955845"/>
            <a:ext cx="12184856" cy="1938814"/>
          </a:xfrm>
          <a:custGeom>
            <a:rect b="b" l="l" r="r" t="t"/>
            <a:pathLst>
              <a:path extrusionOk="0" h="2628900" w="7556500">
                <a:moveTo>
                  <a:pt x="0" y="2628900"/>
                </a:moveTo>
                <a:lnTo>
                  <a:pt x="0" y="0"/>
                </a:lnTo>
                <a:lnTo>
                  <a:pt x="7556500" y="0"/>
                </a:lnTo>
                <a:lnTo>
                  <a:pt x="7556500" y="2628900"/>
                </a:lnTo>
                <a:lnTo>
                  <a:pt x="0" y="2628900"/>
                </a:lnTo>
                <a:close/>
              </a:path>
            </a:pathLst>
          </a:custGeom>
          <a:solidFill>
            <a:srgbClr val="1F487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4"/>
              <a:buFont typeface="Arial"/>
              <a:buNone/>
            </a:pPr>
            <a:r>
              <a:t/>
            </a:r>
            <a:endParaRPr b="0" i="0" sz="86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a4a0af61d8_0_0"/>
          <p:cNvSpPr txBox="1"/>
          <p:nvPr/>
        </p:nvSpPr>
        <p:spPr>
          <a:xfrm>
            <a:off x="457000" y="2217978"/>
            <a:ext cx="10932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IN" sz="40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Perform Boundary Traversal on a Binary Search Tree (BST)</a:t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1" i="0" sz="4000" u="none" cap="none" strike="noStrike">
              <a:solidFill>
                <a:schemeClr val="lt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7" name="Google Shape;87;g3a4a0af61d8_0_0"/>
          <p:cNvSpPr/>
          <p:nvPr/>
        </p:nvSpPr>
        <p:spPr>
          <a:xfrm>
            <a:off x="456988" y="5601409"/>
            <a:ext cx="5110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IN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Mr. Prakash Kumar Pandey</a:t>
            </a:r>
            <a:br>
              <a:rPr b="1" i="0" lang="en-IN" sz="106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Assistant Professor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-IN"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Artificial Intelligence &amp; Data Science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2"/>
          <p:cNvGraphicFramePr/>
          <p:nvPr/>
        </p:nvGraphicFramePr>
        <p:xfrm>
          <a:off x="3309539" y="126583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{6E41D754-B2C6-4D7E-9640-B15741D0DF5E}</a:tableStyleId>
              </a:tblPr>
              <a:tblGrid>
                <a:gridCol w="534285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Cambria"/>
                        <a:buNone/>
                      </a:pPr>
                      <a:r>
                        <a:rPr b="1" i="0" lang="en-IN" sz="24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Plan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3" name="Google Shape;93;p2"/>
          <p:cNvGraphicFramePr/>
          <p:nvPr/>
        </p:nvGraphicFramePr>
        <p:xfrm>
          <a:off x="1461074" y="27462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{6E41D754-B2C6-4D7E-9640-B15741D0DF5E}</a:tableStyleId>
              </a:tblPr>
              <a:tblGrid>
                <a:gridCol w="2865125"/>
                <a:gridCol w="6194325"/>
              </a:tblGrid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Subject/Course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Competitive Coding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160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0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Title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70C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rgbClr val="0070C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Traversal on a Binary Search Tree (BST)</a:t>
                      </a:r>
                      <a:endParaRPr sz="1400" u="none" cap="none" strike="noStrike"/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4" name="Google Shape;94;p2"/>
          <p:cNvGraphicFramePr/>
          <p:nvPr/>
        </p:nvGraphicFramePr>
        <p:xfrm>
          <a:off x="1471065" y="35952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{6E41D754-B2C6-4D7E-9640-B15741D0DF5E}</a:tableStyleId>
              </a:tblPr>
              <a:tblGrid>
                <a:gridCol w="9039450"/>
              </a:tblGrid>
              <a:tr h="20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800"/>
                        <a:buFont typeface="Cambria"/>
                        <a:buNone/>
                      </a:pPr>
                      <a:r>
                        <a:rPr b="1" i="0" lang="en-IN" sz="1800" u="none" cap="none" strike="noStrike">
                          <a:solidFill>
                            <a:srgbClr val="C00000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Lesson Objectives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Understand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the concept of </a:t>
                      </a: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traversal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in a binary tree or BST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0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Learn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how to print all nodes appearing on the </a:t>
                      </a: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(outline)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of the tree.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mbria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Implement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boundary traversal using a combination of </a:t>
                      </a: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traversal methods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Analyze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time and space complexity and understand its </a:t>
                      </a:r>
                      <a:r>
                        <a:rPr b="1"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real-world significance</a:t>
                      </a:r>
                      <a:r>
                        <a:rPr lang="en-IN" sz="1800" u="none" cap="none" strike="noStrike">
                          <a:solidFill>
                            <a:schemeClr val="dk1"/>
                          </a:solidFill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 in visualization and tree layout problems.</a:t>
                      </a:r>
                      <a:endParaRPr sz="18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38100" marB="38100" marR="76200" marL="76200" anchor="ctr">
                    <a:lnL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7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"/>
          <p:cNvSpPr txBox="1"/>
          <p:nvPr>
            <p:ph type="title"/>
          </p:nvPr>
        </p:nvSpPr>
        <p:spPr>
          <a:xfrm>
            <a:off x="838200" y="8045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mbria"/>
              <a:buNone/>
            </a:pPr>
            <a:r>
              <a:rPr b="1" lang="en-IN" sz="400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Problem Statement: </a:t>
            </a:r>
            <a:endParaRPr sz="4000"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838200" y="2265070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Given a Binary Search Tree (BST), print all the nodes that form its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boundary traversal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in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anticlockwise order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starting from the root node.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838200" y="72467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Concept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838200" y="2050234"/>
            <a:ext cx="10515600" cy="44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</a:pP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Boundary Traversal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of a tree means printing all the nodes that appear on the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outer boundary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(visible from outside).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The boundary includes:</a:t>
            </a:r>
            <a:endParaRPr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romanL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Left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– Nodes on the left edge (excluding leaves).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romanL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Leaf Nodes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– All leaf nodes (from left to right).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Cambria"/>
              <a:buAutoNum type="romanL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Right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– Nodes on the right edge (excluding leaves, printed in reverse).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IN">
                <a:latin typeface="Cambria"/>
                <a:ea typeface="Cambria"/>
                <a:cs typeface="Cambria"/>
                <a:sym typeface="Cambria"/>
              </a:rPr>
              <a:t>This traversal forms the </a:t>
            </a:r>
            <a:r>
              <a:rPr b="1" lang="en-IN">
                <a:latin typeface="Cambria"/>
                <a:ea typeface="Cambria"/>
                <a:cs typeface="Cambria"/>
                <a:sym typeface="Cambria"/>
              </a:rPr>
              <a:t>“perimeter view”</a:t>
            </a:r>
            <a:r>
              <a:rPr lang="en-IN">
                <a:latin typeface="Cambria"/>
                <a:ea typeface="Cambria"/>
                <a:cs typeface="Cambria"/>
                <a:sym typeface="Cambria"/>
              </a:rPr>
              <a:t> of the tree — similar to tracing the tree outline clockwise.</a:t>
            </a:r>
            <a:endParaRPr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Algorithm/Logic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2" name="Google Shape;112;p5"/>
          <p:cNvSpPr txBox="1"/>
          <p:nvPr>
            <p:ph idx="1" type="body"/>
          </p:nvPr>
        </p:nvSpPr>
        <p:spPr>
          <a:xfrm>
            <a:off x="838200" y="2238437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Print Root Node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(if not null).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Print Left Boundary: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Traverse down the left side until reaching leaf nodes.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Print All Leaf Nodes: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Perform an inorder traversal to print every leaf node.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Print Right Boundary (Bottom to Top):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Traverse down the right side, collect nodes, and print them in reverse order.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Combine all results to form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boundary traversal sequence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b="1" sz="2400">
              <a:solidFill>
                <a:srgbClr val="19639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type="title"/>
          </p:nvPr>
        </p:nvSpPr>
        <p:spPr>
          <a:xfrm>
            <a:off x="838200" y="77793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Visualization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18" name="Google Shape;11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0543" y="2429917"/>
            <a:ext cx="4085463" cy="35925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58992" y="2358277"/>
            <a:ext cx="4085462" cy="363151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7"/>
          <p:cNvSpPr txBox="1"/>
          <p:nvPr/>
        </p:nvSpPr>
        <p:spPr>
          <a:xfrm>
            <a:off x="4063600" y="6288152"/>
            <a:ext cx="4503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Output </a:t>
            </a:r>
            <a:r>
              <a:rPr b="0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: [1, 2, 4, 8, 9, 6, 7, 3]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7"/>
          <p:cNvSpPr txBox="1"/>
          <p:nvPr/>
        </p:nvSpPr>
        <p:spPr>
          <a:xfrm>
            <a:off x="1042900" y="1783252"/>
            <a:ext cx="192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Input :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2" name="Google Shape;122;p7"/>
          <p:cNvSpPr txBox="1"/>
          <p:nvPr/>
        </p:nvSpPr>
        <p:spPr>
          <a:xfrm>
            <a:off x="6959000" y="1783252"/>
            <a:ext cx="3635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rgbClr val="273239"/>
                </a:solidFill>
                <a:highlight>
                  <a:srgbClr val="F9F9F9"/>
                </a:highlight>
                <a:latin typeface="Cambria"/>
                <a:ea typeface="Cambria"/>
                <a:cs typeface="Cambria"/>
                <a:sym typeface="Cambria"/>
              </a:rPr>
              <a:t>Explanation:</a:t>
            </a:r>
            <a:endParaRPr b="0" i="0" sz="24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3" name="Google Shape;123;p7"/>
          <p:cNvSpPr txBox="1"/>
          <p:nvPr/>
        </p:nvSpPr>
        <p:spPr>
          <a:xfrm>
            <a:off x="4503875" y="827813"/>
            <a:ext cx="5487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IN" sz="19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Root → Left Boundary → Leaves → Right Boundary</a:t>
            </a:r>
            <a:endParaRPr b="0" i="0" sz="19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 txBox="1"/>
          <p:nvPr>
            <p:ph type="title"/>
          </p:nvPr>
        </p:nvSpPr>
        <p:spPr>
          <a:xfrm>
            <a:off x="838200" y="57818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Code Implementation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29" name="Google Shape;12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8200" y="1903752"/>
            <a:ext cx="10463934" cy="48625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5038" y="1143086"/>
            <a:ext cx="10221925" cy="55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1"/>
          <p:cNvSpPr txBox="1"/>
          <p:nvPr>
            <p:ph type="title"/>
          </p:nvPr>
        </p:nvSpPr>
        <p:spPr>
          <a:xfrm>
            <a:off x="824883" y="89778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Output :</a:t>
            </a:r>
            <a:endParaRPr b="1" sz="4000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140" name="Google Shape;1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7846" y="2559998"/>
            <a:ext cx="8829675" cy="172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"/>
          <p:cNvSpPr txBox="1"/>
          <p:nvPr>
            <p:ph type="title"/>
          </p:nvPr>
        </p:nvSpPr>
        <p:spPr>
          <a:xfrm>
            <a:off x="838200" y="148371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Time &amp; Space Complexity</a:t>
            </a:r>
            <a:endParaRPr/>
          </a:p>
        </p:txBody>
      </p:sp>
      <p:graphicFrame>
        <p:nvGraphicFramePr>
          <p:cNvPr id="146" name="Google Shape;146;p13"/>
          <p:cNvGraphicFramePr/>
          <p:nvPr/>
        </p:nvGraphicFramePr>
        <p:xfrm>
          <a:off x="674450" y="33590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{6E41D754-B2C6-4D7E-9640-B15741D0DF5E}</a:tableStyleId>
              </a:tblPr>
              <a:tblGrid>
                <a:gridCol w="1775725"/>
                <a:gridCol w="1979375"/>
                <a:gridCol w="2160775"/>
                <a:gridCol w="4518125"/>
              </a:tblGrid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Operation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Time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Space Complexity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b="1"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Explanation</a:t>
                      </a:r>
                      <a:endParaRPr b="1"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Boundary Traversal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O(n)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O(h)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24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Each node is visited once; recursion depth = tree height (h).</a:t>
                      </a:r>
                      <a:endParaRPr sz="2400" u="none" cap="none" strike="noStrike">
                        <a:latin typeface="Cambria"/>
                        <a:ea typeface="Cambria"/>
                        <a:cs typeface="Cambria"/>
                        <a:sym typeface="Cambri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4"/>
          <p:cNvSpPr txBox="1"/>
          <p:nvPr>
            <p:ph type="title"/>
          </p:nvPr>
        </p:nvSpPr>
        <p:spPr>
          <a:xfrm>
            <a:off x="838200" y="1097533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Summary</a:t>
            </a:r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787000" y="2878608"/>
            <a:ext cx="10515600" cy="256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Boundary Traversal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helps extract the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outermost visible nodes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of a tree.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It combines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left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leaf nodes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right boundary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Time Complexity: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O(n), as all nodes are visited once.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Useful in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visual rendering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map boundaries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, and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tree shape analysis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 txBox="1"/>
          <p:nvPr>
            <p:ph type="title"/>
          </p:nvPr>
        </p:nvSpPr>
        <p:spPr>
          <a:xfrm>
            <a:off x="824883" y="844519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mbria"/>
              <a:buNone/>
            </a:pPr>
            <a:r>
              <a:rPr b="1" lang="en-IN" sz="4000">
                <a:latin typeface="Cambria"/>
                <a:ea typeface="Cambria"/>
                <a:cs typeface="Cambria"/>
                <a:sym typeface="Cambria"/>
              </a:rPr>
              <a:t>Practice Questions:</a:t>
            </a:r>
            <a:endParaRPr/>
          </a:p>
        </p:txBody>
      </p:sp>
      <p:sp>
        <p:nvSpPr>
          <p:cNvPr id="158" name="Google Shape;158;p16"/>
          <p:cNvSpPr txBox="1"/>
          <p:nvPr>
            <p:ph idx="1" type="body"/>
          </p:nvPr>
        </p:nvSpPr>
        <p:spPr>
          <a:xfrm>
            <a:off x="824883" y="2305019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1. Boundary of Binary Tree — LeetCode #545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🔗 </a:t>
            </a:r>
            <a:r>
              <a:rPr lang="en-IN" sz="2400" u="sng">
                <a:solidFill>
                  <a:schemeClr val="hlink"/>
                </a:solidFill>
                <a:latin typeface="Cambria"/>
                <a:ea typeface="Cambria"/>
                <a:cs typeface="Cambria"/>
                <a:sym typeface="Cambria"/>
                <a:hlinkClick r:id="rId4"/>
              </a:rPr>
              <a:t>https://leetcode.com/problems/boundary-of-binary-tree/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Concept:</a:t>
            </a:r>
            <a:br>
              <a:rPr b="1" lang="en-IN" sz="2400">
                <a:latin typeface="Cambria"/>
                <a:ea typeface="Cambria"/>
                <a:cs typeface="Cambria"/>
                <a:sym typeface="Cambria"/>
              </a:rPr>
            </a:b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Print the complete boundary of a binary tree in anticlockwise order starting from the root.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Why Practice: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Strengthens understanding of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multiple traversal combinations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.</a:t>
            </a:r>
            <a:endParaRPr sz="2400">
              <a:latin typeface="Cambria"/>
              <a:ea typeface="Cambria"/>
              <a:cs typeface="Cambria"/>
              <a:sym typeface="Cambria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Helps in </a:t>
            </a:r>
            <a:r>
              <a:rPr b="1" lang="en-IN" sz="2400">
                <a:latin typeface="Cambria"/>
                <a:ea typeface="Cambria"/>
                <a:cs typeface="Cambria"/>
                <a:sym typeface="Cambria"/>
              </a:rPr>
              <a:t>decomposition of complex traversal logic</a:t>
            </a:r>
            <a:r>
              <a:rPr lang="en-IN" sz="2400">
                <a:latin typeface="Cambria"/>
                <a:ea typeface="Cambria"/>
                <a:cs typeface="Cambria"/>
                <a:sym typeface="Cambria"/>
              </a:rPr>
              <a:t> into manageable steps.</a:t>
            </a:r>
            <a:endParaRPr b="1" sz="24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8"/>
          <p:cNvSpPr txBox="1"/>
          <p:nvPr>
            <p:ph type="ctrTitle"/>
          </p:nvPr>
        </p:nvSpPr>
        <p:spPr>
          <a:xfrm>
            <a:off x="1524000" y="202682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Cambria"/>
              <a:buNone/>
            </a:pPr>
            <a:r>
              <a:rPr b="1" lang="en-IN" sz="7000">
                <a:latin typeface="Cambria"/>
                <a:ea typeface="Cambria"/>
                <a:cs typeface="Cambria"/>
                <a:sym typeface="Cambria"/>
              </a:rPr>
              <a:t>Thanks</a:t>
            </a:r>
            <a:endParaRPr b="1" sz="7000"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2025-10-28T09:21:51Z</dcterms:created>
  <dc:creator>Prakash K. P.</dc:creator>
</cp:coreProperties>
</file>