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i/Zzr2oacMAE1u7XxZM2ynHgT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506FAB-645C-4C6B-96BC-D19313852EA8}">
  <a:tblStyle styleId="{69506FAB-645C-4C6B-96BC-D19313852EA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496f2d2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a496f2d24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8" name="Google Shape;19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leetcode.com/problems/design-circular-deque/" TargetMode="External"/><Relationship Id="rId4" Type="http://schemas.openxmlformats.org/officeDocument/2006/relationships/hyperlink" Target="https://leetcode.com/problems/design-circular-deque/" TargetMode="External"/><Relationship Id="rId5" Type="http://schemas.openxmlformats.org/officeDocument/2006/relationships/hyperlink" Target="https://leetcode.com/problems/find-the-winner-of-the-circular-game/" TargetMode="External"/><Relationship Id="rId6" Type="http://schemas.openxmlformats.org/officeDocument/2006/relationships/hyperlink" Target="https://leetcode.com/problems/find-the-winner-of-the-circular-game/" TargetMode="External"/><Relationship Id="rId7" Type="http://schemas.openxmlformats.org/officeDocument/2006/relationships/hyperlink" Target="https://leetcode.com/problems/find-the-winner-of-the-circular-game/" TargetMode="External"/><Relationship Id="rId8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g3a496f2d24d_0_0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89" name="Google Shape;89;g3a496f2d24d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g3a496f2d24d_0_0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g3a496f2d24d_0_0"/>
          <p:cNvSpPr/>
          <p:nvPr/>
        </p:nvSpPr>
        <p:spPr>
          <a:xfrm>
            <a:off x="5" y="1955845"/>
            <a:ext cx="12184856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a496f2d24d_0_0"/>
          <p:cNvSpPr txBox="1"/>
          <p:nvPr/>
        </p:nvSpPr>
        <p:spPr>
          <a:xfrm>
            <a:off x="457000" y="2359252"/>
            <a:ext cx="10932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Cambria"/>
              <a:buNone/>
            </a:pPr>
            <a:r>
              <a:rPr b="1" i="0" lang="en-IN" sz="52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Implementation of Circular Queue</a:t>
            </a:r>
            <a:endParaRPr b="1" i="0" sz="105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3" name="Google Shape;93;g3a496f2d24d_0_0"/>
          <p:cNvSpPr/>
          <p:nvPr/>
        </p:nvSpPr>
        <p:spPr>
          <a:xfrm>
            <a:off x="456988" y="5601409"/>
            <a:ext cx="511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I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Prakash Kumar Pandey</a:t>
            </a:r>
            <a:br>
              <a:rPr b="1" i="0" lang="en-IN" sz="10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 &amp; Data Science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" name="Google Shape;98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{69506FAB-645C-4C6B-96BC-D19313852EA8}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" name="Google Shape;99;p2"/>
          <p:cNvGraphicFramePr/>
          <p:nvPr/>
        </p:nvGraphicFramePr>
        <p:xfrm>
          <a:off x="1461074" y="2362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{69506FAB-645C-4C6B-96BC-D19313852EA8}</a:tableStyleId>
              </a:tblPr>
              <a:tblGrid>
                <a:gridCol w="2865125"/>
                <a:gridCol w="6194325"/>
              </a:tblGrid>
              <a:tr h="335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Implementation of Circular Queue</a:t>
                      </a:r>
                      <a:endParaRPr b="1" sz="1800" u="none" cap="none" strike="noStrike">
                        <a:solidFill>
                          <a:srgbClr val="2E75B5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" name="Google Shape;100;p2"/>
          <p:cNvGraphicFramePr/>
          <p:nvPr/>
        </p:nvGraphicFramePr>
        <p:xfrm>
          <a:off x="1490571" y="33086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{69506FAB-645C-4C6B-96BC-D19313852EA8}</a:tableStyleId>
              </a:tblPr>
              <a:tblGrid>
                <a:gridCol w="9020125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explain the concept and purpose of a circular queue and how it differs from a linear queue.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implement circular queue operations (enqueue, dequeue, front, rear, isFull, isEmpty) using an array-based approach in code.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Evaluate the time and space complexity of common circular queue operations.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b="0" i="0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identify suitable scenarios in computer science or real-life where Circualr Queue is applicable and efficient.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" name="Google Shape;101;p2"/>
          <p:cNvSpPr/>
          <p:nvPr/>
        </p:nvSpPr>
        <p:spPr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" name="Google Shape;102;p2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03" name="Google Shape;10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Google Shape;104;p2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838200" y="83120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IN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838200" y="2291703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Write a program to design a circular queue(k) which Should implement the below functions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a. Enqueue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b. Dequeue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c. Front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d. Rear</a:t>
            </a:r>
            <a:endParaRPr/>
          </a:p>
        </p:txBody>
      </p:sp>
      <p:grpSp>
        <p:nvGrpSpPr>
          <p:cNvPr id="111" name="Google Shape;111;p3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12" name="Google Shape;112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3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type="title"/>
          </p:nvPr>
        </p:nvSpPr>
        <p:spPr>
          <a:xfrm>
            <a:off x="838200" y="1070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Introduction to the Problem</a:t>
            </a:r>
            <a:endParaRPr/>
          </a:p>
        </p:txBody>
      </p:sp>
      <p:sp>
        <p:nvSpPr>
          <p:cNvPr id="119" name="Google Shape;119;p4"/>
          <p:cNvSpPr txBox="1"/>
          <p:nvPr>
            <p:ph idx="1" type="body"/>
          </p:nvPr>
        </p:nvSpPr>
        <p:spPr>
          <a:xfrm>
            <a:off x="838200" y="2383146"/>
            <a:ext cx="10515600" cy="4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A Circular Queue is a linear data structure that follows the FIFO (First In First Out) principle.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Unlike a normal queue, the last position is connected back to the first position to make a circle.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This structure efficiently utilizes memory by reusing empty spaces created by dequeued elements.</a:t>
            </a:r>
            <a:endParaRPr/>
          </a:p>
        </p:txBody>
      </p:sp>
      <p:grpSp>
        <p:nvGrpSpPr>
          <p:cNvPr id="120" name="Google Shape;120;p4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21" name="Google Shape;121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4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838200" y="119074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Concept and Background</a:t>
            </a:r>
            <a:endParaRPr b="1" sz="40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838200" y="2651248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Circular Queue connects the end of the queue back to the front.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It prevents wastage of space in a linear queue when elements are dequeued.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It can be implemented using Arrays, Linked List etc.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Two pointers are maintained: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>
                <a:latin typeface="Cambria"/>
                <a:ea typeface="Cambria"/>
                <a:cs typeface="Cambria"/>
                <a:sym typeface="Cambria"/>
              </a:rPr>
              <a:t>   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front → points to the first element.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   rear → points to the last element.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The queue is full when (rear + 1) % size == front.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The queue is empty when front == -1.</a:t>
            </a:r>
            <a:endParaRPr/>
          </a:p>
        </p:txBody>
      </p:sp>
      <p:grpSp>
        <p:nvGrpSpPr>
          <p:cNvPr id="129" name="Google Shape;129;p5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30" name="Google Shape;130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5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8348"/>
          <a:stretch/>
        </p:blipFill>
        <p:spPr>
          <a:xfrm>
            <a:off x="2387924" y="1958953"/>
            <a:ext cx="7067934" cy="472784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 txBox="1"/>
          <p:nvPr/>
        </p:nvSpPr>
        <p:spPr>
          <a:xfrm>
            <a:off x="5751121" y="1577676"/>
            <a:ext cx="357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4.Insert 20,Rear=3, Front 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2547607" y="1643657"/>
            <a:ext cx="90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 txBox="1"/>
          <p:nvPr>
            <p:ph type="title"/>
          </p:nvPr>
        </p:nvSpPr>
        <p:spPr>
          <a:xfrm>
            <a:off x="838200" y="79126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40" name="Google Shape;140;p6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41" name="Google Shape;141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6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>
            <p:ph type="title"/>
          </p:nvPr>
        </p:nvSpPr>
        <p:spPr>
          <a:xfrm>
            <a:off x="838200" y="81788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Queue Operations</a:t>
            </a:r>
            <a:endParaRPr/>
          </a:p>
        </p:txBody>
      </p:sp>
      <p:sp>
        <p:nvSpPr>
          <p:cNvPr id="148" name="Google Shape;148;p7"/>
          <p:cNvSpPr txBox="1"/>
          <p:nvPr>
            <p:ph idx="1" type="body"/>
          </p:nvPr>
        </p:nvSpPr>
        <p:spPr>
          <a:xfrm>
            <a:off x="902368" y="2143449"/>
            <a:ext cx="10515600" cy="49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</a:pPr>
            <a:r>
              <a:rPr b="1" lang="en-I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1. Enqueue (Insert):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Add an element at the rear.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  - Check if the queue is full.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  - Update rear = (rear + 1) % size.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  - Insert element at rear.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</a:pPr>
            <a:r>
              <a:rPr b="1" lang="en-I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2. Dequeue (Delete):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Remove an element from the front.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  - Check if the queue is empty.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  - Update front = (front + 1) % size.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</a:pPr>
            <a:r>
              <a:rPr b="1" lang="en-I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3. Peek: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Retrieve the front element without removing it.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</a:pPr>
            <a:r>
              <a:rPr b="1" lang="en-IN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4. Display: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Print elements from front to rear circularly.</a:t>
            </a:r>
            <a:endParaRPr/>
          </a:p>
        </p:txBody>
      </p:sp>
      <p:grpSp>
        <p:nvGrpSpPr>
          <p:cNvPr id="149" name="Google Shape;149;p7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50" name="Google Shape;150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p7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 txBox="1"/>
          <p:nvPr>
            <p:ph type="title"/>
          </p:nvPr>
        </p:nvSpPr>
        <p:spPr>
          <a:xfrm>
            <a:off x="838200" y="125733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Conditions for Queue State</a:t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838200" y="2797712"/>
            <a:ext cx="83058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• Queue Full Condition: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(rear + 1) % size == front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• Queue Empty Condition: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front == 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• Reset Condition after last Dequeue: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If front == rear, then set front = rear = -1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58" name="Google Shape;158;p8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59" name="Google Shape;159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8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/>
          <p:nvPr>
            <p:ph type="title"/>
          </p:nvPr>
        </p:nvSpPr>
        <p:spPr>
          <a:xfrm>
            <a:off x="838200" y="87115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838199" y="2369377"/>
            <a:ext cx="105156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❑"/>
            </a:pPr>
            <a:r>
              <a:rPr b="1" i="0" lang="en-IN" sz="2400" u="none" cap="none" strike="noStrike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ENQUEUE(x):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1. If (rear + 1) % size == front → Overflow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2. Else if front == -1 → front = rear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3. Else → rear = (rear + 1) % 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4. queue[rear] = 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❑"/>
            </a:pPr>
            <a:r>
              <a:rPr b="1" i="0" lang="en-IN" sz="2400" u="none" cap="none" strike="noStrike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DEQUEUE():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1. If front == -1 → Underflow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2. x = queue[front]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3. If front == rear → front = rear = 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4. Else → front = (front + 1) % 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" name="Google Shape;167;p9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68" name="Google Shape;168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9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/>
          <p:nvPr>
            <p:ph type="title"/>
          </p:nvPr>
        </p:nvSpPr>
        <p:spPr>
          <a:xfrm>
            <a:off x="838200" y="1417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5" name="Google Shape;175;p10"/>
          <p:cNvSpPr txBox="1"/>
          <p:nvPr/>
        </p:nvSpPr>
        <p:spPr>
          <a:xfrm>
            <a:off x="659732" y="3003676"/>
            <a:ext cx="108726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❑"/>
            </a:pPr>
            <a:r>
              <a:rPr b="1" i="0" lang="en-IN" sz="2400" u="none" cap="none" strike="noStrike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Front(x):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i="0" sz="2400" u="none" cap="none" strike="noStrike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1. If front != -1, then queue[front] is the front item.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❑"/>
            </a:pPr>
            <a:r>
              <a:rPr b="1" i="0" lang="en-IN" sz="2400" u="none" cap="none" strike="noStrike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Rear():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i="0" sz="2400" u="none" cap="none" strike="noStrike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1. If rear != -1, then queue[rear] is the rear item.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76" name="Google Shape;176;p10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77" name="Google Shape;177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10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>
            <p:ph type="title"/>
          </p:nvPr>
        </p:nvSpPr>
        <p:spPr>
          <a:xfrm>
            <a:off x="838200" y="65809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84" name="Google Shape;1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1907" y="1541879"/>
            <a:ext cx="8230749" cy="52585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11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86" name="Google Shape;186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" name="Google Shape;187;p11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700" y="1062050"/>
            <a:ext cx="9078600" cy="5795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12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94" name="Google Shape;19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12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 txBox="1"/>
          <p:nvPr>
            <p:ph type="title"/>
          </p:nvPr>
        </p:nvSpPr>
        <p:spPr>
          <a:xfrm>
            <a:off x="838200" y="147039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1720646" y="3111052"/>
            <a:ext cx="8111700" cy="31563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1848466" y="3307697"/>
            <a:ext cx="7747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Front Element: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Rear Element: 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13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04" name="Google Shape;204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13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"/>
          <p:cNvSpPr txBox="1"/>
          <p:nvPr>
            <p:ph type="title"/>
          </p:nvPr>
        </p:nvSpPr>
        <p:spPr>
          <a:xfrm>
            <a:off x="838200" y="15769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>
                <a:latin typeface="Cambria"/>
                <a:ea typeface="Cambria"/>
                <a:cs typeface="Cambria"/>
                <a:sym typeface="Cambria"/>
              </a:rPr>
              <a:t>Output</a:t>
            </a:r>
            <a:endParaRPr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11" name="Google Shape;211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3337"/>
          <a:stretch/>
        </p:blipFill>
        <p:spPr>
          <a:xfrm>
            <a:off x="2086898" y="3089762"/>
            <a:ext cx="5425200" cy="2106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" name="Google Shape;212;p14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13" name="Google Shape;213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" name="Google Shape;214;p14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"/>
          <p:cNvSpPr txBox="1"/>
          <p:nvPr>
            <p:ph type="title"/>
          </p:nvPr>
        </p:nvSpPr>
        <p:spPr>
          <a:xfrm>
            <a:off x="838200" y="140381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sp>
        <p:nvSpPr>
          <p:cNvPr id="220" name="Google Shape;220;p15"/>
          <p:cNvSpPr txBox="1"/>
          <p:nvPr/>
        </p:nvSpPr>
        <p:spPr>
          <a:xfrm>
            <a:off x="838199" y="3317534"/>
            <a:ext cx="110883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  Enqueue Operation: O(1)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  Dequeue Operation: O(1)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  Peek Operation: O(1)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  Display Operation: O(n)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•   Space Complexity: O(n)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Circular Queue provides efficient memory use and constant-time operations.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1" name="Google Shape;221;p15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22" name="Google Shape;22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15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"/>
          <p:cNvSpPr txBox="1"/>
          <p:nvPr>
            <p:ph type="title"/>
          </p:nvPr>
        </p:nvSpPr>
        <p:spPr>
          <a:xfrm>
            <a:off x="838200" y="10442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229" name="Google Shape;229;p16"/>
          <p:cNvSpPr txBox="1"/>
          <p:nvPr>
            <p:ph idx="1" type="body"/>
          </p:nvPr>
        </p:nvSpPr>
        <p:spPr>
          <a:xfrm>
            <a:off x="838200" y="2504767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Implemented a Circular Queue of capacity k supporting operations: enqueue, dequeue, front, and rear.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Used modular arithmetic to connect the last index back to the first, avoiding wasted space.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Handled overflow (queue full) and underflow (queue empty) conditions effectively.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Demonstrated the difference between linear queue and circular queue, emphasizing better memory utilization.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Strengthened understanding of queue data structure, front/rear pointers, and FIFO principle in data handling.</a:t>
            </a:r>
            <a:endParaRPr/>
          </a:p>
        </p:txBody>
      </p:sp>
      <p:grpSp>
        <p:nvGrpSpPr>
          <p:cNvPr id="230" name="Google Shape;230;p16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31" name="Google Shape;23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16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 txBox="1"/>
          <p:nvPr>
            <p:ph type="title"/>
          </p:nvPr>
        </p:nvSpPr>
        <p:spPr>
          <a:xfrm>
            <a:off x="838200" y="111084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838200" y="2436412"/>
            <a:ext cx="98139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None/>
            </a:pPr>
            <a:r>
              <a:rPr b="1" i="0" lang="en-IN" sz="2800" u="sng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1.Design Circular Deque </a:t>
            </a:r>
            <a:r>
              <a:rPr b="1" i="0" lang="en-IN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-- LeetCode#641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None/>
            </a:pPr>
            <a:r>
              <a:rPr b="0" i="0" lang="en-IN" sz="2800" u="sng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https://leetcode.com/problems/design-circular-deque/</a:t>
            </a:r>
            <a:endParaRPr b="0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None/>
            </a:pPr>
            <a:r>
              <a:rPr b="1" i="0" lang="en-IN" sz="2800" u="sng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2.Find the Winner of the Circular Game</a:t>
            </a:r>
            <a:r>
              <a:rPr b="1" i="0" lang="en-IN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-- LeetCode#</a:t>
            </a:r>
            <a:r>
              <a:rPr b="1" i="0" lang="en-IN" sz="2800" u="sng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1823</a:t>
            </a:r>
            <a:endParaRPr b="1" i="0" sz="2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None/>
            </a:pPr>
            <a:r>
              <a:rPr b="0" i="0" lang="en-IN" sz="2800" u="sng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https://leetcode.com/problems/find-the-winner-of-the-circular-game/</a:t>
            </a:r>
            <a:endParaRPr b="0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" name="Google Shape;239;p17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40" name="Google Shape;240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17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"/>
          <p:cNvSpPr txBox="1"/>
          <p:nvPr>
            <p:ph type="ctrTitle"/>
          </p:nvPr>
        </p:nvSpPr>
        <p:spPr>
          <a:xfrm>
            <a:off x="1377500" y="1520797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47" name="Google Shape;247;p18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48" name="Google Shape;24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18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