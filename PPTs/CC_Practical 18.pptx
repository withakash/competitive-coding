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W1uxqN13pSaw8vTTzu6/bhYDH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52E390-C3AA-44CA-8E50-DA25B13E6EC1}">
  <a:tblStyle styleId="{3F52E390-C3AA-44CA-8E50-DA25B13E6EC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1F7E1F7-4E40-4D27-B430-37BAC614EA3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9bec7169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99bec71699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s://leetcode.com/problems/design-hashmap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hyperlink" Target="https://leetcode.com/problems/valid-anagram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99bec71699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99bec71699_0_2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9bec71699_0_2"/>
          <p:cNvSpPr txBox="1"/>
          <p:nvPr/>
        </p:nvSpPr>
        <p:spPr>
          <a:xfrm>
            <a:off x="457000" y="2463638"/>
            <a:ext cx="1093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Hashing, collisions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g399bec71699_0_2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US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{3F52E390-C3AA-44CA-8E50-DA25B13E6EC1}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{3F52E390-C3AA-44CA-8E50-DA25B13E6EC1}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a hash table using separate chaining for collision handling. Perform operations like insertion, deletion, and search on the hash table.</a:t>
                      </a:r>
                      <a:endParaRPr b="1" i="0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2"/>
          <p:cNvGraphicFramePr/>
          <p:nvPr/>
        </p:nvGraphicFramePr>
        <p:xfrm>
          <a:off x="1520492" y="4104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{3F52E390-C3AA-44CA-8E50-DA25B13E6EC1}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b="0" i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a hash table using separate chaining for efficient data organization and collision handling.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perform operations such as insertion, deletion, and search on the hash table.</a:t>
                      </a:r>
                      <a:endParaRPr b="0" i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understand the working of a hash function and how it maps keys to indices in a table.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analyze the time and space complexity of hashing operations and observe how collisions affect performance</a:t>
                      </a:r>
                      <a:endParaRPr b="0" i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838200" y="75130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813487" y="212530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Implement a hash table using separate chaining for collision handling. Perform operations like insertion, deletion, and search on the hash table.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1. Insert key–value pairs.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2. Delete key–value pairs.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Search for a key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4. Display the complete hash table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824883" y="737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824883" y="2063550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Hashing converts data (key) into a fixed-size index using a hash function.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Separate Chaining handles collisions by maintaining a linked list (or vector) at each index.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This approach allows multiple key–value pairs to share the same index without overwriting.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Provides O(1) average-time operations for insert, search, and delete.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95105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788773" y="216441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1. Initialize: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Create an array (vector) of buckets.</a:t>
            </a:r>
            <a:br>
              <a:rPr lang="en-US">
                <a:latin typeface="Cambria"/>
                <a:ea typeface="Cambria"/>
                <a:cs typeface="Cambria"/>
                <a:sym typeface="Cambria"/>
              </a:rPr>
            </a:b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2. Hash Function: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h=(h∗base+ASCII(char))modTABLE_SIZE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Base = 31 (a small prime)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Mod = Table size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838200" y="2145637"/>
            <a:ext cx="10515600" cy="44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US" sz="33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4. Insert (key, value)</a:t>
            </a:r>
            <a:r>
              <a:rPr lang="en-US" sz="33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/>
          </a:p>
          <a:p>
            <a:pPr indent="-241935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Compute index using hash function.</a:t>
            </a:r>
            <a:endParaRPr/>
          </a:p>
          <a:p>
            <a:pPr indent="-241935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If key exists, update its value.</a:t>
            </a:r>
            <a:endParaRPr/>
          </a:p>
          <a:p>
            <a:pPr indent="-241935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Else, append the new pair to the bucket.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US" sz="33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5. Search (key):</a:t>
            </a:r>
            <a:endParaRPr/>
          </a:p>
          <a:p>
            <a:pPr indent="-241935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Compute index using the hash function.</a:t>
            </a:r>
            <a:endParaRPr/>
          </a:p>
          <a:p>
            <a:pPr indent="-241935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Traverse the bucket to find the key.</a:t>
            </a:r>
            <a:endParaRPr/>
          </a:p>
          <a:p>
            <a:pPr indent="-241935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Return its value or &lt;NOT FOUND&gt;.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838200" y="7646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838200" y="222512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6. Delete (key)</a:t>
            </a:r>
            <a:r>
              <a:rPr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Compute index using hash function.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Traverse the bucket and remove the key–value pair if found.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7. Display()</a:t>
            </a:r>
            <a:r>
              <a:rPr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Print all indices with their key–value pairs.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/>
        </p:nvSpPr>
        <p:spPr>
          <a:xfrm>
            <a:off x="776684" y="2175107"/>
            <a:ext cx="100053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Hash Table (TABLE_SIZE = 7):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 : [apple → red]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: [banana → yellow]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 : [grape → purple]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 : [pear → green]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5 : [mango → orange] 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collision occurs (same index), the new element 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chained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the existing list.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7646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838200" y="6847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840258" y="1790050"/>
            <a:ext cx="10513500" cy="4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#include &lt;bits/stdc++.h&gt;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using namespace std;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int main()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const size_t TABLE_SIZE = 7;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vector&lt;vector&lt;pair&lt;string, string&gt;&gt;&gt; table(TABLE_SIZE);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auto insert = [&amp;](string key, string value)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size_t idx = hashFunction(key, TABLE_SIZE);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for (auto &amp;p : table[idx])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   if (p.first == key) { p.second = value; return;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table[idx].push_back({key, value});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};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753762" y="1083903"/>
            <a:ext cx="10599900" cy="5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auto searchKey = [&amp;](string key) -&gt; string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size_t idx = hashFunction(key, TABLE_SIZE);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for (auto &amp;p : table[idx])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   if (p.first == key) return p.second;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return "&lt;NOT FOUND&gt;";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};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auto deleteKey = [&amp;](string key)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size_t idx = hashFunction(key, TABLE_SIZE);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auto &amp;bucket = table[idx];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bucket.erase(remove_if(bucket.begin(), bucket.end(),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                      [&amp;](auto &amp;p){ return p.first == key; }),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            bucket.end());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};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729050" y="841900"/>
            <a:ext cx="10575300" cy="58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auto display = [&amp;]()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for (size_t i = 0; i &lt; TABLE_SIZE; ++i)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   cout &lt;&lt; i &lt;&lt; " : 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   for (auto &amp;p : table[i])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       cout &lt;&lt; "[" &lt;&lt; p.first &lt;&lt; " -&gt; " &lt;&lt; p.second &lt;&lt; "] 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   cout &lt;&lt; "\n";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}   }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insert("apple", "red");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insert("banana", "yellow");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insert("grape", "purple");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insert("pear", "green");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display();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cout &lt;&lt; "\nSearch pear: " &lt;&lt; searchKey("pear") &lt;&lt; endl;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deleteKey("banana");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cout &lt;&lt; "\nAfter Deletion:\n"; display();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838200" y="831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926757" y="2344304"/>
            <a:ext cx="82173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Table: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: [apple → red]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: [banana → yellow]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: [grape → purple]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: [pear → green]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pear: green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Deletion: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: [apple → red]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: [grape → purple]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: [pear → green]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65" name="Google Shape;165;p13"/>
          <p:cNvGraphicFramePr/>
          <p:nvPr/>
        </p:nvGraphicFramePr>
        <p:xfrm>
          <a:off x="1043609" y="26449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{61F7E1F7-4E40-4D27-B430-37BAC614EA36}</a:tableStyleId>
              </a:tblPr>
              <a:tblGrid>
                <a:gridCol w="2981750"/>
                <a:gridCol w="1739350"/>
                <a:gridCol w="1888425"/>
                <a:gridCol w="33196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Insert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Collision-free insert is constant time; many collisions cause linear time.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Search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Average O(1), but O(n) if all keys hash to one bucket.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Delete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Same reasoning as insert/search.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--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Stores all key–value pairs.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838200" y="7912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838200" y="225175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Hashing ensures fast access and updates.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Separate chaining effectively handles collisions.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Supports insert, search, and delete efficiently.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Average performance remains O(1) for most operations.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790832" y="1997356"/>
            <a:ext cx="10563000" cy="46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n-US"/>
              <a:t> </a:t>
            </a: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Design HashMap — </a:t>
            </a:r>
            <a:r>
              <a:rPr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#706</a:t>
            </a:r>
            <a:endParaRPr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🔗     </a:t>
            </a:r>
            <a:r>
              <a:rPr lang="en-US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https://leetcode.com/problems/design-hashmap/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/>
              <a:t> Implement hash table operations using chaining.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Same as our class example — perfect for reinforcement.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type="title"/>
          </p:nvPr>
        </p:nvSpPr>
        <p:spPr>
          <a:xfrm>
            <a:off x="838200" y="75130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3" name="Google Shape;183;p16"/>
          <p:cNvSpPr txBox="1"/>
          <p:nvPr>
            <p:ph idx="1" type="body"/>
          </p:nvPr>
        </p:nvSpPr>
        <p:spPr>
          <a:xfrm>
            <a:off x="838200" y="2211804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b="1" lang="en-US"/>
              <a:t>Valid Anagram — </a:t>
            </a:r>
            <a:r>
              <a:rPr lang="en-US"/>
              <a:t>LeetCode #242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🔗  </a:t>
            </a:r>
            <a:r>
              <a:rPr lang="en-US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 https://leetcode.com/problems/valid-anagram/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: Uses hashing for frequency counting.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US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